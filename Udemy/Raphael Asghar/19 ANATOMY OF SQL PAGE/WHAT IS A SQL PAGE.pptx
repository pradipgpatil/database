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4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3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1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1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8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1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7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5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2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82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6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6C438-CBF0-4F64-9BF7-252F98DF0A0D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399D3-E5DD-44AE-A851-7E2D970C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1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8300" y="-353291"/>
            <a:ext cx="9144000" cy="1963881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+mn-lt"/>
              </a:rPr>
              <a:t/>
            </a:r>
            <a:br>
              <a:rPr lang="en-US" sz="2400" dirty="0" smtClean="0">
                <a:latin typeface="+mn-lt"/>
              </a:rPr>
            </a:br>
            <a:r>
              <a:rPr lang="en-US" sz="2400" dirty="0">
                <a:latin typeface="+mn-lt"/>
              </a:rPr>
              <a:t/>
            </a:r>
            <a:br>
              <a:rPr lang="en-US" sz="2400" dirty="0">
                <a:latin typeface="+mn-lt"/>
              </a:rPr>
            </a:br>
            <a:r>
              <a:rPr lang="en-US" sz="2400" dirty="0" smtClean="0">
                <a:latin typeface="+mn-lt"/>
              </a:rPr>
              <a:t/>
            </a:r>
            <a:br>
              <a:rPr lang="en-US" sz="2400" dirty="0" smtClean="0">
                <a:latin typeface="+mn-lt"/>
              </a:rPr>
            </a:br>
            <a:r>
              <a:rPr lang="en-US" sz="2000" dirty="0" smtClean="0">
                <a:latin typeface="+mn-lt"/>
              </a:rPr>
              <a:t>WHAT IS A SQL PAGE?</a:t>
            </a:r>
            <a:br>
              <a:rPr lang="en-US" sz="2000" dirty="0" smtClean="0">
                <a:latin typeface="+mn-lt"/>
              </a:rPr>
            </a:br>
            <a:r>
              <a:rPr lang="en-US" sz="2000" dirty="0" smtClean="0">
                <a:latin typeface="+mn-lt"/>
              </a:rPr>
              <a:t/>
            </a:r>
            <a:br>
              <a:rPr lang="en-US" sz="2000" dirty="0" smtClean="0">
                <a:latin typeface="+mn-lt"/>
              </a:rPr>
            </a:br>
            <a:r>
              <a:rPr lang="en-US" sz="2000" dirty="0" smtClean="0">
                <a:latin typeface="+mn-lt"/>
              </a:rPr>
              <a:t> A SQL page is the fundamental unit of data storage in SQL Server.  It’s 8KB in size</a:t>
            </a:r>
            <a:r>
              <a:rPr lang="en-US" sz="2400" dirty="0" smtClean="0">
                <a:latin typeface="+mn-lt"/>
              </a:rPr>
              <a:t/>
            </a:r>
            <a:br>
              <a:rPr lang="en-US" sz="2400" dirty="0" smtClean="0">
                <a:latin typeface="+mn-lt"/>
              </a:rPr>
            </a:br>
            <a:endParaRPr lang="en-US" sz="24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54727"/>
            <a:ext cx="9144000" cy="5403273"/>
          </a:xfrm>
        </p:spPr>
        <p:txBody>
          <a:bodyPr>
            <a:normAutofit/>
          </a:bodyPr>
          <a:lstStyle/>
          <a:p>
            <a:endParaRPr lang="en-US" sz="1800" dirty="0" smtClean="0"/>
          </a:p>
          <a:p>
            <a:r>
              <a:rPr lang="en-US" sz="1800" dirty="0" smtClean="0"/>
              <a:t>A </a:t>
            </a:r>
            <a:r>
              <a:rPr lang="en-US" sz="1800" dirty="0" smtClean="0"/>
              <a:t>SQL </a:t>
            </a:r>
            <a:r>
              <a:rPr lang="en-US" sz="1800" dirty="0" smtClean="0"/>
              <a:t>page consist of 8KB (8192 bytes)</a:t>
            </a:r>
          </a:p>
          <a:p>
            <a:r>
              <a:rPr lang="en-US" sz="1800" dirty="0" smtClean="0"/>
              <a:t>The SQL page consists of 3 sections</a:t>
            </a:r>
          </a:p>
          <a:p>
            <a:r>
              <a:rPr lang="en-US" sz="1800" dirty="0" smtClean="0"/>
              <a:t>Page header: 96 bytes</a:t>
            </a:r>
          </a:p>
          <a:p>
            <a:r>
              <a:rPr lang="en-US" sz="1800" dirty="0" smtClean="0"/>
              <a:t>Row(s) of data: 8060 bytes per page</a:t>
            </a:r>
          </a:p>
          <a:p>
            <a:r>
              <a:rPr lang="en-US" sz="1800" dirty="0" smtClean="0"/>
              <a:t>Row offset: 36 bytes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1" y="3740727"/>
            <a:ext cx="5018808" cy="297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1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92137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+mn-lt"/>
              </a:rPr>
              <a:t>Why is it important to understand the page size and its purpose?</a:t>
            </a:r>
            <a:endParaRPr lang="en-US" sz="2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85999"/>
            <a:ext cx="9144000" cy="3626427"/>
          </a:xfrm>
        </p:spPr>
        <p:txBody>
          <a:bodyPr>
            <a:normAutofit fontScale="92500" lnSpcReduction="10000"/>
          </a:bodyPr>
          <a:lstStyle/>
          <a:p>
            <a:pPr algn="l" fontAlgn="base"/>
            <a:r>
              <a:rPr lang="en-US" sz="1800" dirty="0" smtClean="0"/>
              <a:t>     As we saw on the previous slide, of </a:t>
            </a:r>
            <a:r>
              <a:rPr lang="en-US" sz="1800" dirty="0"/>
              <a:t>the 8192 bytes on a page, </a:t>
            </a:r>
            <a:r>
              <a:rPr lang="en-US" sz="1800" dirty="0" smtClean="0"/>
              <a:t>approximately </a:t>
            </a:r>
            <a:r>
              <a:rPr lang="en-US" sz="1800" dirty="0"/>
              <a:t>8060 are available </a:t>
            </a:r>
            <a:r>
              <a:rPr lang="en-US" sz="1800" dirty="0" smtClean="0"/>
              <a:t>for inserting rows of data.  If </a:t>
            </a:r>
            <a:r>
              <a:rPr lang="en-US" sz="1800" dirty="0"/>
              <a:t>you </a:t>
            </a:r>
            <a:r>
              <a:rPr lang="en-US" sz="1800" dirty="0" smtClean="0"/>
              <a:t>design data </a:t>
            </a:r>
            <a:r>
              <a:rPr lang="en-US" sz="1800" dirty="0"/>
              <a:t>rows </a:t>
            </a:r>
            <a:r>
              <a:rPr lang="en-US" sz="1800" dirty="0" smtClean="0"/>
              <a:t>that can fit into a single page then they'll </a:t>
            </a:r>
            <a:r>
              <a:rPr lang="en-US" sz="1800" dirty="0"/>
              <a:t>take up a lot less </a:t>
            </a:r>
            <a:r>
              <a:rPr lang="en-US" sz="1800" dirty="0" smtClean="0"/>
              <a:t>storage</a:t>
            </a:r>
            <a:r>
              <a:rPr lang="en-US" sz="1800" dirty="0"/>
              <a:t> </a:t>
            </a:r>
            <a:r>
              <a:rPr lang="en-US" sz="1800" dirty="0" smtClean="0"/>
              <a:t>(a lot less storage and less scanning of pages make for better performance) </a:t>
            </a:r>
          </a:p>
          <a:p>
            <a:pPr algn="l" fontAlgn="base"/>
            <a:endParaRPr lang="en-US" sz="1800" dirty="0"/>
          </a:p>
          <a:p>
            <a:pPr algn="l" fontAlgn="base"/>
            <a:r>
              <a:rPr lang="en-US" sz="1800" dirty="0" smtClean="0"/>
              <a:t>     If for example, your have a row of 4200 </a:t>
            </a:r>
            <a:r>
              <a:rPr lang="en-US" sz="1800" dirty="0"/>
              <a:t>bytes </a:t>
            </a:r>
            <a:r>
              <a:rPr lang="en-US" sz="1800" dirty="0" smtClean="0"/>
              <a:t>long then only </a:t>
            </a:r>
            <a:r>
              <a:rPr lang="en-US" sz="1800" dirty="0"/>
              <a:t>a single row will be stored on a </a:t>
            </a:r>
            <a:r>
              <a:rPr lang="en-US" sz="1800" dirty="0" smtClean="0"/>
              <a:t>page (and the rest of the page - 3860 bytes - is wasted space). Thus, the </a:t>
            </a:r>
            <a:r>
              <a:rPr lang="en-US" sz="1800" dirty="0"/>
              <a:t>important point </a:t>
            </a:r>
            <a:r>
              <a:rPr lang="en-US" sz="1800" dirty="0" smtClean="0"/>
              <a:t>is you </a:t>
            </a:r>
            <a:r>
              <a:rPr lang="en-US" sz="1800" dirty="0"/>
              <a:t>want to try to avoid large areas of space that cannot hold any useful information on a page</a:t>
            </a:r>
            <a:r>
              <a:rPr lang="en-US" sz="1800" dirty="0" smtClean="0"/>
              <a:t>.</a:t>
            </a:r>
          </a:p>
          <a:p>
            <a:pPr algn="l" fontAlgn="base"/>
            <a:endParaRPr lang="en-US" sz="1800" dirty="0"/>
          </a:p>
          <a:p>
            <a:pPr algn="l" fontAlgn="base"/>
            <a:r>
              <a:rPr lang="en-US" sz="1800" dirty="0" smtClean="0"/>
              <a:t>     If </a:t>
            </a:r>
            <a:r>
              <a:rPr lang="en-US" sz="1800" dirty="0"/>
              <a:t>you </a:t>
            </a:r>
            <a:r>
              <a:rPr lang="en-US" sz="1800" dirty="0" smtClean="0"/>
              <a:t>redesigned the row size to 4000 </a:t>
            </a:r>
            <a:r>
              <a:rPr lang="en-US" sz="1800" dirty="0"/>
              <a:t>bytes, then suddenly you can store two rows on a page, and thus significantly reduce the overhead of wasted </a:t>
            </a:r>
            <a:r>
              <a:rPr lang="en-US" sz="1800" dirty="0" smtClean="0"/>
              <a:t>space.</a:t>
            </a:r>
          </a:p>
          <a:p>
            <a:pPr algn="l" fontAlgn="base"/>
            <a:endParaRPr lang="en-US" sz="1800" dirty="0"/>
          </a:p>
          <a:p>
            <a:pPr algn="l" fontAlgn="base"/>
            <a:r>
              <a:rPr lang="en-US" sz="1800" dirty="0" smtClean="0"/>
              <a:t>     This management of page size also play and important role in managing page splitting which can cause performance issues (to be discussed later.)</a:t>
            </a:r>
          </a:p>
          <a:p>
            <a:pPr algn="l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4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3663"/>
            <a:ext cx="9144000" cy="73761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TYPES OF SQL PAGE?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78935"/>
            <a:ext cx="9144000" cy="1381991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There are many types of SQL pages.  The following illustrates the type of pages:  We will focus on data page, index page and IAM page. Note the page type.  1 = data page, 2 = index page and 10 = IAM page.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863" y="2867025"/>
            <a:ext cx="64008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32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288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  WHAT IS A SQL PAGE?   A SQL page is the fundamental unit of data storage in SQL Server.  It’s 8KB in size </vt:lpstr>
      <vt:lpstr>Why is it important to understand the page size and its purpose?</vt:lpstr>
      <vt:lpstr>TYPES OF SQL PAGE?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SQL PAGE?</dc:title>
  <dc:creator>rafasg61 A</dc:creator>
  <cp:lastModifiedBy>rafasg61 A</cp:lastModifiedBy>
  <cp:revision>24</cp:revision>
  <dcterms:created xsi:type="dcterms:W3CDTF">2017-10-16T20:57:07Z</dcterms:created>
  <dcterms:modified xsi:type="dcterms:W3CDTF">2017-10-17T03:51:55Z</dcterms:modified>
</cp:coreProperties>
</file>