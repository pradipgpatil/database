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6" r:id="rId3"/>
    <p:sldId id="257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4" autoAdjust="0"/>
    <p:restoredTop sz="94660"/>
  </p:normalViewPr>
  <p:slideViewPr>
    <p:cSldViewPr snapToGrid="0">
      <p:cViewPr varScale="1">
        <p:scale>
          <a:sx n="92" d="100"/>
          <a:sy n="92" d="100"/>
        </p:scale>
        <p:origin x="498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A77A3B-E3F2-4C91-91C9-267A1703D424}" type="datetimeFigureOut">
              <a:rPr lang="en-US" smtClean="0"/>
              <a:t>10/17/2017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585EC5-EC3D-4EAF-A2BB-0907333757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89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A77A3B-E3F2-4C91-91C9-267A1703D424}" type="datetimeFigureOut">
              <a:rPr lang="en-US" smtClean="0"/>
              <a:t>10/17/2017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585EC5-EC3D-4EAF-A2BB-0907333757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4832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A77A3B-E3F2-4C91-91C9-267A1703D424}" type="datetimeFigureOut">
              <a:rPr lang="en-US" smtClean="0"/>
              <a:t>10/17/2017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585EC5-EC3D-4EAF-A2BB-0907333757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60098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A77A3B-E3F2-4C91-91C9-267A1703D424}" type="datetimeFigureOut">
              <a:rPr lang="en-US" smtClean="0"/>
              <a:t>10/17/2017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585EC5-EC3D-4EAF-A2BB-0907333757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77093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A77A3B-E3F2-4C91-91C9-267A1703D424}" type="datetimeFigureOut">
              <a:rPr lang="en-US" smtClean="0"/>
              <a:t>10/17/2017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585EC5-EC3D-4EAF-A2BB-0907333757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51674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A77A3B-E3F2-4C91-91C9-267A1703D424}" type="datetimeFigureOut">
              <a:rPr lang="en-US" smtClean="0"/>
              <a:t>10/17/2017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585EC5-EC3D-4EAF-A2BB-0907333757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62933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A77A3B-E3F2-4C91-91C9-267A1703D424}" type="datetimeFigureOut">
              <a:rPr lang="en-US" smtClean="0"/>
              <a:t>10/17/2017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585EC5-EC3D-4EAF-A2BB-0907333757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57193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A77A3B-E3F2-4C91-91C9-267A1703D424}" type="datetimeFigureOut">
              <a:rPr lang="en-US" smtClean="0"/>
              <a:t>10/17/2017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585EC5-EC3D-4EAF-A2BB-0907333757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38997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A77A3B-E3F2-4C91-91C9-267A1703D424}" type="datetimeFigureOut">
              <a:rPr lang="en-US" smtClean="0"/>
              <a:t>10/17/2017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585EC5-EC3D-4EAF-A2BB-0907333757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09248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A77A3B-E3F2-4C91-91C9-267A1703D424}" type="datetimeFigureOut">
              <a:rPr lang="en-US" smtClean="0"/>
              <a:t>10/17/2017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585EC5-EC3D-4EAF-A2BB-0907333757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41471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A77A3B-E3F2-4C91-91C9-267A1703D424}" type="datetimeFigureOut">
              <a:rPr lang="en-US" smtClean="0"/>
              <a:t>10/17/2017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585EC5-EC3D-4EAF-A2BB-0907333757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65090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A77A3B-E3F2-4C91-91C9-267A1703D424}" type="datetimeFigureOut">
              <a:rPr lang="en-US" smtClean="0"/>
              <a:t>10/17/2017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585EC5-EC3D-4EAF-A2BB-0907333757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98986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774228"/>
          </a:xfrm>
        </p:spPr>
        <p:txBody>
          <a:bodyPr>
            <a:normAutofit/>
          </a:bodyPr>
          <a:lstStyle/>
          <a:p>
            <a:r>
              <a:rPr lang="en-US" sz="3600" dirty="0" smtClean="0">
                <a:latin typeface="+mn-lt"/>
              </a:rPr>
              <a:t>Create a larger virtual disk </a:t>
            </a:r>
            <a:r>
              <a:rPr lang="en-US" sz="3600" dirty="0">
                <a:latin typeface="+mn-lt"/>
              </a:rPr>
              <a:t>5</a:t>
            </a:r>
            <a:r>
              <a:rPr lang="en-US" sz="3600" dirty="0" smtClean="0">
                <a:latin typeface="+mn-lt"/>
              </a:rPr>
              <a:t> gigs</a:t>
            </a:r>
            <a:br>
              <a:rPr lang="en-US" sz="3600" dirty="0" smtClean="0">
                <a:latin typeface="+mn-lt"/>
              </a:rPr>
            </a:br>
            <a:r>
              <a:rPr lang="en-US" sz="3600" dirty="0">
                <a:latin typeface="+mn-lt"/>
              </a:rPr>
              <a:t/>
            </a:r>
            <a:br>
              <a:rPr lang="en-US" sz="3600" dirty="0">
                <a:latin typeface="+mn-lt"/>
              </a:rPr>
            </a:br>
            <a:r>
              <a:rPr lang="en-US" sz="2400" dirty="0" smtClean="0">
                <a:latin typeface="+mn-lt"/>
              </a:rPr>
              <a:t>diskmgmt.msc</a:t>
            </a:r>
            <a:r>
              <a:rPr lang="en-US" sz="2400" dirty="0">
                <a:latin typeface="+mn-lt"/>
              </a:rPr>
              <a:t> </a:t>
            </a:r>
            <a:r>
              <a:rPr lang="en-US" sz="2400" dirty="0" smtClean="0">
                <a:latin typeface="+mn-lt"/>
              </a:rPr>
              <a:t>- action - create VHD - size - initialize – volume</a:t>
            </a:r>
            <a:br>
              <a:rPr lang="en-US" sz="2400" dirty="0" smtClean="0">
                <a:latin typeface="+mn-lt"/>
              </a:rPr>
            </a:br>
            <a:r>
              <a:rPr lang="en-US" sz="2400" dirty="0">
                <a:latin typeface="+mn-lt"/>
              </a:rPr>
              <a:t/>
            </a:r>
            <a:br>
              <a:rPr lang="en-US" sz="2400" dirty="0">
                <a:latin typeface="+mn-lt"/>
              </a:rPr>
            </a:br>
            <a:r>
              <a:rPr lang="en-US" sz="2400" dirty="0" smtClean="0">
                <a:latin typeface="+mn-lt"/>
              </a:rPr>
              <a:t>create database – redirect both data and log files to this drive (W)</a:t>
            </a:r>
            <a:endParaRPr lang="en-US" sz="24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4928729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0"/>
            <a:ext cx="9144000" cy="945428"/>
          </a:xfrm>
        </p:spPr>
        <p:txBody>
          <a:bodyPr/>
          <a:lstStyle/>
          <a:p>
            <a:r>
              <a:rPr lang="en-US" dirty="0" smtClean="0"/>
              <a:t>What is a page split?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51264" y="817273"/>
            <a:ext cx="9144000" cy="5115935"/>
          </a:xfrm>
        </p:spPr>
        <p:txBody>
          <a:bodyPr>
            <a:normAutofit fontScale="85000" lnSpcReduction="20000"/>
          </a:bodyPr>
          <a:lstStyle/>
          <a:p>
            <a:pPr marL="342900" indent="-342900" algn="l" fontAlgn="base">
              <a:buFont typeface="Arial" panose="020B0604020202020204" pitchFamily="34" charset="0"/>
              <a:buChar char="•"/>
            </a:pPr>
            <a:endParaRPr lang="en-US" dirty="0" smtClean="0"/>
          </a:p>
          <a:p>
            <a:pPr marL="342900" indent="-342900" algn="l" fontAlgn="base">
              <a:buFont typeface="Arial" panose="020B0604020202020204" pitchFamily="34" charset="0"/>
              <a:buChar char="•"/>
            </a:pPr>
            <a:r>
              <a:rPr lang="en-US" dirty="0" smtClean="0"/>
              <a:t>We talked about in the previous video that a page has 8060 bytes of free space for you to insert data rows and/or update existing rows.  At times, when you insert more rows there </a:t>
            </a:r>
            <a:r>
              <a:rPr lang="en-US" dirty="0"/>
              <a:t>may not enough room for the newly </a:t>
            </a:r>
            <a:r>
              <a:rPr lang="en-US" dirty="0" smtClean="0"/>
              <a:t>inserted row </a:t>
            </a:r>
            <a:r>
              <a:rPr lang="en-US" dirty="0"/>
              <a:t>in the applicable data page. </a:t>
            </a:r>
            <a:endParaRPr lang="en-US" dirty="0" smtClean="0"/>
          </a:p>
          <a:p>
            <a:pPr marL="342900" indent="-342900" algn="l" fontAlgn="base">
              <a:buFont typeface="Arial" panose="020B0604020202020204" pitchFamily="34" charset="0"/>
              <a:buChar char="•"/>
            </a:pPr>
            <a:endParaRPr lang="en-US" dirty="0" smtClean="0"/>
          </a:p>
          <a:p>
            <a:pPr marL="342900" indent="-342900" algn="l" fontAlgn="base">
              <a:buFont typeface="Arial" panose="020B0604020202020204" pitchFamily="34" charset="0"/>
              <a:buChar char="•"/>
            </a:pPr>
            <a:r>
              <a:rPr lang="en-US" dirty="0" smtClean="0"/>
              <a:t>If this happens, then SQL </a:t>
            </a:r>
            <a:r>
              <a:rPr lang="en-US" dirty="0"/>
              <a:t>Server will have to move some of the data from the current data page and move it to a new data page. </a:t>
            </a:r>
            <a:endParaRPr lang="en-US" dirty="0" smtClean="0"/>
          </a:p>
          <a:p>
            <a:pPr marL="342900" indent="-342900" algn="l" fontAlgn="base">
              <a:buFont typeface="Arial" panose="020B0604020202020204" pitchFamily="34" charset="0"/>
              <a:buChar char="•"/>
            </a:pPr>
            <a:endParaRPr lang="en-US" dirty="0" smtClean="0"/>
          </a:p>
          <a:p>
            <a:pPr marL="342900" indent="-342900" algn="l" fontAlgn="base">
              <a:buFont typeface="Arial" panose="020B0604020202020204" pitchFamily="34" charset="0"/>
              <a:buChar char="•"/>
            </a:pPr>
            <a:r>
              <a:rPr lang="en-US" dirty="0" smtClean="0"/>
              <a:t>This involves the </a:t>
            </a:r>
            <a:r>
              <a:rPr lang="en-US" dirty="0"/>
              <a:t>normal I/O of </a:t>
            </a:r>
            <a:r>
              <a:rPr lang="en-US" dirty="0" smtClean="0"/>
              <a:t>inserting of a row, but at the same time involves updating </a:t>
            </a:r>
            <a:r>
              <a:rPr lang="en-US" dirty="0"/>
              <a:t>any applicable indexes. This </a:t>
            </a:r>
            <a:r>
              <a:rPr lang="en-US" dirty="0" smtClean="0"/>
              <a:t>result </a:t>
            </a:r>
            <a:r>
              <a:rPr lang="en-US" dirty="0"/>
              <a:t>in a lot of </a:t>
            </a:r>
            <a:r>
              <a:rPr lang="en-US" dirty="0" smtClean="0"/>
              <a:t>excessive </a:t>
            </a:r>
            <a:r>
              <a:rPr lang="en-US" dirty="0"/>
              <a:t>I/O</a:t>
            </a:r>
            <a:r>
              <a:rPr lang="en-US" dirty="0" smtClean="0"/>
              <a:t>.</a:t>
            </a:r>
          </a:p>
          <a:p>
            <a:pPr marL="342900" indent="-342900" algn="l" fontAlgn="base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 smtClean="0"/>
              <a:t>While a </a:t>
            </a:r>
            <a:r>
              <a:rPr lang="en-US" dirty="0"/>
              <a:t>certain amount of page splits is normal and expected, </a:t>
            </a:r>
            <a:r>
              <a:rPr lang="en-US" dirty="0" smtClean="0"/>
              <a:t>too </a:t>
            </a:r>
            <a:r>
              <a:rPr lang="en-US" dirty="0"/>
              <a:t>many page </a:t>
            </a:r>
            <a:r>
              <a:rPr lang="en-US" dirty="0" smtClean="0"/>
              <a:t>splits</a:t>
            </a:r>
            <a:r>
              <a:rPr lang="en-US" dirty="0"/>
              <a:t> </a:t>
            </a:r>
            <a:r>
              <a:rPr lang="en-US" dirty="0" smtClean="0"/>
              <a:t>can cause performance issues.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 smtClean="0"/>
              <a:t>In this video we shall set up a page split and in coming videos see ways to resolve excessive page splits</a:t>
            </a:r>
          </a:p>
        </p:txBody>
      </p:sp>
    </p:spTree>
    <p:extLst>
      <p:ext uri="{BB962C8B-B14F-4D97-AF65-F5344CB8AC3E}">
        <p14:creationId xmlns:p14="http://schemas.microsoft.com/office/powerpoint/2010/main" val="2279700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0"/>
            <a:ext cx="9144000" cy="1028555"/>
          </a:xfrm>
        </p:spPr>
        <p:txBody>
          <a:bodyPr>
            <a:normAutofit/>
          </a:bodyPr>
          <a:lstStyle/>
          <a:p>
            <a:r>
              <a:rPr lang="en-US" sz="3600" dirty="0" smtClean="0">
                <a:latin typeface="+mn-lt"/>
              </a:rPr>
              <a:t>Diagram of a page split</a:t>
            </a:r>
            <a:endParaRPr lang="en-US" sz="3600" dirty="0">
              <a:latin typeface="+mn-lt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1028555"/>
            <a:ext cx="9144000" cy="5829445"/>
          </a:xfrm>
        </p:spPr>
        <p:txBody>
          <a:bodyPr>
            <a:normAutofit/>
          </a:bodyPr>
          <a:lstStyle/>
          <a:p>
            <a:pPr algn="l"/>
            <a:endParaRPr lang="en-US" sz="1600" dirty="0" smtClean="0"/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600" dirty="0" smtClean="0"/>
              <a:t>This diagram illustrates a page split.  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600" dirty="0" smtClean="0"/>
              <a:t>We can see that page 1:201 has five rows AAAA to FFFF not including DDDD</a:t>
            </a:r>
            <a:endParaRPr lang="en-US" sz="1600" dirty="0"/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600" dirty="0" smtClean="0"/>
              <a:t>When you insert a new row (DDDD) in a sequential order for the page that has NO MORE room for row DDDD, the SQL Server splits the page 1:201 in half and creates a NEW page 1:307 IN BETWEEN 1:201 and page 1:202.  SQL server now has to read more pages and update the index also!</a:t>
            </a:r>
          </a:p>
          <a:p>
            <a:pPr algn="l"/>
            <a:endParaRPr lang="en-US" sz="16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14750" y="3231573"/>
            <a:ext cx="4762500" cy="3451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22209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301</TotalTime>
  <Words>254</Words>
  <Application>Microsoft Office PowerPoint</Application>
  <PresentationFormat>Widescreen</PresentationFormat>
  <Paragraphs>17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Create a larger virtual disk 5 gigs  diskmgmt.msc - action - create VHD - size - initialize – volume  create database – redirect both data and log files to this drive (W)</vt:lpstr>
      <vt:lpstr>What is a page split?</vt:lpstr>
      <vt:lpstr>Diagram of a page split</vt:lpstr>
    </vt:vector>
  </TitlesOfParts>
  <Company>Microsoft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rafasg61 A</dc:creator>
  <cp:lastModifiedBy>rafasg61 A</cp:lastModifiedBy>
  <cp:revision>22</cp:revision>
  <dcterms:created xsi:type="dcterms:W3CDTF">2017-10-18T00:35:26Z</dcterms:created>
  <dcterms:modified xsi:type="dcterms:W3CDTF">2017-10-18T05:36:56Z</dcterms:modified>
</cp:coreProperties>
</file>