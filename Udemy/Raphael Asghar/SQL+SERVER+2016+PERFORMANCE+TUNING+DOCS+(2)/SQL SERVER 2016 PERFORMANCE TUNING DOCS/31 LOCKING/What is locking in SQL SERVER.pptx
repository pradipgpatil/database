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56" r:id="rId3"/>
    <p:sldId id="257" r:id="rId4"/>
    <p:sldId id="258" r:id="rId5"/>
    <p:sldId id="259"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92" d="100"/>
          <a:sy n="92" d="100"/>
        </p:scale>
        <p:origin x="498"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4C303F8-28E1-49D7-870F-9AF6070F52FB}" type="datetimeFigureOut">
              <a:rPr lang="en-US" smtClean="0"/>
              <a:t>11/4/2017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6939A1-2C2E-4181-8DAE-D8564E3B7A29}" type="slidenum">
              <a:rPr lang="en-US" smtClean="0"/>
              <a:t>‹#›</a:t>
            </a:fld>
            <a:endParaRPr lang="en-US"/>
          </a:p>
        </p:txBody>
      </p:sp>
    </p:spTree>
    <p:extLst>
      <p:ext uri="{BB962C8B-B14F-4D97-AF65-F5344CB8AC3E}">
        <p14:creationId xmlns:p14="http://schemas.microsoft.com/office/powerpoint/2010/main" val="31422865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4C303F8-28E1-49D7-870F-9AF6070F52FB}" type="datetimeFigureOut">
              <a:rPr lang="en-US" smtClean="0"/>
              <a:t>11/4/2017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6939A1-2C2E-4181-8DAE-D8564E3B7A29}" type="slidenum">
              <a:rPr lang="en-US" smtClean="0"/>
              <a:t>‹#›</a:t>
            </a:fld>
            <a:endParaRPr lang="en-US"/>
          </a:p>
        </p:txBody>
      </p:sp>
    </p:spTree>
    <p:extLst>
      <p:ext uri="{BB962C8B-B14F-4D97-AF65-F5344CB8AC3E}">
        <p14:creationId xmlns:p14="http://schemas.microsoft.com/office/powerpoint/2010/main" val="41418614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4C303F8-28E1-49D7-870F-9AF6070F52FB}" type="datetimeFigureOut">
              <a:rPr lang="en-US" smtClean="0"/>
              <a:t>11/4/2017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6939A1-2C2E-4181-8DAE-D8564E3B7A29}" type="slidenum">
              <a:rPr lang="en-US" smtClean="0"/>
              <a:t>‹#›</a:t>
            </a:fld>
            <a:endParaRPr lang="en-US"/>
          </a:p>
        </p:txBody>
      </p:sp>
    </p:spTree>
    <p:extLst>
      <p:ext uri="{BB962C8B-B14F-4D97-AF65-F5344CB8AC3E}">
        <p14:creationId xmlns:p14="http://schemas.microsoft.com/office/powerpoint/2010/main" val="42575275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4C303F8-28E1-49D7-870F-9AF6070F52FB}" type="datetimeFigureOut">
              <a:rPr lang="en-US" smtClean="0"/>
              <a:t>11/4/2017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6939A1-2C2E-4181-8DAE-D8564E3B7A29}" type="slidenum">
              <a:rPr lang="en-US" smtClean="0"/>
              <a:t>‹#›</a:t>
            </a:fld>
            <a:endParaRPr lang="en-US"/>
          </a:p>
        </p:txBody>
      </p:sp>
    </p:spTree>
    <p:extLst>
      <p:ext uri="{BB962C8B-B14F-4D97-AF65-F5344CB8AC3E}">
        <p14:creationId xmlns:p14="http://schemas.microsoft.com/office/powerpoint/2010/main" val="3971602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4C303F8-28E1-49D7-870F-9AF6070F52FB}" type="datetimeFigureOut">
              <a:rPr lang="en-US" smtClean="0"/>
              <a:t>11/4/2017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36939A1-2C2E-4181-8DAE-D8564E3B7A29}" type="slidenum">
              <a:rPr lang="en-US" smtClean="0"/>
              <a:t>‹#›</a:t>
            </a:fld>
            <a:endParaRPr lang="en-US"/>
          </a:p>
        </p:txBody>
      </p:sp>
    </p:spTree>
    <p:extLst>
      <p:ext uri="{BB962C8B-B14F-4D97-AF65-F5344CB8AC3E}">
        <p14:creationId xmlns:p14="http://schemas.microsoft.com/office/powerpoint/2010/main" val="2704456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4C303F8-28E1-49D7-870F-9AF6070F52FB}" type="datetimeFigureOut">
              <a:rPr lang="en-US" smtClean="0"/>
              <a:t>11/4/2017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36939A1-2C2E-4181-8DAE-D8564E3B7A29}" type="slidenum">
              <a:rPr lang="en-US" smtClean="0"/>
              <a:t>‹#›</a:t>
            </a:fld>
            <a:endParaRPr lang="en-US"/>
          </a:p>
        </p:txBody>
      </p:sp>
    </p:spTree>
    <p:extLst>
      <p:ext uri="{BB962C8B-B14F-4D97-AF65-F5344CB8AC3E}">
        <p14:creationId xmlns:p14="http://schemas.microsoft.com/office/powerpoint/2010/main" val="379524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C303F8-28E1-49D7-870F-9AF6070F52FB}" type="datetimeFigureOut">
              <a:rPr lang="en-US" smtClean="0"/>
              <a:t>11/4/2017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36939A1-2C2E-4181-8DAE-D8564E3B7A29}" type="slidenum">
              <a:rPr lang="en-US" smtClean="0"/>
              <a:t>‹#›</a:t>
            </a:fld>
            <a:endParaRPr lang="en-US"/>
          </a:p>
        </p:txBody>
      </p:sp>
    </p:spTree>
    <p:extLst>
      <p:ext uri="{BB962C8B-B14F-4D97-AF65-F5344CB8AC3E}">
        <p14:creationId xmlns:p14="http://schemas.microsoft.com/office/powerpoint/2010/main" val="31764292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4C303F8-28E1-49D7-870F-9AF6070F52FB}" type="datetimeFigureOut">
              <a:rPr lang="en-US" smtClean="0"/>
              <a:t>11/4/2017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6939A1-2C2E-4181-8DAE-D8564E3B7A29}" type="slidenum">
              <a:rPr lang="en-US" smtClean="0"/>
              <a:t>‹#›</a:t>
            </a:fld>
            <a:endParaRPr lang="en-US"/>
          </a:p>
        </p:txBody>
      </p:sp>
    </p:spTree>
    <p:extLst>
      <p:ext uri="{BB962C8B-B14F-4D97-AF65-F5344CB8AC3E}">
        <p14:creationId xmlns:p14="http://schemas.microsoft.com/office/powerpoint/2010/main" val="28976746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4C303F8-28E1-49D7-870F-9AF6070F52FB}" type="datetimeFigureOut">
              <a:rPr lang="en-US" smtClean="0"/>
              <a:t>11/4/2017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6939A1-2C2E-4181-8DAE-D8564E3B7A29}" type="slidenum">
              <a:rPr lang="en-US" smtClean="0"/>
              <a:t>‹#›</a:t>
            </a:fld>
            <a:endParaRPr lang="en-US"/>
          </a:p>
        </p:txBody>
      </p:sp>
    </p:spTree>
    <p:extLst>
      <p:ext uri="{BB962C8B-B14F-4D97-AF65-F5344CB8AC3E}">
        <p14:creationId xmlns:p14="http://schemas.microsoft.com/office/powerpoint/2010/main" val="33973320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4C303F8-28E1-49D7-870F-9AF6070F52FB}" type="datetimeFigureOut">
              <a:rPr lang="en-US" smtClean="0"/>
              <a:t>11/4/2017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6939A1-2C2E-4181-8DAE-D8564E3B7A29}" type="slidenum">
              <a:rPr lang="en-US" smtClean="0"/>
              <a:t>‹#›</a:t>
            </a:fld>
            <a:endParaRPr lang="en-US"/>
          </a:p>
        </p:txBody>
      </p:sp>
    </p:spTree>
    <p:extLst>
      <p:ext uri="{BB962C8B-B14F-4D97-AF65-F5344CB8AC3E}">
        <p14:creationId xmlns:p14="http://schemas.microsoft.com/office/powerpoint/2010/main" val="3997024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4C303F8-28E1-49D7-870F-9AF6070F52FB}" type="datetimeFigureOut">
              <a:rPr lang="en-US" smtClean="0"/>
              <a:t>11/4/2017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6939A1-2C2E-4181-8DAE-D8564E3B7A29}" type="slidenum">
              <a:rPr lang="en-US" smtClean="0"/>
              <a:t>‹#›</a:t>
            </a:fld>
            <a:endParaRPr lang="en-US"/>
          </a:p>
        </p:txBody>
      </p:sp>
    </p:spTree>
    <p:extLst>
      <p:ext uri="{BB962C8B-B14F-4D97-AF65-F5344CB8AC3E}">
        <p14:creationId xmlns:p14="http://schemas.microsoft.com/office/powerpoint/2010/main" val="3283866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C303F8-28E1-49D7-870F-9AF6070F52FB}" type="datetimeFigureOut">
              <a:rPr lang="en-US" smtClean="0"/>
              <a:t>11/4/2017</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6939A1-2C2E-4181-8DAE-D8564E3B7A29}" type="slidenum">
              <a:rPr lang="en-US" smtClean="0"/>
              <a:t>‹#›</a:t>
            </a:fld>
            <a:endParaRPr lang="en-US"/>
          </a:p>
        </p:txBody>
      </p:sp>
    </p:spTree>
    <p:extLst>
      <p:ext uri="{BB962C8B-B14F-4D97-AF65-F5344CB8AC3E}">
        <p14:creationId xmlns:p14="http://schemas.microsoft.com/office/powerpoint/2010/main" val="1231674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415782"/>
            <a:ext cx="9144000" cy="1049337"/>
          </a:xfrm>
        </p:spPr>
        <p:txBody>
          <a:bodyPr>
            <a:normAutofit fontScale="90000"/>
          </a:bodyPr>
          <a:lstStyle/>
          <a:p>
            <a:r>
              <a:rPr lang="en-US" sz="4000" dirty="0" smtClean="0"/>
              <a:t>What is a lock(ing), block(ing) or a deadlock?</a:t>
            </a:r>
            <a:endParaRPr lang="en-US" sz="4000" dirty="0"/>
          </a:p>
        </p:txBody>
      </p:sp>
      <p:sp>
        <p:nvSpPr>
          <p:cNvPr id="3" name="Subtitle 2"/>
          <p:cNvSpPr>
            <a:spLocks noGrp="1"/>
          </p:cNvSpPr>
          <p:nvPr>
            <p:ph type="subTitle" idx="1"/>
          </p:nvPr>
        </p:nvSpPr>
        <p:spPr>
          <a:xfrm>
            <a:off x="1524000" y="2504209"/>
            <a:ext cx="9144000" cy="3449782"/>
          </a:xfrm>
        </p:spPr>
        <p:txBody>
          <a:bodyPr>
            <a:normAutofit/>
          </a:bodyPr>
          <a:lstStyle/>
          <a:p>
            <a:pPr algn="l"/>
            <a:r>
              <a:rPr lang="en-US" sz="3200" dirty="0" smtClean="0"/>
              <a:t>     In the next several videos, we will discuss and demonstrate what these objects are and how understanding them will help us in performance tuning the SQL Server.  We begin with ‘what is a lock?’</a:t>
            </a:r>
            <a:endParaRPr lang="en-US" sz="3200" dirty="0"/>
          </a:p>
        </p:txBody>
      </p:sp>
    </p:spTree>
    <p:extLst>
      <p:ext uri="{BB962C8B-B14F-4D97-AF65-F5344CB8AC3E}">
        <p14:creationId xmlns:p14="http://schemas.microsoft.com/office/powerpoint/2010/main" val="19131878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
            <a:ext cx="9144000" cy="1381990"/>
          </a:xfrm>
        </p:spPr>
        <p:txBody>
          <a:bodyPr>
            <a:normAutofit fontScale="90000"/>
          </a:bodyPr>
          <a:lstStyle/>
          <a:p>
            <a:r>
              <a:rPr lang="en-US" sz="3100" dirty="0" smtClean="0">
                <a:latin typeface="+mn-lt"/>
              </a:rPr>
              <a:t/>
            </a:r>
            <a:br>
              <a:rPr lang="en-US" sz="3100" dirty="0" smtClean="0">
                <a:latin typeface="+mn-lt"/>
              </a:rPr>
            </a:br>
            <a:r>
              <a:rPr lang="en-US" sz="3100" dirty="0">
                <a:latin typeface="+mn-lt"/>
              </a:rPr>
              <a:t/>
            </a:r>
            <a:br>
              <a:rPr lang="en-US" sz="3100" dirty="0">
                <a:latin typeface="+mn-lt"/>
              </a:rPr>
            </a:br>
            <a:r>
              <a:rPr lang="en-US" sz="3100" dirty="0" smtClean="0">
                <a:latin typeface="+mn-lt"/>
              </a:rPr>
              <a:t>What </a:t>
            </a:r>
            <a:r>
              <a:rPr lang="en-US" sz="3100" dirty="0">
                <a:latin typeface="+mn-lt"/>
              </a:rPr>
              <a:t>is locking in SQL SERVER?</a:t>
            </a:r>
            <a:r>
              <a:rPr lang="en-US" dirty="0"/>
              <a:t/>
            </a:r>
            <a:br>
              <a:rPr lang="en-US" dirty="0"/>
            </a:br>
            <a:endParaRPr lang="en-US" dirty="0"/>
          </a:p>
        </p:txBody>
      </p:sp>
      <p:sp>
        <p:nvSpPr>
          <p:cNvPr id="3" name="Subtitle 2"/>
          <p:cNvSpPr>
            <a:spLocks noGrp="1"/>
          </p:cNvSpPr>
          <p:nvPr>
            <p:ph type="subTitle" idx="1"/>
          </p:nvPr>
        </p:nvSpPr>
        <p:spPr>
          <a:xfrm>
            <a:off x="904009" y="623454"/>
            <a:ext cx="10224655" cy="6234545"/>
          </a:xfrm>
        </p:spPr>
        <p:txBody>
          <a:bodyPr>
            <a:normAutofit fontScale="62500" lnSpcReduction="20000"/>
          </a:bodyPr>
          <a:lstStyle/>
          <a:p>
            <a:pPr algn="l"/>
            <a:endParaRPr lang="en-US" sz="2900" dirty="0" smtClean="0"/>
          </a:p>
          <a:p>
            <a:pPr algn="l"/>
            <a:r>
              <a:rPr lang="en-US" sz="2900" dirty="0" smtClean="0"/>
              <a:t>SQL Server in an environment that has </a:t>
            </a:r>
            <a:r>
              <a:rPr lang="en-US" sz="2900" dirty="0" smtClean="0">
                <a:solidFill>
                  <a:srgbClr val="FF0000"/>
                </a:solidFill>
              </a:rPr>
              <a:t>multiple </a:t>
            </a:r>
            <a:r>
              <a:rPr lang="en-US" sz="2900" dirty="0">
                <a:solidFill>
                  <a:srgbClr val="FF0000"/>
                </a:solidFill>
              </a:rPr>
              <a:t>users </a:t>
            </a:r>
            <a:r>
              <a:rPr lang="en-US" sz="2900" dirty="0" smtClean="0">
                <a:solidFill>
                  <a:srgbClr val="FF0000"/>
                </a:solidFill>
              </a:rPr>
              <a:t>needing </a:t>
            </a:r>
            <a:r>
              <a:rPr lang="en-US" sz="2900" dirty="0">
                <a:solidFill>
                  <a:srgbClr val="FF0000"/>
                </a:solidFill>
              </a:rPr>
              <a:t>to access the same data </a:t>
            </a:r>
            <a:r>
              <a:rPr lang="en-US" sz="2900" dirty="0" smtClean="0">
                <a:solidFill>
                  <a:srgbClr val="FF0000"/>
                </a:solidFill>
              </a:rPr>
              <a:t>simultaneously</a:t>
            </a:r>
            <a:r>
              <a:rPr lang="en-US" sz="2900" dirty="0" smtClean="0"/>
              <a:t>.</a:t>
            </a:r>
          </a:p>
          <a:p>
            <a:pPr algn="l"/>
            <a:r>
              <a:rPr lang="en-US" sz="2900" dirty="0" smtClean="0"/>
              <a:t>SQL Server </a:t>
            </a:r>
            <a:r>
              <a:rPr lang="en-US" sz="2900" dirty="0"/>
              <a:t>must </a:t>
            </a:r>
            <a:r>
              <a:rPr lang="en-US" sz="2900" dirty="0" smtClean="0"/>
              <a:t>somehow </a:t>
            </a:r>
            <a:r>
              <a:rPr lang="en-US" sz="2900" dirty="0">
                <a:solidFill>
                  <a:srgbClr val="FF0000"/>
                </a:solidFill>
              </a:rPr>
              <a:t>control how these reads and writes to the database </a:t>
            </a:r>
            <a:r>
              <a:rPr lang="en-US" sz="2900" dirty="0" smtClean="0"/>
              <a:t>are carried </a:t>
            </a:r>
            <a:r>
              <a:rPr lang="en-US" sz="2900" dirty="0"/>
              <a:t>out. </a:t>
            </a:r>
            <a:endParaRPr lang="en-US" sz="2900" dirty="0" smtClean="0"/>
          </a:p>
          <a:p>
            <a:pPr algn="l"/>
            <a:endParaRPr lang="en-US" sz="2500" dirty="0">
              <a:solidFill>
                <a:srgbClr val="FF0000"/>
              </a:solidFill>
            </a:endParaRPr>
          </a:p>
          <a:p>
            <a:pPr algn="l"/>
            <a:r>
              <a:rPr lang="en-US" sz="2500" dirty="0" smtClean="0">
                <a:solidFill>
                  <a:srgbClr val="FF0000"/>
                </a:solidFill>
              </a:rPr>
              <a:t>In </a:t>
            </a:r>
            <a:r>
              <a:rPr lang="en-US" sz="2500" dirty="0" smtClean="0">
                <a:solidFill>
                  <a:srgbClr val="FF0000"/>
                </a:solidFill>
              </a:rPr>
              <a:t>a multi-user environment, </a:t>
            </a:r>
            <a:r>
              <a:rPr lang="en-US" sz="2500" dirty="0">
                <a:solidFill>
                  <a:srgbClr val="FF0000"/>
                </a:solidFill>
              </a:rPr>
              <a:t>l</a:t>
            </a:r>
            <a:r>
              <a:rPr lang="en-US" sz="2500" dirty="0" smtClean="0">
                <a:solidFill>
                  <a:srgbClr val="FF0000"/>
                </a:solidFill>
              </a:rPr>
              <a:t>ocking</a:t>
            </a:r>
            <a:r>
              <a:rPr lang="en-US" sz="2500" dirty="0" smtClean="0"/>
              <a:t> </a:t>
            </a:r>
            <a:r>
              <a:rPr lang="en-US" sz="2500" dirty="0"/>
              <a:t>is </a:t>
            </a:r>
            <a:r>
              <a:rPr lang="en-US" sz="2500" dirty="0" smtClean="0"/>
              <a:t>the process of </a:t>
            </a:r>
            <a:r>
              <a:rPr lang="en-US" sz="2500" b="1" dirty="0" smtClean="0">
                <a:solidFill>
                  <a:srgbClr val="FF0000"/>
                </a:solidFill>
              </a:rPr>
              <a:t>ensuring </a:t>
            </a:r>
            <a:r>
              <a:rPr lang="en-US" sz="2500" b="1" dirty="0">
                <a:solidFill>
                  <a:srgbClr val="FF0000"/>
                </a:solidFill>
              </a:rPr>
              <a:t>the integrity of the data</a:t>
            </a:r>
            <a:r>
              <a:rPr lang="en-US" sz="2500" b="1" dirty="0"/>
              <a:t> </a:t>
            </a:r>
            <a:r>
              <a:rPr lang="en-US" sz="2500" dirty="0" smtClean="0"/>
              <a:t>is maintained in </a:t>
            </a:r>
            <a:r>
              <a:rPr lang="en-US" sz="2500" dirty="0"/>
              <a:t>the </a:t>
            </a:r>
            <a:r>
              <a:rPr lang="en-US" sz="2500" dirty="0" smtClean="0"/>
              <a:t>database</a:t>
            </a:r>
          </a:p>
          <a:p>
            <a:pPr algn="l"/>
            <a:endParaRPr lang="en-US" sz="2500" dirty="0"/>
          </a:p>
          <a:p>
            <a:pPr algn="l"/>
            <a:r>
              <a:rPr lang="en-US" sz="2500" dirty="0" smtClean="0"/>
              <a:t>It does this by forcing </a:t>
            </a:r>
            <a:r>
              <a:rPr lang="en-US" sz="2500" dirty="0"/>
              <a:t>every SQL Server transaction to pass </a:t>
            </a:r>
            <a:r>
              <a:rPr lang="en-US" sz="2500" dirty="0">
                <a:solidFill>
                  <a:srgbClr val="FF0000"/>
                </a:solidFill>
              </a:rPr>
              <a:t>the ACID </a:t>
            </a:r>
            <a:r>
              <a:rPr lang="en-US" sz="2500" dirty="0" smtClean="0">
                <a:solidFill>
                  <a:srgbClr val="FF0000"/>
                </a:solidFill>
              </a:rPr>
              <a:t>test</a:t>
            </a:r>
            <a:endParaRPr lang="en-US" sz="2500" dirty="0">
              <a:solidFill>
                <a:srgbClr val="FF0000"/>
              </a:solidFill>
            </a:endParaRPr>
          </a:p>
          <a:p>
            <a:pPr algn="l"/>
            <a:endParaRPr lang="en-US" sz="2500" dirty="0"/>
          </a:p>
          <a:p>
            <a:pPr algn="l"/>
            <a:r>
              <a:rPr lang="en-US" sz="2500" dirty="0" smtClean="0"/>
              <a:t>The ACID </a:t>
            </a:r>
            <a:r>
              <a:rPr lang="en-US" sz="2500" dirty="0"/>
              <a:t>test consists of 4 requirements that every transaction </a:t>
            </a:r>
            <a:r>
              <a:rPr lang="en-US" sz="2500" dirty="0" smtClean="0"/>
              <a:t>must pass</a:t>
            </a:r>
          </a:p>
          <a:p>
            <a:pPr algn="l"/>
            <a:r>
              <a:rPr lang="en-US" sz="2500" dirty="0" smtClean="0"/>
              <a:t>They are:</a:t>
            </a:r>
          </a:p>
          <a:p>
            <a:pPr algn="l"/>
            <a:endParaRPr lang="en-US" sz="2500" dirty="0"/>
          </a:p>
          <a:p>
            <a:pPr marL="342900" indent="-342900" algn="l">
              <a:buFont typeface="Arial" panose="020B0604020202020204" pitchFamily="34" charset="0"/>
              <a:buChar char="•"/>
            </a:pPr>
            <a:r>
              <a:rPr lang="en-US" sz="2500" b="1" dirty="0" smtClean="0"/>
              <a:t>Atomicity</a:t>
            </a:r>
            <a:r>
              <a:rPr lang="en-US" sz="2500" dirty="0" smtClean="0"/>
              <a:t>. In a transaction involving two or more discrete pieces of information, </a:t>
            </a:r>
            <a:r>
              <a:rPr lang="en-US" sz="2500" dirty="0" smtClean="0">
                <a:solidFill>
                  <a:srgbClr val="FF0000"/>
                </a:solidFill>
              </a:rPr>
              <a:t>either all of the pieces are committed or none are</a:t>
            </a:r>
          </a:p>
          <a:p>
            <a:pPr marL="342900" indent="-342900" algn="l">
              <a:buFont typeface="Arial" panose="020B0604020202020204" pitchFamily="34" charset="0"/>
              <a:buChar char="•"/>
            </a:pPr>
            <a:endParaRPr lang="en-US" sz="2500" dirty="0" smtClean="0"/>
          </a:p>
          <a:p>
            <a:pPr marL="342900" indent="-342900" algn="l">
              <a:buFont typeface="Arial" panose="020B0604020202020204" pitchFamily="34" charset="0"/>
              <a:buChar char="•"/>
            </a:pPr>
            <a:r>
              <a:rPr lang="en-US" sz="2500" b="1" dirty="0" smtClean="0"/>
              <a:t>Consistency</a:t>
            </a:r>
            <a:r>
              <a:rPr lang="en-US" sz="2500" dirty="0" smtClean="0"/>
              <a:t>. A transaction either </a:t>
            </a:r>
            <a:r>
              <a:rPr lang="en-US" sz="2500" dirty="0" smtClean="0">
                <a:solidFill>
                  <a:srgbClr val="FF0000"/>
                </a:solidFill>
              </a:rPr>
              <a:t>creates a new and valid state of data</a:t>
            </a:r>
            <a:r>
              <a:rPr lang="en-US" sz="2500" dirty="0" smtClean="0"/>
              <a:t>, or, if any failure occurs, </a:t>
            </a:r>
            <a:r>
              <a:rPr lang="en-US" sz="2500" dirty="0" smtClean="0">
                <a:solidFill>
                  <a:srgbClr val="FF0000"/>
                </a:solidFill>
              </a:rPr>
              <a:t>returns all data to its state before the transaction was started</a:t>
            </a:r>
          </a:p>
          <a:p>
            <a:pPr marL="342900" indent="-342900" algn="l">
              <a:buFont typeface="Arial" panose="020B0604020202020204" pitchFamily="34" charset="0"/>
              <a:buChar char="•"/>
            </a:pPr>
            <a:endParaRPr lang="en-US" sz="2500" dirty="0" smtClean="0"/>
          </a:p>
          <a:p>
            <a:pPr marL="342900" indent="-342900" algn="l">
              <a:buFont typeface="Arial" panose="020B0604020202020204" pitchFamily="34" charset="0"/>
              <a:buChar char="•"/>
            </a:pPr>
            <a:r>
              <a:rPr lang="en-US" sz="2500" b="1" dirty="0" smtClean="0"/>
              <a:t>Isolation</a:t>
            </a:r>
            <a:r>
              <a:rPr lang="en-US" sz="2500" dirty="0" smtClean="0"/>
              <a:t>. A transaction in </a:t>
            </a:r>
            <a:r>
              <a:rPr lang="en-US" sz="2500" dirty="0" smtClean="0">
                <a:solidFill>
                  <a:srgbClr val="FF0000"/>
                </a:solidFill>
              </a:rPr>
              <a:t>process and not yet committed </a:t>
            </a:r>
            <a:r>
              <a:rPr lang="en-US" sz="2500" dirty="0" smtClean="0"/>
              <a:t>must remain </a:t>
            </a:r>
            <a:r>
              <a:rPr lang="en-US" sz="2500" dirty="0" smtClean="0">
                <a:solidFill>
                  <a:srgbClr val="FF0000"/>
                </a:solidFill>
              </a:rPr>
              <a:t>isolated</a:t>
            </a:r>
            <a:r>
              <a:rPr lang="en-US" sz="2500" dirty="0" smtClean="0"/>
              <a:t> from any other transaction</a:t>
            </a:r>
          </a:p>
          <a:p>
            <a:pPr marL="342900" indent="-342900" algn="l">
              <a:buFont typeface="Arial" panose="020B0604020202020204" pitchFamily="34" charset="0"/>
              <a:buChar char="•"/>
            </a:pPr>
            <a:endParaRPr lang="en-US" sz="2500" dirty="0" smtClean="0"/>
          </a:p>
          <a:p>
            <a:pPr marL="342900" indent="-342900" algn="l">
              <a:buFont typeface="Arial" panose="020B0604020202020204" pitchFamily="34" charset="0"/>
              <a:buChar char="•"/>
            </a:pPr>
            <a:r>
              <a:rPr lang="en-US" sz="2500" b="1" dirty="0" smtClean="0"/>
              <a:t>Durability</a:t>
            </a:r>
            <a:r>
              <a:rPr lang="en-US" sz="2500" dirty="0" smtClean="0"/>
              <a:t>. </a:t>
            </a:r>
            <a:r>
              <a:rPr lang="en-US" sz="2500" dirty="0" smtClean="0">
                <a:solidFill>
                  <a:srgbClr val="FF0000"/>
                </a:solidFill>
              </a:rPr>
              <a:t>Committed data </a:t>
            </a:r>
            <a:r>
              <a:rPr lang="en-US" sz="2500" dirty="0" smtClean="0"/>
              <a:t>is saved by the system such that, even in the </a:t>
            </a:r>
            <a:r>
              <a:rPr lang="en-US" sz="2500" dirty="0" smtClean="0">
                <a:solidFill>
                  <a:srgbClr val="FF0000"/>
                </a:solidFill>
              </a:rPr>
              <a:t>event of a failure </a:t>
            </a:r>
            <a:r>
              <a:rPr lang="en-US" sz="2500" dirty="0" smtClean="0"/>
              <a:t>and system restart, the </a:t>
            </a:r>
            <a:r>
              <a:rPr lang="en-US" sz="2500" dirty="0" smtClean="0">
                <a:solidFill>
                  <a:srgbClr val="FF0000"/>
                </a:solidFill>
              </a:rPr>
              <a:t>data is available in its correct state</a:t>
            </a:r>
          </a:p>
          <a:p>
            <a:pPr marL="342900" indent="-342900" algn="l">
              <a:buFont typeface="Arial" panose="020B0604020202020204" pitchFamily="34" charset="0"/>
              <a:buChar char="•"/>
            </a:pPr>
            <a:endParaRPr lang="en-US" sz="2000" dirty="0" smtClean="0">
              <a:solidFill>
                <a:srgbClr val="FF0000"/>
              </a:solidFill>
            </a:endParaRPr>
          </a:p>
        </p:txBody>
      </p:sp>
    </p:spTree>
    <p:extLst>
      <p:ext uri="{BB962C8B-B14F-4D97-AF65-F5344CB8AC3E}">
        <p14:creationId xmlns:p14="http://schemas.microsoft.com/office/powerpoint/2010/main" val="227081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59917"/>
            <a:ext cx="9144000" cy="1070117"/>
          </a:xfrm>
        </p:spPr>
        <p:txBody>
          <a:bodyPr>
            <a:normAutofit fontScale="90000"/>
          </a:bodyPr>
          <a:lstStyle/>
          <a:p>
            <a:r>
              <a:rPr lang="en-US" sz="4400" dirty="0" smtClean="0"/>
              <a:t/>
            </a:r>
            <a:br>
              <a:rPr lang="en-US" sz="4400" dirty="0" smtClean="0"/>
            </a:br>
            <a:r>
              <a:rPr lang="en-US" sz="4400" dirty="0"/>
              <a:t/>
            </a:r>
            <a:br>
              <a:rPr lang="en-US" sz="4400" dirty="0"/>
            </a:br>
            <a:r>
              <a:rPr lang="en-US" sz="4400" dirty="0" smtClean="0"/>
              <a:t>Locking in action</a:t>
            </a:r>
            <a:r>
              <a:rPr lang="en-US" sz="3200" dirty="0" smtClean="0">
                <a:solidFill>
                  <a:srgbClr val="FF0000"/>
                </a:solidFill>
              </a:rPr>
              <a:t/>
            </a:r>
            <a:br>
              <a:rPr lang="en-US" sz="3200" dirty="0" smtClean="0">
                <a:solidFill>
                  <a:srgbClr val="FF0000"/>
                </a:solidFill>
              </a:rPr>
            </a:br>
            <a:endParaRPr lang="en-US" sz="3200" dirty="0"/>
          </a:p>
        </p:txBody>
      </p:sp>
      <p:sp>
        <p:nvSpPr>
          <p:cNvPr id="3" name="Subtitle 2"/>
          <p:cNvSpPr>
            <a:spLocks noGrp="1"/>
          </p:cNvSpPr>
          <p:nvPr>
            <p:ph type="subTitle" idx="1"/>
          </p:nvPr>
        </p:nvSpPr>
        <p:spPr>
          <a:xfrm>
            <a:off x="1524000" y="976745"/>
            <a:ext cx="9144000" cy="5881255"/>
          </a:xfrm>
        </p:spPr>
        <p:txBody>
          <a:bodyPr>
            <a:normAutofit/>
          </a:bodyPr>
          <a:lstStyle/>
          <a:p>
            <a:r>
              <a:rPr lang="en-US" sz="1800" dirty="0" smtClean="0"/>
              <a:t>Example of locking</a:t>
            </a:r>
          </a:p>
          <a:p>
            <a:r>
              <a:rPr lang="en-US" sz="1800" dirty="0" smtClean="0"/>
              <a:t>Locking can be applied to rows, tables, indexes, databases</a:t>
            </a:r>
          </a:p>
          <a:p>
            <a:r>
              <a:rPr lang="en-US" sz="1800" dirty="0" smtClean="0"/>
              <a:t>During the transaction the row is held by the lock</a:t>
            </a:r>
          </a:p>
          <a:p>
            <a:r>
              <a:rPr lang="en-US" sz="1800" dirty="0" smtClean="0"/>
              <a:t>Locks occur </a:t>
            </a:r>
            <a:r>
              <a:rPr lang="en-US" sz="1800" dirty="0"/>
              <a:t>d</a:t>
            </a:r>
            <a:r>
              <a:rPr lang="en-US" sz="1800" dirty="0" smtClean="0"/>
              <a:t>uring reads, inserts, updates, deletes</a:t>
            </a:r>
            <a:endParaRPr lang="en-US" sz="1800" dirty="0"/>
          </a:p>
        </p:txBody>
      </p:sp>
      <p:sp>
        <p:nvSpPr>
          <p:cNvPr id="4" name="Rectangle 3"/>
          <p:cNvSpPr/>
          <p:nvPr/>
        </p:nvSpPr>
        <p:spPr>
          <a:xfrm>
            <a:off x="5207575" y="3138054"/>
            <a:ext cx="1776845" cy="20262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5618017" y="2654424"/>
            <a:ext cx="955963" cy="369332"/>
          </a:xfrm>
          <a:prstGeom prst="rect">
            <a:avLst/>
          </a:prstGeom>
          <a:noFill/>
        </p:spPr>
        <p:txBody>
          <a:bodyPr wrap="square" rtlCol="0">
            <a:spAutoFit/>
          </a:bodyPr>
          <a:lstStyle/>
          <a:p>
            <a:r>
              <a:rPr lang="en-US" dirty="0" smtClean="0"/>
              <a:t>Table 1</a:t>
            </a:r>
            <a:endParaRPr lang="en-US" dirty="0"/>
          </a:p>
        </p:txBody>
      </p:sp>
      <p:sp>
        <p:nvSpPr>
          <p:cNvPr id="7" name="TextBox 6"/>
          <p:cNvSpPr txBox="1"/>
          <p:nvPr/>
        </p:nvSpPr>
        <p:spPr>
          <a:xfrm>
            <a:off x="1641764" y="3158835"/>
            <a:ext cx="2535380" cy="1754326"/>
          </a:xfrm>
          <a:prstGeom prst="rect">
            <a:avLst/>
          </a:prstGeom>
          <a:noFill/>
          <a:ln>
            <a:solidFill>
              <a:schemeClr val="tx1"/>
            </a:solidFill>
          </a:ln>
        </p:spPr>
        <p:txBody>
          <a:bodyPr wrap="square" rtlCol="0">
            <a:spAutoFit/>
          </a:bodyPr>
          <a:lstStyle/>
          <a:p>
            <a:pPr algn="ctr"/>
            <a:r>
              <a:rPr lang="en-US" sz="1200" dirty="0" smtClean="0"/>
              <a:t>User 1 wants to update table 1 from tom to “TOM”</a:t>
            </a:r>
          </a:p>
          <a:p>
            <a:pPr algn="ctr"/>
            <a:endParaRPr lang="en-US" sz="1200" dirty="0"/>
          </a:p>
          <a:p>
            <a:pPr algn="ctr"/>
            <a:r>
              <a:rPr lang="en-US" sz="1200" dirty="0" smtClean="0"/>
              <a:t>At the time user 1 wants to update table 1, SQL server will put a lock on this transaction so that </a:t>
            </a:r>
            <a:r>
              <a:rPr lang="en-US" sz="1200" dirty="0" smtClean="0">
                <a:solidFill>
                  <a:srgbClr val="FF0000"/>
                </a:solidFill>
              </a:rPr>
              <a:t>any modification from other users will be prevented </a:t>
            </a:r>
            <a:r>
              <a:rPr lang="en-US" sz="1200" dirty="0" smtClean="0"/>
              <a:t>until its completed the ACID test</a:t>
            </a:r>
            <a:endParaRPr lang="en-US" sz="1200" dirty="0"/>
          </a:p>
        </p:txBody>
      </p:sp>
      <p:sp>
        <p:nvSpPr>
          <p:cNvPr id="8" name="TextBox 7"/>
          <p:cNvSpPr txBox="1"/>
          <p:nvPr/>
        </p:nvSpPr>
        <p:spPr>
          <a:xfrm>
            <a:off x="8014851" y="3158835"/>
            <a:ext cx="2448794" cy="1754326"/>
          </a:xfrm>
          <a:prstGeom prst="rect">
            <a:avLst/>
          </a:prstGeom>
          <a:noFill/>
          <a:ln>
            <a:solidFill>
              <a:schemeClr val="tx1"/>
            </a:solidFill>
          </a:ln>
        </p:spPr>
        <p:txBody>
          <a:bodyPr wrap="square" rtlCol="0">
            <a:spAutoFit/>
          </a:bodyPr>
          <a:lstStyle/>
          <a:p>
            <a:pPr algn="ctr"/>
            <a:r>
              <a:rPr lang="en-US" dirty="0" smtClean="0">
                <a:solidFill>
                  <a:srgbClr val="FF0000"/>
                </a:solidFill>
              </a:rPr>
              <a:t>At the same time</a:t>
            </a:r>
            <a:r>
              <a:rPr lang="en-US" dirty="0" smtClean="0"/>
              <a:t>, User 2 want to update the row tom to “Tom”, but </a:t>
            </a:r>
            <a:r>
              <a:rPr lang="en-US" dirty="0" smtClean="0">
                <a:solidFill>
                  <a:srgbClr val="FF0000"/>
                </a:solidFill>
              </a:rPr>
              <a:t>won’t be able to until user 1  has finished his transaction</a:t>
            </a:r>
            <a:endParaRPr lang="en-US" dirty="0">
              <a:solidFill>
                <a:srgbClr val="FF0000"/>
              </a:solidFill>
            </a:endParaRPr>
          </a:p>
        </p:txBody>
      </p:sp>
      <p:sp>
        <p:nvSpPr>
          <p:cNvPr id="9" name="TextBox 8"/>
          <p:cNvSpPr txBox="1"/>
          <p:nvPr/>
        </p:nvSpPr>
        <p:spPr>
          <a:xfrm>
            <a:off x="5792928" y="3322720"/>
            <a:ext cx="606138" cy="369332"/>
          </a:xfrm>
          <a:prstGeom prst="rect">
            <a:avLst/>
          </a:prstGeom>
          <a:noFill/>
        </p:spPr>
        <p:txBody>
          <a:bodyPr wrap="square" rtlCol="0">
            <a:spAutoFit/>
          </a:bodyPr>
          <a:lstStyle/>
          <a:p>
            <a:r>
              <a:rPr lang="en-US" dirty="0" smtClean="0"/>
              <a:t>tom</a:t>
            </a:r>
            <a:endParaRPr lang="en-US" dirty="0"/>
          </a:p>
        </p:txBody>
      </p:sp>
      <p:cxnSp>
        <p:nvCxnSpPr>
          <p:cNvPr id="11" name="Straight Arrow Connector 10"/>
          <p:cNvCxnSpPr/>
          <p:nvPr/>
        </p:nvCxnSpPr>
        <p:spPr>
          <a:xfrm>
            <a:off x="4301836" y="3507386"/>
            <a:ext cx="76892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7121231" y="3507386"/>
            <a:ext cx="7394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4541691" y="3138053"/>
            <a:ext cx="301336" cy="369332"/>
          </a:xfrm>
          <a:prstGeom prst="rect">
            <a:avLst/>
          </a:prstGeom>
          <a:noFill/>
        </p:spPr>
        <p:txBody>
          <a:bodyPr wrap="square" rtlCol="0">
            <a:spAutoFit/>
          </a:bodyPr>
          <a:lstStyle/>
          <a:p>
            <a:r>
              <a:rPr lang="en-US" dirty="0" smtClean="0"/>
              <a:t>X</a:t>
            </a:r>
            <a:endParaRPr lang="en-US" dirty="0"/>
          </a:p>
        </p:txBody>
      </p:sp>
    </p:spTree>
    <p:extLst>
      <p:ext uri="{BB962C8B-B14F-4D97-AF65-F5344CB8AC3E}">
        <p14:creationId xmlns:p14="http://schemas.microsoft.com/office/powerpoint/2010/main" val="18915566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0"/>
            <a:ext cx="9144000" cy="623455"/>
          </a:xfrm>
        </p:spPr>
        <p:txBody>
          <a:bodyPr>
            <a:normAutofit fontScale="90000"/>
          </a:bodyPr>
          <a:lstStyle/>
          <a:p>
            <a:r>
              <a:rPr lang="en-US" sz="3600" b="1" dirty="0" smtClean="0"/>
              <a:t/>
            </a:r>
            <a:br>
              <a:rPr lang="en-US" sz="3600" b="1" dirty="0" smtClean="0"/>
            </a:br>
            <a:r>
              <a:rPr lang="en-US" dirty="0" smtClean="0"/>
              <a:t/>
            </a:r>
            <a:br>
              <a:rPr lang="en-US" dirty="0" smtClean="0"/>
            </a:br>
            <a:r>
              <a:rPr lang="en-US" sz="3100" b="1" dirty="0" smtClean="0"/>
              <a:t>Types of Lock Modes</a:t>
            </a:r>
            <a:endParaRPr lang="en-US" sz="3100" dirty="0"/>
          </a:p>
        </p:txBody>
      </p:sp>
      <p:sp>
        <p:nvSpPr>
          <p:cNvPr id="3" name="Subtitle 2"/>
          <p:cNvSpPr>
            <a:spLocks noGrp="1"/>
          </p:cNvSpPr>
          <p:nvPr>
            <p:ph type="subTitle" idx="1"/>
          </p:nvPr>
        </p:nvSpPr>
        <p:spPr>
          <a:xfrm>
            <a:off x="1524000" y="623455"/>
            <a:ext cx="9144000" cy="6234545"/>
          </a:xfrm>
        </p:spPr>
        <p:txBody>
          <a:bodyPr>
            <a:normAutofit fontScale="85000" lnSpcReduction="20000"/>
          </a:bodyPr>
          <a:lstStyle/>
          <a:p>
            <a:pPr algn="l"/>
            <a:endParaRPr lang="en-US" sz="1600" dirty="0" smtClean="0"/>
          </a:p>
          <a:p>
            <a:pPr algn="l"/>
            <a:r>
              <a:rPr lang="en-US" sz="1900" dirty="0" smtClean="0"/>
              <a:t>To better understand of how locking works, you need to be aware of </a:t>
            </a:r>
            <a:r>
              <a:rPr lang="en-US" sz="1900" dirty="0" smtClean="0">
                <a:solidFill>
                  <a:srgbClr val="FF0000"/>
                </a:solidFill>
              </a:rPr>
              <a:t>different transaction levels </a:t>
            </a:r>
            <a:r>
              <a:rPr lang="en-US" sz="1900" dirty="0" smtClean="0"/>
              <a:t>and the</a:t>
            </a:r>
          </a:p>
          <a:p>
            <a:pPr algn="l"/>
            <a:r>
              <a:rPr lang="en-US" sz="1900" dirty="0" smtClean="0">
                <a:solidFill>
                  <a:srgbClr val="FF0000"/>
                </a:solidFill>
              </a:rPr>
              <a:t> different lock modes </a:t>
            </a:r>
          </a:p>
          <a:p>
            <a:pPr algn="l"/>
            <a:endParaRPr lang="en-US" sz="1900" b="1" dirty="0">
              <a:solidFill>
                <a:srgbClr val="FF0000"/>
              </a:solidFill>
            </a:endParaRPr>
          </a:p>
          <a:p>
            <a:pPr marL="285750" indent="-285750" algn="l">
              <a:buFont typeface="Arial" panose="020B0604020202020204" pitchFamily="34" charset="0"/>
              <a:buChar char="•"/>
            </a:pPr>
            <a:r>
              <a:rPr lang="en-US" sz="1600" b="1" dirty="0" smtClean="0"/>
              <a:t>Exclusive </a:t>
            </a:r>
            <a:r>
              <a:rPr lang="en-US" sz="1600" b="1" dirty="0"/>
              <a:t>(X) </a:t>
            </a:r>
          </a:p>
          <a:p>
            <a:pPr lvl="1" algn="l"/>
            <a:r>
              <a:rPr lang="en-US" sz="1600" dirty="0" smtClean="0"/>
              <a:t>Exclusive </a:t>
            </a:r>
            <a:r>
              <a:rPr lang="en-US" sz="1600" dirty="0"/>
              <a:t>locks are used </a:t>
            </a:r>
            <a:r>
              <a:rPr lang="en-US" sz="1600" dirty="0">
                <a:solidFill>
                  <a:srgbClr val="FF0000"/>
                </a:solidFill>
              </a:rPr>
              <a:t>to lock data being modified by one transaction thus preventing modifications </a:t>
            </a:r>
            <a:r>
              <a:rPr lang="en-US" sz="1600" dirty="0"/>
              <a:t>by other concurrent </a:t>
            </a:r>
            <a:r>
              <a:rPr lang="en-US" sz="1600" dirty="0" smtClean="0"/>
              <a:t>transactions</a:t>
            </a:r>
          </a:p>
          <a:p>
            <a:pPr lvl="1" algn="l"/>
            <a:endParaRPr lang="en-US" sz="1600" dirty="0"/>
          </a:p>
          <a:p>
            <a:pPr marL="342900" lvl="0" indent="-342900" algn="l">
              <a:buFont typeface="Arial" panose="020B0604020202020204" pitchFamily="34" charset="0"/>
              <a:buChar char="•"/>
            </a:pPr>
            <a:r>
              <a:rPr lang="en-US" sz="1600" b="1" dirty="0"/>
              <a:t>Shared (S) </a:t>
            </a:r>
            <a:endParaRPr lang="en-US" sz="1600" b="1" dirty="0" smtClean="0"/>
          </a:p>
          <a:p>
            <a:pPr lvl="1" algn="l"/>
            <a:r>
              <a:rPr lang="en-US" sz="1600" dirty="0"/>
              <a:t>Shared locks are held on </a:t>
            </a:r>
            <a:r>
              <a:rPr lang="en-US" sz="1600" dirty="0">
                <a:solidFill>
                  <a:srgbClr val="FF0000"/>
                </a:solidFill>
              </a:rPr>
              <a:t>data being </a:t>
            </a:r>
            <a:r>
              <a:rPr lang="en-US" sz="1600" dirty="0" smtClean="0">
                <a:solidFill>
                  <a:srgbClr val="FF0000"/>
                </a:solidFill>
              </a:rPr>
              <a:t>read</a:t>
            </a:r>
            <a:r>
              <a:rPr lang="en-US" sz="1600" dirty="0" smtClean="0"/>
              <a:t>. </a:t>
            </a:r>
            <a:r>
              <a:rPr lang="en-US" sz="1600" dirty="0"/>
              <a:t>While a shared lock is being held other </a:t>
            </a:r>
            <a:r>
              <a:rPr lang="en-US" sz="1600" dirty="0">
                <a:solidFill>
                  <a:srgbClr val="FF0000"/>
                </a:solidFill>
              </a:rPr>
              <a:t>transactions can read but can't modify locked </a:t>
            </a:r>
            <a:r>
              <a:rPr lang="en-US" sz="1600" dirty="0" smtClean="0">
                <a:solidFill>
                  <a:srgbClr val="FF0000"/>
                </a:solidFill>
              </a:rPr>
              <a:t>data</a:t>
            </a:r>
            <a:endParaRPr lang="en-US" sz="1600" dirty="0">
              <a:solidFill>
                <a:srgbClr val="FF0000"/>
              </a:solidFill>
            </a:endParaRPr>
          </a:p>
          <a:p>
            <a:pPr lvl="1" algn="l"/>
            <a:endParaRPr lang="en-US" sz="1600" dirty="0"/>
          </a:p>
          <a:p>
            <a:pPr marL="342900" lvl="0" indent="-342900" algn="l">
              <a:buFont typeface="Arial" panose="020B0604020202020204" pitchFamily="34" charset="0"/>
              <a:buChar char="•"/>
            </a:pPr>
            <a:r>
              <a:rPr lang="en-US" sz="1600" b="1" dirty="0"/>
              <a:t>Update (U) </a:t>
            </a:r>
            <a:endParaRPr lang="en-US" sz="1600" b="1" dirty="0" smtClean="0"/>
          </a:p>
          <a:p>
            <a:pPr lvl="2" algn="l"/>
            <a:r>
              <a:rPr lang="en-US" sz="1600" dirty="0"/>
              <a:t>Update locks are </a:t>
            </a:r>
            <a:r>
              <a:rPr lang="en-US" sz="1600" dirty="0">
                <a:solidFill>
                  <a:srgbClr val="FF0000"/>
                </a:solidFill>
              </a:rPr>
              <a:t>a mix of shared and exclusive </a:t>
            </a:r>
            <a:r>
              <a:rPr lang="en-US" sz="1600" dirty="0" smtClean="0">
                <a:solidFill>
                  <a:srgbClr val="FF0000"/>
                </a:solidFill>
              </a:rPr>
              <a:t>locks</a:t>
            </a:r>
            <a:r>
              <a:rPr lang="en-US" sz="1600" dirty="0" smtClean="0"/>
              <a:t>.  </a:t>
            </a:r>
            <a:r>
              <a:rPr lang="en-US" sz="1600" dirty="0"/>
              <a:t>T</a:t>
            </a:r>
            <a:r>
              <a:rPr lang="en-US" sz="1600" dirty="0" smtClean="0"/>
              <a:t>he </a:t>
            </a:r>
            <a:r>
              <a:rPr lang="en-US" sz="1600" dirty="0"/>
              <a:t>update lock itself can't modify the underlying data. It has to be </a:t>
            </a:r>
            <a:r>
              <a:rPr lang="en-US" sz="1600" dirty="0">
                <a:solidFill>
                  <a:srgbClr val="FF0000"/>
                </a:solidFill>
              </a:rPr>
              <a:t>converted to an exclusive lock before the modification takes </a:t>
            </a:r>
            <a:r>
              <a:rPr lang="en-US" sz="1600" dirty="0" smtClean="0">
                <a:solidFill>
                  <a:srgbClr val="FF0000"/>
                </a:solidFill>
              </a:rPr>
              <a:t>place</a:t>
            </a:r>
          </a:p>
          <a:p>
            <a:pPr lvl="2" algn="l"/>
            <a:endParaRPr lang="en-US" sz="1600" dirty="0"/>
          </a:p>
          <a:p>
            <a:pPr marL="342900" lvl="0" indent="-342900" algn="l">
              <a:buFont typeface="Arial" panose="020B0604020202020204" pitchFamily="34" charset="0"/>
              <a:buChar char="•"/>
            </a:pPr>
            <a:r>
              <a:rPr lang="en-US" sz="1600" b="1" dirty="0"/>
              <a:t>Intent (I) </a:t>
            </a:r>
            <a:endParaRPr lang="en-US" sz="1600" b="1" dirty="0" smtClean="0"/>
          </a:p>
          <a:p>
            <a:pPr lvl="2" algn="l"/>
            <a:r>
              <a:rPr lang="en-US" sz="1600" dirty="0" smtClean="0"/>
              <a:t>Intent </a:t>
            </a:r>
            <a:r>
              <a:rPr lang="en-US" sz="1600" dirty="0"/>
              <a:t>locks are a means in which </a:t>
            </a:r>
            <a:r>
              <a:rPr lang="en-US" sz="1600" dirty="0">
                <a:solidFill>
                  <a:srgbClr val="FF0000"/>
                </a:solidFill>
              </a:rPr>
              <a:t>a transaction notifies other transaction that it is intending to lock the </a:t>
            </a:r>
            <a:r>
              <a:rPr lang="en-US" sz="1600" dirty="0" smtClean="0">
                <a:solidFill>
                  <a:srgbClr val="FF0000"/>
                </a:solidFill>
              </a:rPr>
              <a:t>data</a:t>
            </a:r>
          </a:p>
          <a:p>
            <a:pPr lvl="2" algn="l"/>
            <a:endParaRPr lang="en-US" sz="1600" dirty="0"/>
          </a:p>
          <a:p>
            <a:pPr marL="342900" lvl="0" indent="-342900" algn="l">
              <a:buFont typeface="Arial" panose="020B0604020202020204" pitchFamily="34" charset="0"/>
              <a:buChar char="•"/>
            </a:pPr>
            <a:r>
              <a:rPr lang="en-US" sz="1600" b="1" dirty="0"/>
              <a:t>Schema (Sch) </a:t>
            </a:r>
            <a:endParaRPr lang="en-US" sz="1600" b="1" dirty="0" smtClean="0"/>
          </a:p>
          <a:p>
            <a:pPr lvl="2" algn="l"/>
            <a:r>
              <a:rPr lang="en-US" sz="1600" dirty="0" smtClean="0"/>
              <a:t>Schema </a:t>
            </a:r>
            <a:r>
              <a:rPr lang="en-US" sz="1600" dirty="0"/>
              <a:t>stability lock (Sch-S): </a:t>
            </a:r>
            <a:r>
              <a:rPr lang="en-US" sz="1600" dirty="0">
                <a:solidFill>
                  <a:srgbClr val="FF0000"/>
                </a:solidFill>
              </a:rPr>
              <a:t>Used while generating execution plans</a:t>
            </a:r>
            <a:r>
              <a:rPr lang="en-US" sz="1600" dirty="0"/>
              <a:t>. These locks </a:t>
            </a:r>
            <a:r>
              <a:rPr lang="en-US" sz="1600" dirty="0" smtClean="0"/>
              <a:t>don't block </a:t>
            </a:r>
            <a:r>
              <a:rPr lang="en-US" sz="1600" dirty="0"/>
              <a:t>access to the object </a:t>
            </a:r>
            <a:r>
              <a:rPr lang="en-US" sz="1600" dirty="0" smtClean="0"/>
              <a:t>data</a:t>
            </a:r>
            <a:endParaRPr lang="en-US" sz="1600" dirty="0"/>
          </a:p>
          <a:p>
            <a:pPr lvl="2" algn="l"/>
            <a:r>
              <a:rPr lang="en-US" sz="1600" dirty="0"/>
              <a:t>Schema modification lock (Sch-M): Used while executing a DDL statement. Blocks access to the object data since its structure is being </a:t>
            </a:r>
            <a:r>
              <a:rPr lang="en-US" sz="1600" dirty="0" smtClean="0"/>
              <a:t>changed</a:t>
            </a:r>
            <a:endParaRPr lang="en-US" sz="1600" dirty="0"/>
          </a:p>
          <a:p>
            <a:pPr marL="342900" lvl="0" indent="-342900" algn="l">
              <a:buFont typeface="Arial" panose="020B0604020202020204" pitchFamily="34" charset="0"/>
              <a:buChar char="•"/>
            </a:pPr>
            <a:r>
              <a:rPr lang="en-US" sz="1600" b="1" dirty="0"/>
              <a:t>Bulk update (BU) </a:t>
            </a:r>
            <a:endParaRPr lang="en-US" sz="1600" b="1" dirty="0" smtClean="0"/>
          </a:p>
          <a:p>
            <a:pPr lvl="1" algn="l"/>
            <a:r>
              <a:rPr lang="en-US" sz="1600" dirty="0" smtClean="0"/>
              <a:t>         Bulk </a:t>
            </a:r>
            <a:r>
              <a:rPr lang="en-US" sz="1600" dirty="0"/>
              <a:t>Update locks are used by </a:t>
            </a:r>
            <a:r>
              <a:rPr lang="en-US" sz="1600" dirty="0">
                <a:solidFill>
                  <a:srgbClr val="FF0000"/>
                </a:solidFill>
              </a:rPr>
              <a:t>bulk operations</a:t>
            </a:r>
            <a:endParaRPr lang="en-US" sz="1600" dirty="0" smtClean="0">
              <a:solidFill>
                <a:srgbClr val="FF0000"/>
              </a:solidFill>
            </a:endParaRPr>
          </a:p>
          <a:p>
            <a:pPr marL="342900" lvl="0" indent="-342900" algn="l">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36396809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52355" y="1413164"/>
            <a:ext cx="6442363" cy="2123658"/>
          </a:xfrm>
          <a:prstGeom prst="rect">
            <a:avLst/>
          </a:prstGeom>
          <a:noFill/>
        </p:spPr>
        <p:txBody>
          <a:bodyPr wrap="square" rtlCol="0">
            <a:spAutoFit/>
          </a:bodyPr>
          <a:lstStyle/>
          <a:p>
            <a:pPr algn="ctr"/>
            <a:r>
              <a:rPr lang="en-US" sz="3600" dirty="0" smtClean="0"/>
              <a:t>Script to find lock info</a:t>
            </a:r>
          </a:p>
          <a:p>
            <a:endParaRPr lang="en-US" sz="3600" dirty="0"/>
          </a:p>
          <a:p>
            <a:r>
              <a:rPr lang="en-US" sz="2000" dirty="0" smtClean="0"/>
              <a:t>SELECT </a:t>
            </a:r>
            <a:r>
              <a:rPr lang="en-US" sz="2000" dirty="0"/>
              <a:t>resource_type, request_mode, resource_description</a:t>
            </a:r>
          </a:p>
          <a:p>
            <a:r>
              <a:rPr lang="en-US" sz="2000" dirty="0"/>
              <a:t>FROM sys.dm_tran_locks</a:t>
            </a:r>
          </a:p>
          <a:p>
            <a:r>
              <a:rPr lang="en-US" sz="2000" dirty="0"/>
              <a:t>WHERE resource_type &lt;&gt; ‘DATABASE’</a:t>
            </a:r>
          </a:p>
        </p:txBody>
      </p:sp>
    </p:spTree>
    <p:extLst>
      <p:ext uri="{BB962C8B-B14F-4D97-AF65-F5344CB8AC3E}">
        <p14:creationId xmlns:p14="http://schemas.microsoft.com/office/powerpoint/2010/main" val="14475794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TotalTime>
  <Words>576</Words>
  <Application>Microsoft Office PowerPoint</Application>
  <PresentationFormat>Widescreen</PresentationFormat>
  <Paragraphs>60</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What is a lock(ing), block(ing) or a deadlock?</vt:lpstr>
      <vt:lpstr>  What is locking in SQL SERVER? </vt:lpstr>
      <vt:lpstr>  Locking in action </vt:lpstr>
      <vt:lpstr>  Types of Lock Modes</vt:lpstr>
      <vt:lpstr>PowerPoint Presentation</vt:lpstr>
    </vt:vector>
  </TitlesOfParts>
  <Company>Microsoft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locking in SQL SERVER? </dc:title>
  <dc:creator>rafasg61 A</dc:creator>
  <cp:lastModifiedBy>rafasg61 A</cp:lastModifiedBy>
  <cp:revision>53</cp:revision>
  <dcterms:created xsi:type="dcterms:W3CDTF">2017-11-05T04:26:39Z</dcterms:created>
  <dcterms:modified xsi:type="dcterms:W3CDTF">2017-11-05T05:56:56Z</dcterms:modified>
</cp:coreProperties>
</file>