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92" d="100"/>
          <a:sy n="92" d="100"/>
        </p:scale>
        <p:origin x="4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968BC3-CE8A-42B0-A223-C656B97E7C3C}" type="datetimeFigureOut">
              <a:rPr lang="en-US" smtClean="0"/>
              <a:t>10/15/2017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1041734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68BC3-CE8A-42B0-A223-C656B97E7C3C}" type="datetimeFigureOut">
              <a:rPr lang="en-US" smtClean="0"/>
              <a:t>10/15/2017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2564421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968BC3-CE8A-42B0-A223-C656B97E7C3C}" type="datetimeFigureOut">
              <a:rPr lang="en-US" smtClean="0"/>
              <a:t>10/15/2017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043623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968BC3-CE8A-42B0-A223-C656B97E7C3C}" type="datetimeFigureOut">
              <a:rPr lang="en-US" smtClean="0"/>
              <a:t>10/15/2017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558146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968BC3-CE8A-42B0-A223-C656B97E7C3C}" type="datetimeFigureOut">
              <a:rPr lang="en-US" smtClean="0"/>
              <a:t>10/15/2017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754283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968BC3-CE8A-42B0-A223-C656B97E7C3C}" type="datetimeFigureOut">
              <a:rPr lang="en-US" smtClean="0"/>
              <a:t>10/15/2017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995657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968BC3-CE8A-42B0-A223-C656B97E7C3C}" type="datetimeFigureOut">
              <a:rPr lang="en-US" smtClean="0"/>
              <a:t>10/15/2017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027492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968BC3-CE8A-42B0-A223-C656B97E7C3C}" type="datetimeFigureOut">
              <a:rPr lang="en-US" smtClean="0"/>
              <a:t>10/15/2017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201821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968BC3-CE8A-42B0-A223-C656B97E7C3C}" type="datetimeFigureOut">
              <a:rPr lang="en-US" smtClean="0"/>
              <a:t>10/15/2017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3705611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68BC3-CE8A-42B0-A223-C656B97E7C3C}" type="datetimeFigureOut">
              <a:rPr lang="en-US" smtClean="0"/>
              <a:t>10/15/2017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827105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68BC3-CE8A-42B0-A223-C656B97E7C3C}" type="datetimeFigureOut">
              <a:rPr lang="en-US" smtClean="0"/>
              <a:t>10/15/2017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86BDFC-E25F-4EB9-A35C-564AD9845C4F}" type="slidenum">
              <a:rPr lang="en-US" smtClean="0"/>
              <a:t>‹#›</a:t>
            </a:fld>
            <a:endParaRPr lang="en-US"/>
          </a:p>
        </p:txBody>
      </p:sp>
    </p:spTree>
    <p:extLst>
      <p:ext uri="{BB962C8B-B14F-4D97-AF65-F5344CB8AC3E}">
        <p14:creationId xmlns:p14="http://schemas.microsoft.com/office/powerpoint/2010/main" val="1034869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68BC3-CE8A-42B0-A223-C656B97E7C3C}" type="datetimeFigureOut">
              <a:rPr lang="en-US" smtClean="0"/>
              <a:t>10/15/2017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6BDFC-E25F-4EB9-A35C-564AD9845C4F}" type="slidenum">
              <a:rPr lang="en-US" smtClean="0"/>
              <a:t>‹#›</a:t>
            </a:fld>
            <a:endParaRPr lang="en-US"/>
          </a:p>
        </p:txBody>
      </p:sp>
    </p:spTree>
    <p:extLst>
      <p:ext uri="{BB962C8B-B14F-4D97-AF65-F5344CB8AC3E}">
        <p14:creationId xmlns:p14="http://schemas.microsoft.com/office/powerpoint/2010/main" val="4246877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0427" y="254656"/>
            <a:ext cx="9382991" cy="1980286"/>
          </a:xfrm>
          <a:prstGeom prst="rect">
            <a:avLst/>
          </a:prstGeom>
        </p:spPr>
        <p:txBody>
          <a:bodyPr wrap="square">
            <a:spAutoFit/>
          </a:bodyPr>
          <a:lstStyle/>
          <a:p>
            <a:pPr>
              <a:lnSpc>
                <a:spcPts val="1950"/>
              </a:lnSpc>
              <a:spcAft>
                <a:spcPts val="800"/>
              </a:spcAft>
            </a:pPr>
            <a:r>
              <a:rPr lang="en-US" sz="1600" dirty="0" smtClean="0">
                <a:solidFill>
                  <a:srgbClr val="373737"/>
                </a:solidFill>
                <a:ea typeface="Times New Roman" panose="02020603050405020304" pitchFamily="18" charset="0"/>
                <a:cs typeface="Arial" panose="020B0604020202020204" pitchFamily="34" charset="0"/>
              </a:rPr>
              <a:t>     When we create an index, </a:t>
            </a:r>
            <a:r>
              <a:rPr lang="en-US" sz="1600" dirty="0" smtClean="0">
                <a:solidFill>
                  <a:srgbClr val="373737"/>
                </a:solidFill>
                <a:effectLst/>
                <a:ea typeface="Times New Roman" panose="02020603050405020304" pitchFamily="18" charset="0"/>
                <a:cs typeface="Arial" panose="020B0604020202020204" pitchFamily="34" charset="0"/>
              </a:rPr>
              <a:t>whether clustered or non-clustered, the index is spread across a set of pages, referred to as the </a:t>
            </a:r>
            <a:r>
              <a:rPr lang="en-US" sz="1600" i="1" dirty="0" smtClean="0">
                <a:solidFill>
                  <a:srgbClr val="373737"/>
                </a:solidFill>
                <a:effectLst/>
                <a:ea typeface="Times New Roman" panose="02020603050405020304" pitchFamily="18" charset="0"/>
                <a:cs typeface="Arial" panose="020B0604020202020204" pitchFamily="34" charset="0"/>
              </a:rPr>
              <a:t>index nodes</a:t>
            </a:r>
            <a:r>
              <a:rPr lang="en-US" sz="1600" dirty="0" smtClean="0">
                <a:solidFill>
                  <a:srgbClr val="373737"/>
                </a:solidFill>
                <a:effectLst/>
                <a:ea typeface="Times New Roman" panose="02020603050405020304" pitchFamily="18" charset="0"/>
                <a:cs typeface="Arial" panose="020B0604020202020204" pitchFamily="34" charset="0"/>
              </a:rPr>
              <a:t>. We call this structure the B-tree structure. The pages are spread across three levels: The root node, the intermediate node, and the leaf nodes. </a:t>
            </a:r>
            <a:r>
              <a:rPr lang="en-US" sz="1600" dirty="0"/>
              <a:t>A B-tree index orders rows according to their key values (remember the key is the column or columns you are interested in), and divides this ordered list into ranges. These ranges are organized in a tree structure, with the root node defining a broad set of ranges, and each level below defining a progressively narrower range</a:t>
            </a:r>
            <a:r>
              <a:rPr lang="en-US" sz="1600" dirty="0" smtClean="0"/>
              <a:t>.</a:t>
            </a:r>
            <a:endParaRPr lang="en-US" sz="1600" dirty="0" smtClean="0">
              <a:solidFill>
                <a:srgbClr val="373737"/>
              </a:solidFill>
              <a:effectLst/>
              <a:ea typeface="Times New Roman" panose="02020603050405020304" pitchFamily="18" charset="0"/>
              <a:cs typeface="Arial" panose="020B0604020202020204" pitchFamily="34" charset="0"/>
            </a:endParaRPr>
          </a:p>
          <a:p>
            <a:pPr>
              <a:lnSpc>
                <a:spcPts val="1950"/>
              </a:lnSpc>
              <a:spcAft>
                <a:spcPts val="800"/>
              </a:spcAft>
            </a:pPr>
            <a:r>
              <a:rPr lang="en-US" sz="1600" dirty="0" smtClean="0">
                <a:solidFill>
                  <a:srgbClr val="373737"/>
                </a:solidFill>
                <a:effectLst/>
                <a:ea typeface="Times New Roman" panose="02020603050405020304" pitchFamily="18" charset="0"/>
                <a:cs typeface="Arial" panose="020B0604020202020204" pitchFamily="34" charset="0"/>
              </a:rPr>
              <a:t>So how does this B tree structure help performance?</a:t>
            </a:r>
            <a:endParaRPr lang="en-US" sz="1600" dirty="0">
              <a:effectLst/>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304" y="2790825"/>
            <a:ext cx="8645236" cy="4067175"/>
          </a:xfrm>
          <a:prstGeom prst="rect">
            <a:avLst/>
          </a:prstGeom>
        </p:spPr>
      </p:pic>
    </p:spTree>
    <p:extLst>
      <p:ext uri="{BB962C8B-B14F-4D97-AF65-F5344CB8AC3E}">
        <p14:creationId xmlns:p14="http://schemas.microsoft.com/office/powerpoint/2010/main" val="4184411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0426" y="41354"/>
            <a:ext cx="9382991" cy="3488134"/>
          </a:xfrm>
          <a:prstGeom prst="rect">
            <a:avLst/>
          </a:prstGeom>
        </p:spPr>
        <p:txBody>
          <a:bodyPr wrap="square">
            <a:spAutoFit/>
          </a:bodyPr>
          <a:lstStyle/>
          <a:p>
            <a:r>
              <a:rPr lang="en-US" sz="1200" dirty="0" smtClean="0">
                <a:solidFill>
                  <a:srgbClr val="373737"/>
                </a:solidFill>
                <a:ea typeface="Times New Roman" panose="02020603050405020304" pitchFamily="18" charset="0"/>
                <a:cs typeface="Arial" panose="020B0604020202020204" pitchFamily="34" charset="0"/>
              </a:rPr>
              <a:t>     </a:t>
            </a:r>
          </a:p>
          <a:p>
            <a:r>
              <a:rPr lang="en-US" sz="1200" dirty="0" smtClean="0"/>
              <a:t>Suppose you have a query that is: </a:t>
            </a:r>
          </a:p>
          <a:p>
            <a:endParaRPr lang="en-US" sz="1200" dirty="0" smtClean="0"/>
          </a:p>
          <a:p>
            <a:r>
              <a:rPr lang="en-US" sz="1200" dirty="0" smtClean="0"/>
              <a:t>select orderid, orders</a:t>
            </a:r>
          </a:p>
          <a:p>
            <a:r>
              <a:rPr lang="en-US" sz="1200" dirty="0" smtClean="0"/>
              <a:t>from Orders </a:t>
            </a:r>
          </a:p>
          <a:p>
            <a:r>
              <a:rPr lang="en-US" sz="1200" dirty="0" smtClean="0"/>
              <a:t>where orderid = 76</a:t>
            </a:r>
          </a:p>
          <a:p>
            <a:endParaRPr lang="en-US" sz="1200" dirty="0">
              <a:solidFill>
                <a:srgbClr val="373737"/>
              </a:solidFill>
              <a:ea typeface="Times New Roman" panose="02020603050405020304" pitchFamily="18" charset="0"/>
              <a:cs typeface="Arial" panose="020B0604020202020204" pitchFamily="34" charset="0"/>
            </a:endParaRPr>
          </a:p>
          <a:p>
            <a:endParaRPr lang="en-US" sz="1200" dirty="0" smtClean="0">
              <a:solidFill>
                <a:srgbClr val="373737"/>
              </a:solidFill>
              <a:ea typeface="Times New Roman" panose="02020603050405020304" pitchFamily="18" charset="0"/>
              <a:cs typeface="Arial" panose="020B0604020202020204" pitchFamily="34" charset="0"/>
            </a:endParaRPr>
          </a:p>
          <a:p>
            <a:r>
              <a:rPr lang="en-US" sz="1200" dirty="0" smtClean="0">
                <a:solidFill>
                  <a:srgbClr val="373737"/>
                </a:solidFill>
                <a:ea typeface="Times New Roman" panose="02020603050405020304" pitchFamily="18" charset="0"/>
                <a:cs typeface="Arial" panose="020B0604020202020204" pitchFamily="34" charset="0"/>
              </a:rPr>
              <a:t>When we execute this query, </a:t>
            </a:r>
            <a:r>
              <a:rPr lang="en-US" sz="1200" dirty="0"/>
              <a:t>t</a:t>
            </a:r>
            <a:r>
              <a:rPr lang="en-US" sz="1200" dirty="0" smtClean="0"/>
              <a:t>he </a:t>
            </a:r>
            <a:r>
              <a:rPr lang="en-US" sz="1200" dirty="0"/>
              <a:t>root node represents the main entry point for queries trying to locate data via the index. From that </a:t>
            </a:r>
            <a:r>
              <a:rPr lang="en-US" sz="1200" dirty="0" smtClean="0"/>
              <a:t>root node</a:t>
            </a:r>
            <a:r>
              <a:rPr lang="en-US" sz="1200" dirty="0"/>
              <a:t>, the </a:t>
            </a:r>
            <a:r>
              <a:rPr lang="en-US" sz="1200" dirty="0" smtClean="0"/>
              <a:t>data engine </a:t>
            </a:r>
            <a:r>
              <a:rPr lang="en-US" sz="1200" dirty="0"/>
              <a:t>negotiates the hierarchy down to the appropriate leaf node, where the actual data resides</a:t>
            </a:r>
            <a:r>
              <a:rPr lang="en-US" sz="1200" dirty="0" smtClean="0"/>
              <a:t>.</a:t>
            </a:r>
          </a:p>
          <a:p>
            <a:endParaRPr lang="en-US" sz="1200" dirty="0"/>
          </a:p>
          <a:p>
            <a:r>
              <a:rPr lang="en-US" sz="1200" dirty="0" smtClean="0"/>
              <a:t>The </a:t>
            </a:r>
            <a:r>
              <a:rPr lang="en-US" sz="1200" dirty="0"/>
              <a:t>query engine starts at the root node, </a:t>
            </a:r>
            <a:r>
              <a:rPr lang="en-US" sz="1200" dirty="0" smtClean="0"/>
              <a:t>and determines if the orderid is between 1-100 or between 101-200.  Since going to the right pointer is false, it will navigate down the left path.  Then it ask again, if the ordered is between 1-50 or between 51-100.  Since going to the left is false, it will navigate to the right.  It then ask if the ordered is between 51-75 or between 76-100.   Since going to the left is false, it will navigate to the right. </a:t>
            </a:r>
            <a:r>
              <a:rPr lang="en-US" sz="1200" dirty="0"/>
              <a:t>F</a:t>
            </a:r>
            <a:r>
              <a:rPr lang="en-US" sz="1200" dirty="0" smtClean="0"/>
              <a:t>rom here it will go </a:t>
            </a:r>
            <a:r>
              <a:rPr lang="en-US" sz="1200" dirty="0"/>
              <a:t>to the 76-100 leaf </a:t>
            </a:r>
            <a:r>
              <a:rPr lang="en-US" sz="1200" dirty="0" smtClean="0"/>
              <a:t>node and return the data. As </a:t>
            </a:r>
            <a:r>
              <a:rPr lang="en-US" sz="1200" dirty="0"/>
              <a:t>this is a clustered index, the leaf node will contain the entire row of data associated with the key value </a:t>
            </a:r>
            <a:r>
              <a:rPr lang="en-US" sz="1200" dirty="0" smtClean="0"/>
              <a:t>76. </a:t>
            </a:r>
            <a:r>
              <a:rPr lang="en-US" sz="1200" dirty="0"/>
              <a:t>If this is a </a:t>
            </a:r>
            <a:r>
              <a:rPr lang="en-US" sz="1200" dirty="0" smtClean="0"/>
              <a:t>non-clustered </a:t>
            </a:r>
            <a:r>
              <a:rPr lang="en-US" sz="1200" dirty="0"/>
              <a:t>index, the leaf node will point to the clustered table or heap where the row exists</a:t>
            </a:r>
            <a:r>
              <a:rPr lang="en-US" sz="1200" dirty="0" smtClean="0"/>
              <a:t>. To be discussed next video.  As you can see, we can navigate to the data much faster and read less pages that a full table scan</a:t>
            </a:r>
            <a:endParaRPr lang="en-US" sz="1200" dirty="0"/>
          </a:p>
          <a:p>
            <a:pPr>
              <a:lnSpc>
                <a:spcPts val="195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6832" y="3386387"/>
            <a:ext cx="6000751" cy="3513178"/>
          </a:xfrm>
          <a:prstGeom prst="rect">
            <a:avLst/>
          </a:prstGeom>
        </p:spPr>
      </p:pic>
    </p:spTree>
    <p:extLst>
      <p:ext uri="{BB962C8B-B14F-4D97-AF65-F5344CB8AC3E}">
        <p14:creationId xmlns:p14="http://schemas.microsoft.com/office/powerpoint/2010/main" val="2505589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383</Words>
  <Application>Microsoft Office PowerPoint</Application>
  <PresentationFormat>Widescreen</PresentationFormat>
  <Paragraphs>13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rafasg61 A</dc:creator>
  <cp:lastModifiedBy>rafasg61 A</cp:lastModifiedBy>
  <cp:revision>20</cp:revision>
  <dcterms:created xsi:type="dcterms:W3CDTF">2017-10-15T03:56:10Z</dcterms:created>
  <dcterms:modified xsi:type="dcterms:W3CDTF">2017-10-16T05:08:52Z</dcterms:modified>
</cp:coreProperties>
</file>