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BC2B1E4-1AD6-4847-9835-6EDBC9E3F4D3}" type="datetimeFigureOut">
              <a:rPr lang="en-US" smtClean="0"/>
              <a:t>10/22/2017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2411707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C2B1E4-1AD6-4847-9835-6EDBC9E3F4D3}" type="datetimeFigureOut">
              <a:rPr lang="en-US" smtClean="0"/>
              <a:t>10/22/2017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3277103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C2B1E4-1AD6-4847-9835-6EDBC9E3F4D3}" type="datetimeFigureOut">
              <a:rPr lang="en-US" smtClean="0"/>
              <a:t>10/22/2017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4162243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BC2B1E4-1AD6-4847-9835-6EDBC9E3F4D3}" type="datetimeFigureOut">
              <a:rPr lang="en-US" smtClean="0"/>
              <a:t>10/22/2017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43927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BC2B1E4-1AD6-4847-9835-6EDBC9E3F4D3}" type="datetimeFigureOut">
              <a:rPr lang="en-US" smtClean="0"/>
              <a:t>10/22/2017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1614024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BC2B1E4-1AD6-4847-9835-6EDBC9E3F4D3}" type="datetimeFigureOut">
              <a:rPr lang="en-US" smtClean="0"/>
              <a:t>10/22/2017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3121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C2B1E4-1AD6-4847-9835-6EDBC9E3F4D3}" type="datetimeFigureOut">
              <a:rPr lang="en-US" smtClean="0"/>
              <a:t>10/22/2017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215073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C2B1E4-1AD6-4847-9835-6EDBC9E3F4D3}" type="datetimeFigureOut">
              <a:rPr lang="en-US" smtClean="0"/>
              <a:t>10/22/2017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96182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C2B1E4-1AD6-4847-9835-6EDBC9E3F4D3}" type="datetimeFigureOut">
              <a:rPr lang="en-US" smtClean="0"/>
              <a:t>10/22/2017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2679655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C2B1E4-1AD6-4847-9835-6EDBC9E3F4D3}" type="datetimeFigureOut">
              <a:rPr lang="en-US" smtClean="0"/>
              <a:t>10/22/2017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167141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C2B1E4-1AD6-4847-9835-6EDBC9E3F4D3}" type="datetimeFigureOut">
              <a:rPr lang="en-US" smtClean="0"/>
              <a:t>10/22/2017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CD7A6-9E85-4A60-9416-726239237E81}" type="slidenum">
              <a:rPr lang="en-US" smtClean="0"/>
              <a:t>‹#›</a:t>
            </a:fld>
            <a:endParaRPr lang="en-US"/>
          </a:p>
        </p:txBody>
      </p:sp>
    </p:spTree>
    <p:extLst>
      <p:ext uri="{BB962C8B-B14F-4D97-AF65-F5344CB8AC3E}">
        <p14:creationId xmlns:p14="http://schemas.microsoft.com/office/powerpoint/2010/main" val="2297524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C2B1E4-1AD6-4847-9835-6EDBC9E3F4D3}" type="datetimeFigureOut">
              <a:rPr lang="en-US" smtClean="0"/>
              <a:t>10/22/2017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ECD7A6-9E85-4A60-9416-726239237E81}" type="slidenum">
              <a:rPr lang="en-US" smtClean="0"/>
              <a:t>‹#›</a:t>
            </a:fld>
            <a:endParaRPr lang="en-US"/>
          </a:p>
        </p:txBody>
      </p:sp>
    </p:spTree>
    <p:extLst>
      <p:ext uri="{BB962C8B-B14F-4D97-AF65-F5344CB8AC3E}">
        <p14:creationId xmlns:p14="http://schemas.microsoft.com/office/powerpoint/2010/main" val="3912968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6008"/>
            <a:ext cx="9144000" cy="477837"/>
          </a:xfrm>
        </p:spPr>
        <p:txBody>
          <a:bodyPr>
            <a:normAutofit/>
          </a:bodyPr>
          <a:lstStyle/>
          <a:p>
            <a:r>
              <a:rPr lang="en-US" sz="2800" dirty="0" smtClean="0">
                <a:latin typeface="+mn-lt"/>
              </a:rPr>
              <a:t>Tool tip and its meaning</a:t>
            </a:r>
            <a:endParaRPr lang="en-US" sz="2800" dirty="0">
              <a:latin typeface="+mn-lt"/>
            </a:endParaRPr>
          </a:p>
        </p:txBody>
      </p:sp>
      <p:sp>
        <p:nvSpPr>
          <p:cNvPr id="3" name="Subtitle 2"/>
          <p:cNvSpPr>
            <a:spLocks noGrp="1"/>
          </p:cNvSpPr>
          <p:nvPr>
            <p:ph type="subTitle" idx="1"/>
          </p:nvPr>
        </p:nvSpPr>
        <p:spPr>
          <a:xfrm>
            <a:off x="1524000" y="935181"/>
            <a:ext cx="9144000" cy="5527963"/>
          </a:xfrm>
        </p:spPr>
        <p:txBody>
          <a:bodyPr>
            <a:normAutofit/>
          </a:bodyPr>
          <a:lstStyle/>
          <a:p>
            <a:pPr marL="342900" indent="-342900" algn="l">
              <a:buFont typeface="Arial" panose="020B0604020202020204" pitchFamily="34" charset="0"/>
              <a:buChar char="•"/>
            </a:pPr>
            <a:endParaRPr lang="en-US" sz="2000" dirty="0" smtClean="0"/>
          </a:p>
          <a:p>
            <a:pPr marL="342900" indent="-342900" algn="l">
              <a:buFont typeface="Arial" panose="020B0604020202020204" pitchFamily="34" charset="0"/>
              <a:buChar char="•"/>
            </a:pPr>
            <a:r>
              <a:rPr lang="en-US" sz="2000" dirty="0" smtClean="0"/>
              <a:t>The tool tip when you hover over it gives you additional information about each operator.  Each operator has its own tooltip  and meaning.  To view  the tooltip without hovering over it right click the operator and go to properties</a:t>
            </a:r>
          </a:p>
          <a:p>
            <a:pPr marL="342900" indent="-342900" algn="l">
              <a:buFont typeface="Arial" panose="020B0604020202020204" pitchFamily="34" charset="0"/>
              <a:buChar char="•"/>
            </a:pPr>
            <a:r>
              <a:rPr lang="en-US" sz="2000" dirty="0" smtClean="0"/>
              <a:t>Estimated </a:t>
            </a:r>
            <a:r>
              <a:rPr lang="en-US" sz="2000" dirty="0"/>
              <a:t>operator cost – the cost </a:t>
            </a:r>
            <a:r>
              <a:rPr lang="en-US" sz="2000" dirty="0" smtClean="0"/>
              <a:t>of </a:t>
            </a:r>
            <a:r>
              <a:rPr lang="en-US" sz="2000" dirty="0"/>
              <a:t>the </a:t>
            </a:r>
            <a:r>
              <a:rPr lang="en-US" sz="2000" dirty="0" smtClean="0"/>
              <a:t>operation (% of total cost)</a:t>
            </a:r>
          </a:p>
          <a:p>
            <a:pPr marL="342900" indent="-342900" algn="l">
              <a:buFont typeface="Arial" panose="020B0604020202020204" pitchFamily="34" charset="0"/>
              <a:buChar char="•"/>
            </a:pPr>
            <a:r>
              <a:rPr lang="en-US" sz="2000" dirty="0" smtClean="0"/>
              <a:t>Estimated CPU cost – the cost of how much CPU was needed to complete the operation</a:t>
            </a:r>
          </a:p>
          <a:p>
            <a:pPr marL="342900" indent="-342900" algn="l">
              <a:buFont typeface="Arial" panose="020B0604020202020204" pitchFamily="34" charset="0"/>
              <a:buChar char="•"/>
            </a:pPr>
            <a:r>
              <a:rPr lang="en-US" sz="2000" dirty="0" smtClean="0"/>
              <a:t>Estimated I/O cost – the cost of how much I/O was needed to complete the operation</a:t>
            </a:r>
          </a:p>
          <a:p>
            <a:pPr marL="342900" indent="-342900" algn="l">
              <a:buFont typeface="Arial" panose="020B0604020202020204" pitchFamily="34" charset="0"/>
              <a:buChar char="•"/>
            </a:pPr>
            <a:r>
              <a:rPr lang="en-US" sz="2000" dirty="0" smtClean="0"/>
              <a:t>Estimated </a:t>
            </a:r>
            <a:r>
              <a:rPr lang="en-US" sz="2000" dirty="0"/>
              <a:t>row size – the </a:t>
            </a:r>
            <a:r>
              <a:rPr lang="en-US" sz="2000" dirty="0" smtClean="0"/>
              <a:t>size each of </a:t>
            </a:r>
            <a:r>
              <a:rPr lang="en-US" sz="2000" dirty="0"/>
              <a:t>rows </a:t>
            </a:r>
            <a:r>
              <a:rPr lang="en-US" sz="2000" dirty="0" smtClean="0"/>
              <a:t>executed by the operation</a:t>
            </a:r>
          </a:p>
          <a:p>
            <a:pPr marL="342900" indent="-342900" algn="l">
              <a:buFont typeface="Arial" panose="020B0604020202020204" pitchFamily="34" charset="0"/>
              <a:buChar char="•"/>
            </a:pPr>
            <a:r>
              <a:rPr lang="en-US" sz="2000" dirty="0" smtClean="0"/>
              <a:t>Actual </a:t>
            </a:r>
            <a:r>
              <a:rPr lang="en-US" sz="2000" dirty="0"/>
              <a:t>and Estimated number of rows – </a:t>
            </a:r>
            <a:r>
              <a:rPr lang="en-US" sz="2000" dirty="0" smtClean="0"/>
              <a:t>the number of rows executed by the operation</a:t>
            </a:r>
          </a:p>
          <a:p>
            <a:pPr marL="342900" indent="-342900" algn="l">
              <a:buFont typeface="Arial" panose="020B0604020202020204" pitchFamily="34" charset="0"/>
              <a:buChar char="•"/>
            </a:pPr>
            <a:r>
              <a:rPr lang="en-US" sz="2000" dirty="0" smtClean="0"/>
              <a:t>Actual </a:t>
            </a:r>
            <a:r>
              <a:rPr lang="en-US" sz="2000" dirty="0"/>
              <a:t>and Estimated execution mode – row or batch, shows whether the rows are processed one at a time, or in batches</a:t>
            </a:r>
          </a:p>
          <a:p>
            <a:endParaRPr lang="en-US" dirty="0"/>
          </a:p>
        </p:txBody>
      </p:sp>
    </p:spTree>
    <p:extLst>
      <p:ext uri="{BB962C8B-B14F-4D97-AF65-F5344CB8AC3E}">
        <p14:creationId xmlns:p14="http://schemas.microsoft.com/office/powerpoint/2010/main" val="3034099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1433945" y="568966"/>
            <a:ext cx="9466118"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endParaRPr lang="en-US" altLang="en-US" sz="1600" dirty="0" smtClean="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altLang="en-US" sz="2400" dirty="0" smtClean="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altLang="en-US" sz="2400" dirty="0" smtClean="0">
                <a:ea typeface="Times New Roman" panose="02020603050405020304" pitchFamily="18" charset="0"/>
                <a:cs typeface="Times New Roman" panose="02020603050405020304" pitchFamily="18" charset="0"/>
              </a:rPr>
              <a:t>BEFORE CREATING A CLUSTERED INDEX, CONSIDER SOME OF THESES FOLLOWING GUIDELINES</a:t>
            </a:r>
          </a:p>
          <a:p>
            <a:pPr lvl="0" algn="ctr" eaLnBrk="0" fontAlgn="base" hangingPunct="0">
              <a:spcBef>
                <a:spcPct val="0"/>
              </a:spcBef>
              <a:spcAft>
                <a:spcPct val="0"/>
              </a:spcAft>
            </a:pPr>
            <a:endParaRPr lang="en-US" altLang="en-US" sz="2000" dirty="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altLang="en-US" sz="2000" dirty="0" smtClean="0">
              <a:ea typeface="Times New Roman" panose="02020603050405020304" pitchFamily="18" charset="0"/>
              <a:cs typeface="Times New Roman" panose="02020603050405020304" pitchFamily="18" charset="0"/>
            </a:endParaRPr>
          </a:p>
          <a:p>
            <a:pPr marL="285750" lvl="0" indent="-285750" algn="ctr" eaLnBrk="0" fontAlgn="base" hangingPunct="0">
              <a:spcBef>
                <a:spcPct val="0"/>
              </a:spcBef>
              <a:spcAft>
                <a:spcPct val="0"/>
              </a:spcAft>
              <a:buFont typeface="Arial" panose="020B0604020202020204" pitchFamily="34" charset="0"/>
              <a:buChar char="•"/>
            </a:pPr>
            <a:endParaRPr lang="en-US" altLang="en-US" sz="2000" dirty="0" smtClean="0">
              <a:ea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lang="en-US" altLang="en-US" dirty="0" smtClean="0">
                <a:ea typeface="Times New Roman" panose="02020603050405020304" pitchFamily="18" charset="0"/>
                <a:cs typeface="Times New Roman" panose="02020603050405020304" pitchFamily="18" charset="0"/>
              </a:rPr>
              <a:t>Clustered </a:t>
            </a:r>
            <a:r>
              <a:rPr lang="en-US" altLang="en-US" dirty="0">
                <a:ea typeface="Times New Roman" panose="02020603050405020304" pitchFamily="18" charset="0"/>
                <a:cs typeface="Times New Roman" panose="02020603050405020304" pitchFamily="18" charset="0"/>
              </a:rPr>
              <a:t>indexes sort and store the data </a:t>
            </a:r>
            <a:r>
              <a:rPr lang="en-US" altLang="en-US" dirty="0" smtClean="0">
                <a:ea typeface="Times New Roman" panose="02020603050405020304" pitchFamily="18" charset="0"/>
                <a:cs typeface="Times New Roman" panose="02020603050405020304" pitchFamily="18" charset="0"/>
              </a:rPr>
              <a:t>on </a:t>
            </a:r>
            <a:r>
              <a:rPr lang="en-US" altLang="en-US" dirty="0">
                <a:ea typeface="Times New Roman" panose="02020603050405020304" pitchFamily="18" charset="0"/>
                <a:cs typeface="Times New Roman" panose="02020603050405020304" pitchFamily="18" charset="0"/>
              </a:rPr>
              <a:t>their key </a:t>
            </a:r>
            <a:r>
              <a:rPr lang="en-US" altLang="en-US" dirty="0" smtClean="0">
                <a:ea typeface="Times New Roman" panose="02020603050405020304" pitchFamily="18" charset="0"/>
                <a:cs typeface="Times New Roman" panose="02020603050405020304" pitchFamily="18" charset="0"/>
              </a:rPr>
              <a:t>values – as such only one clustered index</a:t>
            </a:r>
          </a:p>
          <a:p>
            <a:pPr marL="285750" indent="-285750" eaLnBrk="0" fontAlgn="base" hangingPunct="0">
              <a:spcBef>
                <a:spcPct val="0"/>
              </a:spcBef>
              <a:spcAft>
                <a:spcPct val="0"/>
              </a:spcAft>
              <a:buFont typeface="Arial" panose="020B0604020202020204" pitchFamily="34" charset="0"/>
              <a:buChar char="•"/>
            </a:pPr>
            <a:r>
              <a:rPr lang="en-US" altLang="en-US" dirty="0" smtClean="0">
                <a:ea typeface="Times New Roman" panose="02020603050405020304" pitchFamily="18" charset="0"/>
                <a:cs typeface="Times New Roman" panose="02020603050405020304" pitchFamily="18" charset="0"/>
              </a:rPr>
              <a:t>Generally, </a:t>
            </a:r>
            <a:r>
              <a:rPr lang="en-US" altLang="en-US" dirty="0">
                <a:ea typeface="Times New Roman" panose="02020603050405020304" pitchFamily="18" charset="0"/>
                <a:cs typeface="Times New Roman" panose="02020603050405020304" pitchFamily="18" charset="0"/>
              </a:rPr>
              <a:t>every table should have a clustered index defined on the column</a:t>
            </a:r>
          </a:p>
          <a:p>
            <a:pPr marL="285750" indent="-285750" eaLnBrk="0" fontAlgn="base" hangingPunct="0">
              <a:spcBef>
                <a:spcPct val="0"/>
              </a:spcBef>
              <a:spcAft>
                <a:spcPct val="0"/>
              </a:spcAft>
              <a:buFont typeface="Arial" panose="020B0604020202020204" pitchFamily="34" charset="0"/>
              <a:buChar char="•"/>
            </a:pPr>
            <a:r>
              <a:rPr lang="en-US" altLang="en-US" dirty="0" smtClean="0">
                <a:ea typeface="Times New Roman" panose="02020603050405020304" pitchFamily="18" charset="0"/>
                <a:cs typeface="Times New Roman" panose="02020603050405020304" pitchFamily="18" charset="0"/>
              </a:rPr>
              <a:t>Create clustered index on frequently </a:t>
            </a:r>
            <a:r>
              <a:rPr lang="en-US" altLang="en-US" dirty="0">
                <a:ea typeface="Times New Roman" panose="02020603050405020304" pitchFamily="18" charset="0"/>
                <a:cs typeface="Times New Roman" panose="02020603050405020304" pitchFamily="18" charset="0"/>
              </a:rPr>
              <a:t>used </a:t>
            </a:r>
            <a:r>
              <a:rPr lang="en-US" altLang="en-US" dirty="0" smtClean="0">
                <a:ea typeface="Times New Roman" panose="02020603050405020304" pitchFamily="18" charset="0"/>
                <a:cs typeface="Times New Roman" panose="02020603050405020304" pitchFamily="18" charset="0"/>
              </a:rPr>
              <a:t>queries and high </a:t>
            </a:r>
            <a:r>
              <a:rPr lang="en-US" altLang="en-US" dirty="0">
                <a:ea typeface="Times New Roman" panose="02020603050405020304" pitchFamily="18" charset="0"/>
                <a:cs typeface="Times New Roman" panose="02020603050405020304" pitchFamily="18" charset="0"/>
              </a:rPr>
              <a:t>degree of uniqueness</a:t>
            </a:r>
            <a:r>
              <a:rPr lang="en-US" altLang="en-US" dirty="0" smtClean="0">
                <a:ea typeface="Times New Roman" panose="02020603050405020304" pitchFamily="18" charset="0"/>
                <a:cs typeface="Times New Roman" panose="02020603050405020304" pitchFamily="18" charset="0"/>
              </a:rPr>
              <a:t>.</a:t>
            </a:r>
            <a:endParaRPr lang="en-US" altLang="en-US" dirty="0">
              <a:ea typeface="Calibri" panose="020F0502020204030204" pitchFamily="34"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lang="en-US" altLang="en-US" dirty="0">
                <a:ea typeface="Times New Roman" panose="02020603050405020304" pitchFamily="18" charset="0"/>
                <a:cs typeface="Times New Roman" panose="02020603050405020304" pitchFamily="18" charset="0"/>
              </a:rPr>
              <a:t>Create clustered index on c</a:t>
            </a:r>
            <a:r>
              <a:rPr lang="en-US" altLang="en-US" dirty="0" smtClean="0">
                <a:ea typeface="Times New Roman" panose="02020603050405020304" pitchFamily="18" charset="0"/>
                <a:cs typeface="Times New Roman" panose="02020603050405020304" pitchFamily="18" charset="0"/>
              </a:rPr>
              <a:t>an </a:t>
            </a:r>
            <a:r>
              <a:rPr lang="en-US" altLang="en-US" dirty="0">
                <a:ea typeface="Times New Roman" panose="02020603050405020304" pitchFamily="18" charset="0"/>
                <a:cs typeface="Times New Roman" panose="02020603050405020304" pitchFamily="18" charset="0"/>
              </a:rPr>
              <a:t>be used in range </a:t>
            </a:r>
            <a:r>
              <a:rPr lang="en-US" altLang="en-US" dirty="0" smtClean="0">
                <a:ea typeface="Times New Roman" panose="02020603050405020304" pitchFamily="18" charset="0"/>
                <a:cs typeface="Times New Roman" panose="02020603050405020304" pitchFamily="18" charset="0"/>
              </a:rPr>
              <a:t>queries</a:t>
            </a:r>
            <a:endParaRPr lang="en-US" altLang="en-US" dirty="0"/>
          </a:p>
          <a:p>
            <a:pPr marL="285750" indent="-285750" eaLnBrk="0" fontAlgn="base" hangingPunct="0">
              <a:spcBef>
                <a:spcPct val="0"/>
              </a:spcBef>
              <a:spcAft>
                <a:spcPct val="0"/>
              </a:spcAft>
              <a:buFont typeface="Arial" panose="020B0604020202020204" pitchFamily="34" charset="0"/>
              <a:buChar char="•"/>
            </a:pPr>
            <a:r>
              <a:rPr lang="en-US" altLang="en-US" dirty="0">
                <a:ea typeface="Times New Roman" panose="02020603050405020304" pitchFamily="18" charset="0"/>
                <a:cs typeface="Times New Roman" panose="02020603050405020304" pitchFamily="18" charset="0"/>
              </a:rPr>
              <a:t>Create </a:t>
            </a:r>
            <a:r>
              <a:rPr lang="en-US" altLang="en-US" dirty="0" smtClean="0">
                <a:ea typeface="Times New Roman" panose="02020603050405020304" pitchFamily="18" charset="0"/>
                <a:cs typeface="Times New Roman" panose="02020603050405020304" pitchFamily="18" charset="0"/>
              </a:rPr>
              <a:t>clustered </a:t>
            </a:r>
            <a:r>
              <a:rPr lang="en-US" altLang="en-US" dirty="0">
                <a:ea typeface="Times New Roman" panose="02020603050405020304" pitchFamily="18" charset="0"/>
                <a:cs typeface="Times New Roman" panose="02020603050405020304" pitchFamily="18" charset="0"/>
              </a:rPr>
              <a:t>index </a:t>
            </a:r>
            <a:r>
              <a:rPr lang="en-US" altLang="en-US" dirty="0" smtClean="0">
                <a:ea typeface="Times New Roman" panose="02020603050405020304" pitchFamily="18" charset="0"/>
                <a:cs typeface="Times New Roman" panose="02020603050405020304" pitchFamily="18" charset="0"/>
              </a:rPr>
              <a:t>with </a:t>
            </a:r>
            <a:r>
              <a:rPr lang="en-US" altLang="en-US" dirty="0">
                <a:ea typeface="Times New Roman" panose="02020603050405020304" pitchFamily="18" charset="0"/>
                <a:cs typeface="Times New Roman" panose="02020603050405020304" pitchFamily="18" charset="0"/>
              </a:rPr>
              <a:t>the UNIQUE </a:t>
            </a:r>
            <a:r>
              <a:rPr lang="en-US" altLang="en-US" dirty="0" smtClean="0">
                <a:ea typeface="Times New Roman" panose="02020603050405020304" pitchFamily="18" charset="0"/>
                <a:cs typeface="Times New Roman" panose="02020603050405020304" pitchFamily="18" charset="0"/>
              </a:rPr>
              <a:t>property</a:t>
            </a:r>
            <a:endParaRPr lang="en-US" altLang="en-US" dirty="0"/>
          </a:p>
          <a:p>
            <a:pPr marL="285750" indent="-285750" eaLnBrk="0" fontAlgn="base" hangingPunct="0">
              <a:spcBef>
                <a:spcPct val="0"/>
              </a:spcBef>
              <a:spcAft>
                <a:spcPct val="0"/>
              </a:spcAft>
              <a:buFont typeface="Arial" panose="020B0604020202020204" pitchFamily="34" charset="0"/>
              <a:buChar char="•"/>
            </a:pPr>
            <a:r>
              <a:rPr lang="en-US" altLang="en-US" dirty="0" smtClean="0">
                <a:ea typeface="Times New Roman" panose="02020603050405020304" pitchFamily="18" charset="0"/>
                <a:cs typeface="Times New Roman" panose="02020603050405020304" pitchFamily="18" charset="0"/>
              </a:rPr>
              <a:t>Create </a:t>
            </a:r>
            <a:r>
              <a:rPr lang="en-US" altLang="en-US" dirty="0">
                <a:ea typeface="Times New Roman" panose="02020603050405020304" pitchFamily="18" charset="0"/>
                <a:cs typeface="Times New Roman" panose="02020603050405020304" pitchFamily="18" charset="0"/>
              </a:rPr>
              <a:t>clustered index </a:t>
            </a:r>
            <a:r>
              <a:rPr lang="en-US" altLang="en-US" dirty="0" smtClean="0">
                <a:ea typeface="Times New Roman" panose="02020603050405020304" pitchFamily="18" charset="0"/>
                <a:cs typeface="Times New Roman" panose="02020603050405020304" pitchFamily="18" charset="0"/>
              </a:rPr>
              <a:t>on </a:t>
            </a: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operators </a:t>
            </a:r>
            <a:r>
              <a:rPr lang="en-US" altLang="en-US" dirty="0">
                <a:ea typeface="Times New Roman" panose="02020603050405020304" pitchFamily="18" charset="0"/>
                <a:cs typeface="Times New Roman" panose="02020603050405020304" pitchFamily="18" charset="0"/>
              </a:rPr>
              <a:t>using </a:t>
            </a: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BETWEEN, &gt;, &gt;=, &lt;, and &lt;=</a:t>
            </a:r>
            <a:endParaRPr kumimoji="0" lang="en-US" altLang="en-US" i="0" u="none" strike="noStrike" cap="none" normalizeH="0" baseline="0" dirty="0" smtClean="0">
              <a:ln>
                <a:noFill/>
              </a:ln>
              <a:effectLst/>
            </a:endParaRPr>
          </a:p>
          <a:p>
            <a:pPr marL="285750"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That return large result sets</a:t>
            </a:r>
            <a:endParaRPr kumimoji="0" lang="en-US" altLang="en-US" i="0" u="none" strike="noStrike" cap="none" normalizeH="0" baseline="0" dirty="0" smtClean="0">
              <a:ln>
                <a:noFill/>
              </a:ln>
              <a:effectLst/>
              <a:ea typeface="Calibri" panose="020F0502020204030204" pitchFamily="34"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Use JOIN clauses, ORDER BY, or GROUP BY clauses</a:t>
            </a:r>
            <a:endParaRPr kumimoji="0" lang="en-US" altLang="en-US" i="0" u="none" strike="noStrike" cap="none" normalizeH="0" baseline="0" dirty="0" smtClean="0">
              <a:ln>
                <a:noFill/>
              </a:ln>
              <a:effectLst/>
            </a:endParaRPr>
          </a:p>
          <a:p>
            <a:pPr marL="285750"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Are unique or contain many distinct values</a:t>
            </a:r>
            <a:endParaRPr kumimoji="0" lang="en-US" altLang="en-US" i="0" u="none" strike="noStrike" cap="none" normalizeH="0" baseline="0" dirty="0" smtClean="0">
              <a:ln>
                <a:noFill/>
              </a:ln>
              <a:effectLst/>
            </a:endParaRPr>
          </a:p>
          <a:p>
            <a:pPr marL="285750"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Are accessed sequentially</a:t>
            </a:r>
            <a:endParaRPr kumimoji="0" lang="en-US" altLang="en-US" i="0" u="none" strike="noStrike" cap="none" normalizeH="0" baseline="0" dirty="0" smtClean="0">
              <a:ln>
                <a:noFill/>
              </a:ln>
              <a:effectLst/>
            </a:endParaRPr>
          </a:p>
          <a:p>
            <a:pPr marL="285750"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smtClean="0">
                <a:ln>
                  <a:noFill/>
                </a:ln>
                <a:effectLst/>
                <a:ea typeface="Times New Roman" panose="02020603050405020304" pitchFamily="18" charset="0"/>
                <a:cs typeface="Times New Roman" panose="02020603050405020304" pitchFamily="18" charset="0"/>
              </a:rPr>
              <a:t>Used frequently to sort the data retrieved from a table</a:t>
            </a:r>
          </a:p>
          <a:p>
            <a:pPr marL="285750" indent="-285750" eaLnBrk="0" fontAlgn="base" hangingPunct="0">
              <a:spcBef>
                <a:spcPct val="0"/>
              </a:spcBef>
              <a:spcAft>
                <a:spcPct val="0"/>
              </a:spcAft>
              <a:buFont typeface="Arial" panose="020B0604020202020204" pitchFamily="34" charset="0"/>
              <a:buChar char="•"/>
            </a:pPr>
            <a:r>
              <a:rPr lang="en-US" altLang="en-US" dirty="0" smtClean="0">
                <a:cs typeface="Times New Roman" panose="02020603050405020304" pitchFamily="18" charset="0"/>
              </a:rPr>
              <a:t>other</a:t>
            </a:r>
            <a:endParaRPr kumimoji="0" lang="en-US" altLang="en-US" i="0" u="none" strike="noStrike" cap="none" normalizeH="0" baseline="0" dirty="0" smtClean="0">
              <a:ln>
                <a:noFill/>
              </a:ln>
              <a:effectLst/>
            </a:endParaRPr>
          </a:p>
        </p:txBody>
      </p:sp>
    </p:spTree>
    <p:extLst>
      <p:ext uri="{BB962C8B-B14F-4D97-AF65-F5344CB8AC3E}">
        <p14:creationId xmlns:p14="http://schemas.microsoft.com/office/powerpoint/2010/main" val="1090883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1687</TotalTime>
  <Words>267</Words>
  <Application>Microsoft Office PowerPoint</Application>
  <PresentationFormat>Widescreen</PresentationFormat>
  <Paragraphs>27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Tool tip and its meaning</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tip and its meaning</dc:title>
  <dc:creator>rafasg61 A</dc:creator>
  <cp:lastModifiedBy>rafasg61 A</cp:lastModifiedBy>
  <cp:revision>45</cp:revision>
  <dcterms:created xsi:type="dcterms:W3CDTF">2017-10-21T19:10:49Z</dcterms:created>
  <dcterms:modified xsi:type="dcterms:W3CDTF">2017-10-23T00:20:53Z</dcterms:modified>
</cp:coreProperties>
</file>