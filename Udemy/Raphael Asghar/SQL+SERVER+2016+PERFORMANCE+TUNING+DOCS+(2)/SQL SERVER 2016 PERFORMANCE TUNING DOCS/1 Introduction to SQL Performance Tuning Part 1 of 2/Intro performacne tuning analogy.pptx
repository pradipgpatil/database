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F49FD05-43F8-46E6-A0FE-67FDFD6589C7}" type="datetimeFigureOut">
              <a:rPr lang="en-US" smtClean="0"/>
              <a:t>11/24/2017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1078347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49FD05-43F8-46E6-A0FE-67FDFD6589C7}" type="datetimeFigureOut">
              <a:rPr lang="en-US" smtClean="0"/>
              <a:t>11/24/2017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245571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49FD05-43F8-46E6-A0FE-67FDFD6589C7}" type="datetimeFigureOut">
              <a:rPr lang="en-US" smtClean="0"/>
              <a:t>11/24/2017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4136514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F49FD05-43F8-46E6-A0FE-67FDFD6589C7}" type="datetimeFigureOut">
              <a:rPr lang="en-US" smtClean="0"/>
              <a:t>11/24/2017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83887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F49FD05-43F8-46E6-A0FE-67FDFD6589C7}" type="datetimeFigureOut">
              <a:rPr lang="en-US" smtClean="0"/>
              <a:t>11/24/2017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414438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F49FD05-43F8-46E6-A0FE-67FDFD6589C7}" type="datetimeFigureOut">
              <a:rPr lang="en-US" smtClean="0"/>
              <a:t>11/24/2017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264892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49FD05-43F8-46E6-A0FE-67FDFD6589C7}" type="datetimeFigureOut">
              <a:rPr lang="en-US" smtClean="0"/>
              <a:t>11/24/2017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404492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49FD05-43F8-46E6-A0FE-67FDFD6589C7}" type="datetimeFigureOut">
              <a:rPr lang="en-US" smtClean="0"/>
              <a:t>11/24/2017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414977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49FD05-43F8-46E6-A0FE-67FDFD6589C7}" type="datetimeFigureOut">
              <a:rPr lang="en-US" smtClean="0"/>
              <a:t>11/24/2017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1612145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49FD05-43F8-46E6-A0FE-67FDFD6589C7}" type="datetimeFigureOut">
              <a:rPr lang="en-US" smtClean="0"/>
              <a:t>11/24/2017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90167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49FD05-43F8-46E6-A0FE-67FDFD6589C7}" type="datetimeFigureOut">
              <a:rPr lang="en-US" smtClean="0"/>
              <a:t>11/24/2017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F4AB1-78DC-4C97-9AAE-44C272148F0C}" type="slidenum">
              <a:rPr lang="en-US" smtClean="0"/>
              <a:t>‹#›</a:t>
            </a:fld>
            <a:endParaRPr lang="en-US"/>
          </a:p>
        </p:txBody>
      </p:sp>
    </p:spTree>
    <p:extLst>
      <p:ext uri="{BB962C8B-B14F-4D97-AF65-F5344CB8AC3E}">
        <p14:creationId xmlns:p14="http://schemas.microsoft.com/office/powerpoint/2010/main" val="3232638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49FD05-43F8-46E6-A0FE-67FDFD6589C7}" type="datetimeFigureOut">
              <a:rPr lang="en-US" smtClean="0"/>
              <a:t>11/24/2017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F4AB1-78DC-4C97-9AAE-44C272148F0C}" type="slidenum">
              <a:rPr lang="en-US" smtClean="0"/>
              <a:t>‹#›</a:t>
            </a:fld>
            <a:endParaRPr lang="en-US"/>
          </a:p>
        </p:txBody>
      </p:sp>
    </p:spTree>
    <p:extLst>
      <p:ext uri="{BB962C8B-B14F-4D97-AF65-F5344CB8AC3E}">
        <p14:creationId xmlns:p14="http://schemas.microsoft.com/office/powerpoint/2010/main" val="3728125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858" y="874134"/>
            <a:ext cx="3248242" cy="249252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819" y="874134"/>
            <a:ext cx="3238932" cy="249252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3058" y="874134"/>
            <a:ext cx="3323359" cy="2492521"/>
          </a:xfrm>
          <a:prstGeom prst="rect">
            <a:avLst/>
          </a:prstGeom>
        </p:spPr>
      </p:pic>
      <p:sp>
        <p:nvSpPr>
          <p:cNvPr id="5" name="TextBox 4"/>
          <p:cNvSpPr txBox="1"/>
          <p:nvPr/>
        </p:nvSpPr>
        <p:spPr>
          <a:xfrm>
            <a:off x="762217" y="3698071"/>
            <a:ext cx="2130136" cy="369332"/>
          </a:xfrm>
          <a:prstGeom prst="rect">
            <a:avLst/>
          </a:prstGeom>
          <a:noFill/>
        </p:spPr>
        <p:txBody>
          <a:bodyPr wrap="square" rtlCol="0">
            <a:spAutoFit/>
          </a:bodyPr>
          <a:lstStyle/>
          <a:p>
            <a:r>
              <a:rPr lang="en-US" dirty="0" smtClean="0"/>
              <a:t>Bought a race car</a:t>
            </a:r>
            <a:endParaRPr lang="en-US" dirty="0"/>
          </a:p>
        </p:txBody>
      </p:sp>
      <p:sp>
        <p:nvSpPr>
          <p:cNvPr id="6" name="TextBox 5"/>
          <p:cNvSpPr txBox="1"/>
          <p:nvPr/>
        </p:nvSpPr>
        <p:spPr>
          <a:xfrm>
            <a:off x="4409858" y="3698071"/>
            <a:ext cx="3248242" cy="369332"/>
          </a:xfrm>
          <a:prstGeom prst="rect">
            <a:avLst/>
          </a:prstGeom>
          <a:noFill/>
        </p:spPr>
        <p:txBody>
          <a:bodyPr wrap="square" rtlCol="0">
            <a:spAutoFit/>
          </a:bodyPr>
          <a:lstStyle/>
          <a:p>
            <a:r>
              <a:rPr lang="en-US" dirty="0" smtClean="0"/>
              <a:t>Entered many race car in events</a:t>
            </a:r>
            <a:endParaRPr lang="en-US" dirty="0"/>
          </a:p>
        </p:txBody>
      </p:sp>
      <p:sp>
        <p:nvSpPr>
          <p:cNvPr id="7" name="TextBox 6"/>
          <p:cNvSpPr txBox="1"/>
          <p:nvPr/>
        </p:nvSpPr>
        <p:spPr>
          <a:xfrm>
            <a:off x="9220200" y="3656507"/>
            <a:ext cx="2130136" cy="369332"/>
          </a:xfrm>
          <a:prstGeom prst="rect">
            <a:avLst/>
          </a:prstGeom>
          <a:noFill/>
        </p:spPr>
        <p:txBody>
          <a:bodyPr wrap="square" rtlCol="0">
            <a:spAutoFit/>
          </a:bodyPr>
          <a:lstStyle/>
          <a:p>
            <a:r>
              <a:rPr lang="en-US" dirty="0" smtClean="0"/>
              <a:t>Maintained race car</a:t>
            </a:r>
            <a:endParaRPr lang="en-US" dirty="0"/>
          </a:p>
        </p:txBody>
      </p:sp>
      <p:sp>
        <p:nvSpPr>
          <p:cNvPr id="8" name="Right Arrow 7"/>
          <p:cNvSpPr/>
          <p:nvPr/>
        </p:nvSpPr>
        <p:spPr>
          <a:xfrm>
            <a:off x="3686825" y="2120394"/>
            <a:ext cx="561109" cy="134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7838424" y="2120394"/>
            <a:ext cx="561109" cy="134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179531" y="4623954"/>
            <a:ext cx="9881754" cy="1477328"/>
          </a:xfrm>
          <a:prstGeom prst="rect">
            <a:avLst/>
          </a:prstGeom>
          <a:noFill/>
        </p:spPr>
        <p:txBody>
          <a:bodyPr wrap="square" rtlCol="0">
            <a:spAutoFit/>
          </a:bodyPr>
          <a:lstStyle/>
          <a:p>
            <a:pPr marL="342900" indent="-342900">
              <a:buAutoNum type="arabicPeriod"/>
            </a:pPr>
            <a:r>
              <a:rPr lang="en-US" dirty="0" smtClean="0"/>
              <a:t>You bought a race car</a:t>
            </a:r>
          </a:p>
          <a:p>
            <a:pPr marL="342900" indent="-342900">
              <a:buAutoNum type="arabicPeriod"/>
            </a:pPr>
            <a:r>
              <a:rPr lang="en-US" dirty="0" smtClean="0"/>
              <a:t>You entered into many races</a:t>
            </a:r>
          </a:p>
          <a:p>
            <a:pPr marL="342900" indent="-342900">
              <a:buAutoNum type="arabicPeriod"/>
            </a:pPr>
            <a:r>
              <a:rPr lang="en-US" dirty="0" smtClean="0"/>
              <a:t>During races you need to maintain your race car for optimal performance</a:t>
            </a:r>
          </a:p>
          <a:p>
            <a:r>
              <a:rPr lang="en-US" dirty="0" smtClean="0"/>
              <a:t>4.   If during the race you face an issue with the car do you replace tires, replace parts of engine, replace windshield or monitor the car with tools to determine the extent of your issues with the car?</a:t>
            </a:r>
            <a:endParaRPr lang="en-US" dirty="0"/>
          </a:p>
        </p:txBody>
      </p:sp>
      <p:sp>
        <p:nvSpPr>
          <p:cNvPr id="11" name="TextBox 10"/>
          <p:cNvSpPr txBox="1"/>
          <p:nvPr/>
        </p:nvSpPr>
        <p:spPr>
          <a:xfrm>
            <a:off x="7820024" y="1843395"/>
            <a:ext cx="665018" cy="276999"/>
          </a:xfrm>
          <a:prstGeom prst="rect">
            <a:avLst/>
          </a:prstGeom>
          <a:noFill/>
        </p:spPr>
        <p:txBody>
          <a:bodyPr wrap="square" rtlCol="0">
            <a:spAutoFit/>
          </a:bodyPr>
          <a:lstStyle/>
          <a:p>
            <a:r>
              <a:rPr lang="en-US" sz="1200" b="1" dirty="0" smtClean="0">
                <a:solidFill>
                  <a:srgbClr val="FF0000"/>
                </a:solidFill>
              </a:rPr>
              <a:t>ISSUES</a:t>
            </a:r>
            <a:endParaRPr lang="en-US" sz="1200" b="1" dirty="0">
              <a:solidFill>
                <a:srgbClr val="FF0000"/>
              </a:solidFill>
            </a:endParaRPr>
          </a:p>
        </p:txBody>
      </p:sp>
      <p:sp>
        <p:nvSpPr>
          <p:cNvPr id="12" name="TextBox 11"/>
          <p:cNvSpPr txBox="1"/>
          <p:nvPr/>
        </p:nvSpPr>
        <p:spPr>
          <a:xfrm>
            <a:off x="4818242" y="317583"/>
            <a:ext cx="2431473" cy="369332"/>
          </a:xfrm>
          <a:prstGeom prst="rect">
            <a:avLst/>
          </a:prstGeom>
          <a:noFill/>
        </p:spPr>
        <p:txBody>
          <a:bodyPr wrap="square" rtlCol="0">
            <a:spAutoFit/>
          </a:bodyPr>
          <a:lstStyle/>
          <a:p>
            <a:r>
              <a:rPr lang="en-US" dirty="0" smtClean="0"/>
              <a:t>PERFORMANCE TUNING</a:t>
            </a:r>
            <a:endParaRPr lang="en-US" dirty="0"/>
          </a:p>
        </p:txBody>
      </p:sp>
    </p:spTree>
    <p:extLst>
      <p:ext uri="{BB962C8B-B14F-4D97-AF65-F5344CB8AC3E}">
        <p14:creationId xmlns:p14="http://schemas.microsoft.com/office/powerpoint/2010/main" val="1392688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858" y="874134"/>
            <a:ext cx="3248242" cy="249252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819" y="874134"/>
            <a:ext cx="3238932" cy="249252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43058" y="874134"/>
            <a:ext cx="3323359" cy="2492521"/>
          </a:xfrm>
          <a:prstGeom prst="rect">
            <a:avLst/>
          </a:prstGeom>
        </p:spPr>
      </p:pic>
      <p:sp>
        <p:nvSpPr>
          <p:cNvPr id="5" name="TextBox 4"/>
          <p:cNvSpPr txBox="1"/>
          <p:nvPr/>
        </p:nvSpPr>
        <p:spPr>
          <a:xfrm>
            <a:off x="762217" y="3698071"/>
            <a:ext cx="2130136" cy="369332"/>
          </a:xfrm>
          <a:prstGeom prst="rect">
            <a:avLst/>
          </a:prstGeom>
          <a:noFill/>
        </p:spPr>
        <p:txBody>
          <a:bodyPr wrap="square" rtlCol="0">
            <a:spAutoFit/>
          </a:bodyPr>
          <a:lstStyle/>
          <a:p>
            <a:r>
              <a:rPr lang="en-US" dirty="0" smtClean="0"/>
              <a:t>Bought a race car</a:t>
            </a:r>
            <a:endParaRPr lang="en-US" dirty="0"/>
          </a:p>
        </p:txBody>
      </p:sp>
      <p:sp>
        <p:nvSpPr>
          <p:cNvPr id="6" name="TextBox 5"/>
          <p:cNvSpPr txBox="1"/>
          <p:nvPr/>
        </p:nvSpPr>
        <p:spPr>
          <a:xfrm>
            <a:off x="4409858" y="3698071"/>
            <a:ext cx="3248242" cy="369332"/>
          </a:xfrm>
          <a:prstGeom prst="rect">
            <a:avLst/>
          </a:prstGeom>
          <a:noFill/>
        </p:spPr>
        <p:txBody>
          <a:bodyPr wrap="square" rtlCol="0">
            <a:spAutoFit/>
          </a:bodyPr>
          <a:lstStyle/>
          <a:p>
            <a:r>
              <a:rPr lang="en-US" dirty="0" smtClean="0"/>
              <a:t>Entered many race car in events</a:t>
            </a:r>
            <a:endParaRPr lang="en-US" dirty="0"/>
          </a:p>
        </p:txBody>
      </p:sp>
      <p:sp>
        <p:nvSpPr>
          <p:cNvPr id="7" name="TextBox 6"/>
          <p:cNvSpPr txBox="1"/>
          <p:nvPr/>
        </p:nvSpPr>
        <p:spPr>
          <a:xfrm>
            <a:off x="9220200" y="3656507"/>
            <a:ext cx="2130136" cy="369332"/>
          </a:xfrm>
          <a:prstGeom prst="rect">
            <a:avLst/>
          </a:prstGeom>
          <a:noFill/>
        </p:spPr>
        <p:txBody>
          <a:bodyPr wrap="square" rtlCol="0">
            <a:spAutoFit/>
          </a:bodyPr>
          <a:lstStyle/>
          <a:p>
            <a:r>
              <a:rPr lang="en-US" dirty="0" smtClean="0"/>
              <a:t>Maintained race car</a:t>
            </a:r>
            <a:endParaRPr lang="en-US" dirty="0"/>
          </a:p>
        </p:txBody>
      </p:sp>
      <p:sp>
        <p:nvSpPr>
          <p:cNvPr id="8" name="Right Arrow 7"/>
          <p:cNvSpPr/>
          <p:nvPr/>
        </p:nvSpPr>
        <p:spPr>
          <a:xfrm>
            <a:off x="3686825" y="2120394"/>
            <a:ext cx="561109" cy="134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7838424" y="2120394"/>
            <a:ext cx="561109" cy="134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07819" y="4398819"/>
            <a:ext cx="4431560" cy="1969770"/>
          </a:xfrm>
          <a:prstGeom prst="rect">
            <a:avLst/>
          </a:prstGeom>
          <a:noFill/>
        </p:spPr>
        <p:txBody>
          <a:bodyPr wrap="square" rtlCol="0">
            <a:spAutoFit/>
          </a:bodyPr>
          <a:lstStyle/>
          <a:p>
            <a:r>
              <a:rPr lang="en-US" sz="3200" dirty="0" smtClean="0"/>
              <a:t>Solution:</a:t>
            </a:r>
          </a:p>
          <a:p>
            <a:r>
              <a:rPr lang="en-US" dirty="0" smtClean="0"/>
              <a:t>You </a:t>
            </a:r>
            <a:r>
              <a:rPr lang="en-US" dirty="0" smtClean="0">
                <a:solidFill>
                  <a:srgbClr val="FF0000"/>
                </a:solidFill>
              </a:rPr>
              <a:t>DO NOT </a:t>
            </a:r>
            <a:r>
              <a:rPr lang="en-US" dirty="0" smtClean="0"/>
              <a:t>the replace tires, replace parts of engine, replace windshield </a:t>
            </a:r>
          </a:p>
          <a:p>
            <a:r>
              <a:rPr lang="en-US" dirty="0" smtClean="0">
                <a:solidFill>
                  <a:srgbClr val="FF0000"/>
                </a:solidFill>
              </a:rPr>
              <a:t>UNTIL</a:t>
            </a:r>
            <a:r>
              <a:rPr lang="en-US" dirty="0" smtClean="0"/>
              <a:t> you have monitor the car with tools to determine the extent of your issues with the car!  </a:t>
            </a:r>
            <a:endParaRPr lang="en-US" dirty="0"/>
          </a:p>
        </p:txBody>
      </p:sp>
      <p:sp>
        <p:nvSpPr>
          <p:cNvPr id="11" name="TextBox 10"/>
          <p:cNvSpPr txBox="1"/>
          <p:nvPr/>
        </p:nvSpPr>
        <p:spPr>
          <a:xfrm>
            <a:off x="5124774" y="62095"/>
            <a:ext cx="1818410" cy="646331"/>
          </a:xfrm>
          <a:prstGeom prst="rect">
            <a:avLst/>
          </a:prstGeom>
          <a:noFill/>
        </p:spPr>
        <p:txBody>
          <a:bodyPr wrap="square" rtlCol="0">
            <a:spAutoFit/>
          </a:bodyPr>
          <a:lstStyle/>
          <a:p>
            <a:r>
              <a:rPr lang="en-US" sz="3600" dirty="0"/>
              <a:t>S</a:t>
            </a:r>
            <a:r>
              <a:rPr lang="en-US" sz="3600" dirty="0" smtClean="0"/>
              <a:t>olution</a:t>
            </a:r>
            <a:endParaRPr lang="en-US" sz="3600" dirty="0"/>
          </a:p>
        </p:txBody>
      </p:sp>
      <p:sp>
        <p:nvSpPr>
          <p:cNvPr id="12" name="TextBox 11"/>
          <p:cNvSpPr txBox="1"/>
          <p:nvPr/>
        </p:nvSpPr>
        <p:spPr>
          <a:xfrm>
            <a:off x="7820024" y="1843395"/>
            <a:ext cx="665018" cy="276999"/>
          </a:xfrm>
          <a:prstGeom prst="rect">
            <a:avLst/>
          </a:prstGeom>
          <a:noFill/>
        </p:spPr>
        <p:txBody>
          <a:bodyPr wrap="square" rtlCol="0">
            <a:spAutoFit/>
          </a:bodyPr>
          <a:lstStyle/>
          <a:p>
            <a:r>
              <a:rPr lang="en-US" sz="1200" b="1" dirty="0" smtClean="0">
                <a:solidFill>
                  <a:srgbClr val="FF0000"/>
                </a:solidFill>
              </a:rPr>
              <a:t>ISSUES</a:t>
            </a:r>
            <a:endParaRPr lang="en-US" sz="1200" b="1" dirty="0">
              <a:solidFill>
                <a:srgbClr val="FF0000"/>
              </a:solidFill>
            </a:endParaRPr>
          </a:p>
        </p:txBody>
      </p:sp>
      <p:cxnSp>
        <p:nvCxnSpPr>
          <p:cNvPr id="16" name="Straight Connector 15"/>
          <p:cNvCxnSpPr/>
          <p:nvPr/>
        </p:nvCxnSpPr>
        <p:spPr>
          <a:xfrm>
            <a:off x="7993204" y="510193"/>
            <a:ext cx="4278460" cy="3146314"/>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21" name="Right Arrow 20"/>
          <p:cNvSpPr/>
          <p:nvPr/>
        </p:nvSpPr>
        <p:spPr>
          <a:xfrm rot="1629722">
            <a:off x="6110566" y="4671862"/>
            <a:ext cx="2379407" cy="1785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3057" y="4398819"/>
            <a:ext cx="3323359" cy="2170073"/>
          </a:xfrm>
          <a:prstGeom prst="rect">
            <a:avLst/>
          </a:prstGeom>
        </p:spPr>
      </p:pic>
    </p:spTree>
    <p:extLst>
      <p:ext uri="{BB962C8B-B14F-4D97-AF65-F5344CB8AC3E}">
        <p14:creationId xmlns:p14="http://schemas.microsoft.com/office/powerpoint/2010/main" val="2190620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n 10"/>
          <p:cNvSpPr/>
          <p:nvPr/>
        </p:nvSpPr>
        <p:spPr>
          <a:xfrm>
            <a:off x="1499781" y="1439364"/>
            <a:ext cx="1041309" cy="126991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n 11"/>
          <p:cNvSpPr/>
          <p:nvPr/>
        </p:nvSpPr>
        <p:spPr>
          <a:xfrm>
            <a:off x="4883728" y="1073691"/>
            <a:ext cx="1932219" cy="172043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n 12"/>
          <p:cNvSpPr/>
          <p:nvPr/>
        </p:nvSpPr>
        <p:spPr>
          <a:xfrm>
            <a:off x="8877300" y="1073691"/>
            <a:ext cx="1866900" cy="1720431"/>
          </a:xfrm>
          <a:prstGeom prst="ca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038062" y="2921717"/>
            <a:ext cx="1964748" cy="461665"/>
          </a:xfrm>
          <a:prstGeom prst="rect">
            <a:avLst/>
          </a:prstGeom>
          <a:noFill/>
        </p:spPr>
        <p:txBody>
          <a:bodyPr wrap="square" rtlCol="0">
            <a:spAutoFit/>
          </a:bodyPr>
          <a:lstStyle/>
          <a:p>
            <a:pPr algn="ctr"/>
            <a:r>
              <a:rPr lang="en-US" sz="1200" dirty="0" smtClean="0"/>
              <a:t>BOUGHT A NEW AND/OR EXISTING SQL SERVER</a:t>
            </a:r>
            <a:endParaRPr lang="en-US" sz="1200" dirty="0"/>
          </a:p>
        </p:txBody>
      </p:sp>
      <p:sp>
        <p:nvSpPr>
          <p:cNvPr id="16" name="TextBox 15"/>
          <p:cNvSpPr txBox="1"/>
          <p:nvPr/>
        </p:nvSpPr>
        <p:spPr>
          <a:xfrm>
            <a:off x="8333510" y="2921717"/>
            <a:ext cx="2744445" cy="830997"/>
          </a:xfrm>
          <a:prstGeom prst="rect">
            <a:avLst/>
          </a:prstGeom>
          <a:noFill/>
        </p:spPr>
        <p:txBody>
          <a:bodyPr wrap="square" rtlCol="0">
            <a:spAutoFit/>
          </a:bodyPr>
          <a:lstStyle/>
          <a:p>
            <a:pPr algn="ctr"/>
            <a:r>
              <a:rPr lang="en-US" sz="1200" dirty="0" smtClean="0"/>
              <a:t>WITH THE INCREASE IN WORKLOAD AND STRESS TO THE SERVER, DO WE REPLACE THE HARDWARE (CPU, MEMORY, DISKS, OR DIAGNOSE THE ISSUES?</a:t>
            </a:r>
            <a:endParaRPr lang="en-US" sz="1200" dirty="0"/>
          </a:p>
        </p:txBody>
      </p:sp>
      <p:sp>
        <p:nvSpPr>
          <p:cNvPr id="17" name="TextBox 16"/>
          <p:cNvSpPr txBox="1"/>
          <p:nvPr/>
        </p:nvSpPr>
        <p:spPr>
          <a:xfrm>
            <a:off x="4976756" y="2921717"/>
            <a:ext cx="1839191" cy="646331"/>
          </a:xfrm>
          <a:prstGeom prst="rect">
            <a:avLst/>
          </a:prstGeom>
          <a:noFill/>
        </p:spPr>
        <p:txBody>
          <a:bodyPr wrap="square" rtlCol="0">
            <a:spAutoFit/>
          </a:bodyPr>
          <a:lstStyle/>
          <a:p>
            <a:pPr algn="ctr"/>
            <a:r>
              <a:rPr lang="en-US" sz="1200" dirty="0" smtClean="0"/>
              <a:t>OVER COURSE OF TIME, THE SQL SERVER’S WORKLOAD INCREASES</a:t>
            </a:r>
            <a:endParaRPr lang="en-US" sz="1200" dirty="0"/>
          </a:p>
        </p:txBody>
      </p:sp>
      <p:sp>
        <p:nvSpPr>
          <p:cNvPr id="18" name="TextBox 17"/>
          <p:cNvSpPr txBox="1"/>
          <p:nvPr/>
        </p:nvSpPr>
        <p:spPr>
          <a:xfrm>
            <a:off x="568602" y="4509043"/>
            <a:ext cx="3711693" cy="954107"/>
          </a:xfrm>
          <a:prstGeom prst="rect">
            <a:avLst/>
          </a:prstGeom>
          <a:noFill/>
        </p:spPr>
        <p:txBody>
          <a:bodyPr wrap="square" rtlCol="0">
            <a:spAutoFit/>
          </a:bodyPr>
          <a:lstStyle/>
          <a:p>
            <a:r>
              <a:rPr lang="en-US" sz="1400" dirty="0" smtClean="0"/>
              <a:t>SIMILAR TO THE RACE CARE ANALOGY, BEFORE REPLACING HARDWARE OF THE SERVER, WE DIAGNOSE THE SERVER WITH PERFORMANCE TUNING</a:t>
            </a:r>
            <a:endParaRPr lang="en-US" sz="1400" dirty="0"/>
          </a:p>
        </p:txBody>
      </p:sp>
      <p:sp>
        <p:nvSpPr>
          <p:cNvPr id="19" name="Right Arrow 18"/>
          <p:cNvSpPr/>
          <p:nvPr/>
        </p:nvSpPr>
        <p:spPr>
          <a:xfrm>
            <a:off x="3719186" y="2007107"/>
            <a:ext cx="561109" cy="134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7460454" y="1198592"/>
            <a:ext cx="633737" cy="276999"/>
          </a:xfrm>
          <a:prstGeom prst="rect">
            <a:avLst/>
          </a:prstGeom>
          <a:noFill/>
        </p:spPr>
        <p:txBody>
          <a:bodyPr wrap="square" rtlCol="0">
            <a:spAutoFit/>
          </a:bodyPr>
          <a:lstStyle/>
          <a:p>
            <a:r>
              <a:rPr lang="en-US" sz="1200" b="1" dirty="0" smtClean="0">
                <a:solidFill>
                  <a:srgbClr val="FF0000"/>
                </a:solidFill>
              </a:rPr>
              <a:t>ISSUES</a:t>
            </a:r>
            <a:endParaRPr lang="en-US" sz="1200" b="1" dirty="0">
              <a:solidFill>
                <a:srgbClr val="FF0000"/>
              </a:solidFill>
            </a:endParaRPr>
          </a:p>
        </p:txBody>
      </p:sp>
      <p:pic>
        <p:nvPicPr>
          <p:cNvPr id="23" name="Picture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1128" y="1856993"/>
            <a:ext cx="592390" cy="663262"/>
          </a:xfrm>
          <a:prstGeom prst="rect">
            <a:avLst/>
          </a:prstGeom>
        </p:spPr>
      </p:pic>
      <p:sp>
        <p:nvSpPr>
          <p:cNvPr id="24" name="TextBox 23"/>
          <p:cNvSpPr txBox="1"/>
          <p:nvPr/>
        </p:nvSpPr>
        <p:spPr>
          <a:xfrm>
            <a:off x="7512409" y="2553147"/>
            <a:ext cx="613063" cy="215444"/>
          </a:xfrm>
          <a:prstGeom prst="rect">
            <a:avLst/>
          </a:prstGeom>
          <a:noFill/>
        </p:spPr>
        <p:txBody>
          <a:bodyPr wrap="square" rtlCol="0">
            <a:spAutoFit/>
          </a:bodyPr>
          <a:lstStyle/>
          <a:p>
            <a:r>
              <a:rPr lang="en-US" sz="800" b="1" dirty="0" smtClean="0"/>
              <a:t>SQL DBA</a:t>
            </a:r>
            <a:endParaRPr lang="en-US" sz="800" b="1" dirty="0"/>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3510" y="4249578"/>
            <a:ext cx="3127663" cy="1990725"/>
          </a:xfrm>
          <a:prstGeom prst="rect">
            <a:avLst/>
          </a:prstGeom>
        </p:spPr>
      </p:pic>
      <p:cxnSp>
        <p:nvCxnSpPr>
          <p:cNvPr id="29" name="Straight Arrow Connector 28"/>
          <p:cNvCxnSpPr/>
          <p:nvPr/>
        </p:nvCxnSpPr>
        <p:spPr>
          <a:xfrm>
            <a:off x="7166128" y="1666291"/>
            <a:ext cx="1360990" cy="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486400" y="3990109"/>
            <a:ext cx="2639072" cy="1254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125472" y="554731"/>
            <a:ext cx="3512346" cy="234145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36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6771" y="5056900"/>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6293426" y="5056906"/>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8330044" y="4142488"/>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610099" y="5056904"/>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926772" y="5794664"/>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10099" y="5794663"/>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93426" y="5794663"/>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976753" y="5794662"/>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0293925" y="5794655"/>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926772" y="4319141"/>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610099" y="4319140"/>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0013372" y="4599694"/>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243443" y="5794662"/>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720435" y="4440359"/>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356264" y="135082"/>
            <a:ext cx="5704609" cy="707886"/>
          </a:xfrm>
          <a:prstGeom prst="rect">
            <a:avLst/>
          </a:prstGeom>
          <a:noFill/>
        </p:spPr>
        <p:txBody>
          <a:bodyPr wrap="square" rtlCol="0">
            <a:spAutoFit/>
          </a:bodyPr>
          <a:lstStyle/>
          <a:p>
            <a:pPr algn="ctr"/>
            <a:r>
              <a:rPr lang="en-US" sz="2000" dirty="0" smtClean="0"/>
              <a:t>SQL SERVER PERFORMANCE TUNING PROCESS</a:t>
            </a:r>
          </a:p>
          <a:p>
            <a:pPr algn="ctr"/>
            <a:r>
              <a:rPr lang="en-US" sz="2000" dirty="0" smtClean="0"/>
              <a:t>THE BUILDING BLOCKS </a:t>
            </a:r>
            <a:endParaRPr lang="en-US" sz="2000" dirty="0"/>
          </a:p>
        </p:txBody>
      </p:sp>
      <p:sp>
        <p:nvSpPr>
          <p:cNvPr id="21" name="Right Arrow 20"/>
          <p:cNvSpPr/>
          <p:nvPr/>
        </p:nvSpPr>
        <p:spPr>
          <a:xfrm rot="16200000">
            <a:off x="5718136" y="335736"/>
            <a:ext cx="610250" cy="6629400"/>
          </a:xfrm>
          <a:prstGeom prst="rightArrow">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064325" y="1060303"/>
            <a:ext cx="8229600" cy="1999843"/>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10532051" y="6032125"/>
            <a:ext cx="1091045" cy="369332"/>
          </a:xfrm>
          <a:prstGeom prst="rect">
            <a:avLst/>
          </a:prstGeom>
          <a:noFill/>
        </p:spPr>
        <p:txBody>
          <a:bodyPr wrap="square" rtlCol="0">
            <a:spAutoFit/>
          </a:bodyPr>
          <a:lstStyle/>
          <a:p>
            <a:r>
              <a:rPr lang="en-US" dirty="0" smtClean="0"/>
              <a:t>events</a:t>
            </a:r>
            <a:endParaRPr lang="en-US" dirty="0"/>
          </a:p>
        </p:txBody>
      </p:sp>
      <p:sp>
        <p:nvSpPr>
          <p:cNvPr id="25" name="TextBox 24"/>
          <p:cNvSpPr txBox="1"/>
          <p:nvPr/>
        </p:nvSpPr>
        <p:spPr>
          <a:xfrm>
            <a:off x="4723968" y="6032125"/>
            <a:ext cx="1666007" cy="369332"/>
          </a:xfrm>
          <a:prstGeom prst="rect">
            <a:avLst/>
          </a:prstGeom>
          <a:noFill/>
        </p:spPr>
        <p:txBody>
          <a:bodyPr wrap="square" rtlCol="0">
            <a:spAutoFit/>
          </a:bodyPr>
          <a:lstStyle/>
          <a:p>
            <a:r>
              <a:rPr lang="en-US" dirty="0" smtClean="0"/>
              <a:t>Execution plan</a:t>
            </a:r>
            <a:endParaRPr lang="en-US" dirty="0"/>
          </a:p>
        </p:txBody>
      </p:sp>
      <p:sp>
        <p:nvSpPr>
          <p:cNvPr id="26" name="TextBox 25"/>
          <p:cNvSpPr txBox="1"/>
          <p:nvPr/>
        </p:nvSpPr>
        <p:spPr>
          <a:xfrm>
            <a:off x="8456466" y="4293392"/>
            <a:ext cx="1430482" cy="369332"/>
          </a:xfrm>
          <a:prstGeom prst="rect">
            <a:avLst/>
          </a:prstGeom>
          <a:noFill/>
        </p:spPr>
        <p:txBody>
          <a:bodyPr wrap="square" rtlCol="0">
            <a:spAutoFit/>
          </a:bodyPr>
          <a:lstStyle/>
          <a:p>
            <a:r>
              <a:rPr lang="en-US" dirty="0" smtClean="0"/>
              <a:t>Slow queries</a:t>
            </a:r>
            <a:endParaRPr lang="en-US" dirty="0"/>
          </a:p>
        </p:txBody>
      </p:sp>
      <p:sp>
        <p:nvSpPr>
          <p:cNvPr id="27" name="TextBox 26"/>
          <p:cNvSpPr txBox="1"/>
          <p:nvPr/>
        </p:nvSpPr>
        <p:spPr>
          <a:xfrm>
            <a:off x="6486525" y="5970870"/>
            <a:ext cx="1297129" cy="369332"/>
          </a:xfrm>
          <a:prstGeom prst="rect">
            <a:avLst/>
          </a:prstGeom>
          <a:noFill/>
        </p:spPr>
        <p:txBody>
          <a:bodyPr wrap="square" rtlCol="0">
            <a:spAutoFit/>
          </a:bodyPr>
          <a:lstStyle/>
          <a:p>
            <a:r>
              <a:rPr lang="en-US" dirty="0" smtClean="0"/>
              <a:t>Page splits</a:t>
            </a:r>
            <a:endParaRPr lang="en-US" dirty="0"/>
          </a:p>
        </p:txBody>
      </p:sp>
      <p:sp>
        <p:nvSpPr>
          <p:cNvPr id="28" name="TextBox 27"/>
          <p:cNvSpPr txBox="1"/>
          <p:nvPr/>
        </p:nvSpPr>
        <p:spPr>
          <a:xfrm>
            <a:off x="4675038" y="4511365"/>
            <a:ext cx="1640034" cy="369332"/>
          </a:xfrm>
          <a:prstGeom prst="rect">
            <a:avLst/>
          </a:prstGeom>
          <a:noFill/>
        </p:spPr>
        <p:txBody>
          <a:bodyPr wrap="square" rtlCol="0">
            <a:spAutoFit/>
          </a:bodyPr>
          <a:lstStyle/>
          <a:p>
            <a:r>
              <a:rPr lang="en-US" dirty="0" smtClean="0"/>
              <a:t>fragmentation</a:t>
            </a:r>
            <a:endParaRPr lang="en-US" dirty="0"/>
          </a:p>
        </p:txBody>
      </p:sp>
      <p:sp>
        <p:nvSpPr>
          <p:cNvPr id="29" name="TextBox 28"/>
          <p:cNvSpPr txBox="1"/>
          <p:nvPr/>
        </p:nvSpPr>
        <p:spPr>
          <a:xfrm>
            <a:off x="8272893" y="5985243"/>
            <a:ext cx="1091045" cy="369332"/>
          </a:xfrm>
          <a:prstGeom prst="rect">
            <a:avLst/>
          </a:prstGeom>
          <a:noFill/>
        </p:spPr>
        <p:txBody>
          <a:bodyPr wrap="square" rtlCol="0">
            <a:spAutoFit/>
          </a:bodyPr>
          <a:lstStyle/>
          <a:p>
            <a:r>
              <a:rPr lang="en-US" dirty="0" smtClean="0"/>
              <a:t>tempdb</a:t>
            </a:r>
            <a:endParaRPr lang="en-US" dirty="0"/>
          </a:p>
        </p:txBody>
      </p:sp>
      <p:sp>
        <p:nvSpPr>
          <p:cNvPr id="30" name="TextBox 29"/>
          <p:cNvSpPr txBox="1"/>
          <p:nvPr/>
        </p:nvSpPr>
        <p:spPr>
          <a:xfrm>
            <a:off x="3342408" y="5223841"/>
            <a:ext cx="1167247" cy="369332"/>
          </a:xfrm>
          <a:prstGeom prst="rect">
            <a:avLst/>
          </a:prstGeom>
          <a:noFill/>
        </p:spPr>
        <p:txBody>
          <a:bodyPr wrap="square" rtlCol="0">
            <a:spAutoFit/>
          </a:bodyPr>
          <a:lstStyle/>
          <a:p>
            <a:r>
              <a:rPr lang="en-US" dirty="0" smtClean="0"/>
              <a:t>Wait stats</a:t>
            </a:r>
            <a:endParaRPr lang="en-US" dirty="0"/>
          </a:p>
        </p:txBody>
      </p:sp>
      <p:sp>
        <p:nvSpPr>
          <p:cNvPr id="31" name="TextBox 30"/>
          <p:cNvSpPr txBox="1"/>
          <p:nvPr/>
        </p:nvSpPr>
        <p:spPr>
          <a:xfrm>
            <a:off x="1059870" y="4610491"/>
            <a:ext cx="1091045" cy="369332"/>
          </a:xfrm>
          <a:prstGeom prst="rect">
            <a:avLst/>
          </a:prstGeom>
          <a:noFill/>
        </p:spPr>
        <p:txBody>
          <a:bodyPr wrap="square" rtlCol="0">
            <a:spAutoFit/>
          </a:bodyPr>
          <a:lstStyle/>
          <a:p>
            <a:r>
              <a:rPr lang="en-US" dirty="0" smtClean="0"/>
              <a:t>indexes</a:t>
            </a:r>
            <a:endParaRPr lang="en-US" dirty="0"/>
          </a:p>
        </p:txBody>
      </p:sp>
      <p:sp>
        <p:nvSpPr>
          <p:cNvPr id="32" name="TextBox 31"/>
          <p:cNvSpPr txBox="1"/>
          <p:nvPr/>
        </p:nvSpPr>
        <p:spPr>
          <a:xfrm>
            <a:off x="3266207" y="4486073"/>
            <a:ext cx="1091045" cy="369332"/>
          </a:xfrm>
          <a:prstGeom prst="rect">
            <a:avLst/>
          </a:prstGeom>
          <a:noFill/>
        </p:spPr>
        <p:txBody>
          <a:bodyPr wrap="square" rtlCol="0">
            <a:spAutoFit/>
          </a:bodyPr>
          <a:lstStyle/>
          <a:p>
            <a:r>
              <a:rPr lang="en-US" dirty="0" smtClean="0"/>
              <a:t>Fill factor</a:t>
            </a:r>
            <a:endParaRPr lang="en-US" dirty="0"/>
          </a:p>
        </p:txBody>
      </p:sp>
      <p:sp>
        <p:nvSpPr>
          <p:cNvPr id="33" name="TextBox 32"/>
          <p:cNvSpPr txBox="1"/>
          <p:nvPr/>
        </p:nvSpPr>
        <p:spPr>
          <a:xfrm>
            <a:off x="1515554" y="5970870"/>
            <a:ext cx="1354283" cy="369332"/>
          </a:xfrm>
          <a:prstGeom prst="rect">
            <a:avLst/>
          </a:prstGeom>
          <a:noFill/>
        </p:spPr>
        <p:txBody>
          <a:bodyPr wrap="square" rtlCol="0">
            <a:spAutoFit/>
          </a:bodyPr>
          <a:lstStyle/>
          <a:p>
            <a:r>
              <a:rPr lang="en-US" dirty="0" smtClean="0"/>
              <a:t>Sql profiler</a:t>
            </a:r>
            <a:endParaRPr lang="en-US" dirty="0"/>
          </a:p>
        </p:txBody>
      </p:sp>
      <p:sp>
        <p:nvSpPr>
          <p:cNvPr id="34" name="TextBox 33"/>
          <p:cNvSpPr txBox="1"/>
          <p:nvPr/>
        </p:nvSpPr>
        <p:spPr>
          <a:xfrm>
            <a:off x="10584008" y="4783905"/>
            <a:ext cx="1091045" cy="369332"/>
          </a:xfrm>
          <a:prstGeom prst="rect">
            <a:avLst/>
          </a:prstGeom>
          <a:noFill/>
        </p:spPr>
        <p:txBody>
          <a:bodyPr wrap="square" rtlCol="0">
            <a:spAutoFit/>
          </a:bodyPr>
          <a:lstStyle/>
          <a:p>
            <a:r>
              <a:rPr lang="en-US" dirty="0" smtClean="0"/>
              <a:t>dmv</a:t>
            </a:r>
            <a:endParaRPr lang="en-US" dirty="0"/>
          </a:p>
        </p:txBody>
      </p:sp>
      <p:sp>
        <p:nvSpPr>
          <p:cNvPr id="37" name="TextBox 36"/>
          <p:cNvSpPr txBox="1"/>
          <p:nvPr/>
        </p:nvSpPr>
        <p:spPr>
          <a:xfrm>
            <a:off x="6757552" y="5277088"/>
            <a:ext cx="1184563" cy="369332"/>
          </a:xfrm>
          <a:prstGeom prst="rect">
            <a:avLst/>
          </a:prstGeom>
          <a:noFill/>
        </p:spPr>
        <p:txBody>
          <a:bodyPr wrap="square" rtlCol="0">
            <a:spAutoFit/>
          </a:bodyPr>
          <a:lstStyle/>
          <a:p>
            <a:r>
              <a:rPr lang="en-US" dirty="0" smtClean="0"/>
              <a:t>CPU</a:t>
            </a:r>
            <a:endParaRPr lang="en-US" dirty="0"/>
          </a:p>
        </p:txBody>
      </p:sp>
      <p:sp>
        <p:nvSpPr>
          <p:cNvPr id="38" name="TextBox 37"/>
          <p:cNvSpPr txBox="1"/>
          <p:nvPr/>
        </p:nvSpPr>
        <p:spPr>
          <a:xfrm>
            <a:off x="4859480" y="5224060"/>
            <a:ext cx="1184563" cy="369332"/>
          </a:xfrm>
          <a:prstGeom prst="rect">
            <a:avLst/>
          </a:prstGeom>
          <a:noFill/>
        </p:spPr>
        <p:txBody>
          <a:bodyPr wrap="square" rtlCol="0">
            <a:spAutoFit/>
          </a:bodyPr>
          <a:lstStyle/>
          <a:p>
            <a:r>
              <a:rPr lang="en-US" dirty="0" smtClean="0"/>
              <a:t>hardware</a:t>
            </a:r>
            <a:endParaRPr lang="en-US" dirty="0"/>
          </a:p>
        </p:txBody>
      </p:sp>
      <p:sp>
        <p:nvSpPr>
          <p:cNvPr id="39" name="TextBox 38"/>
          <p:cNvSpPr txBox="1"/>
          <p:nvPr/>
        </p:nvSpPr>
        <p:spPr>
          <a:xfrm>
            <a:off x="3313182" y="5961596"/>
            <a:ext cx="1184563" cy="369332"/>
          </a:xfrm>
          <a:prstGeom prst="rect">
            <a:avLst/>
          </a:prstGeom>
          <a:noFill/>
        </p:spPr>
        <p:txBody>
          <a:bodyPr wrap="square" rtlCol="0">
            <a:spAutoFit/>
          </a:bodyPr>
          <a:lstStyle/>
          <a:p>
            <a:r>
              <a:rPr lang="en-US" dirty="0" smtClean="0"/>
              <a:t>memory</a:t>
            </a:r>
            <a:endParaRPr lang="en-US" dirty="0"/>
          </a:p>
        </p:txBody>
      </p:sp>
      <p:sp>
        <p:nvSpPr>
          <p:cNvPr id="40" name="TextBox 39"/>
          <p:cNvSpPr txBox="1"/>
          <p:nvPr/>
        </p:nvSpPr>
        <p:spPr>
          <a:xfrm>
            <a:off x="4184936" y="1146178"/>
            <a:ext cx="4260272" cy="2277547"/>
          </a:xfrm>
          <a:prstGeom prst="rect">
            <a:avLst/>
          </a:prstGeom>
          <a:noFill/>
        </p:spPr>
        <p:txBody>
          <a:bodyPr wrap="square" rtlCol="0">
            <a:spAutoFit/>
          </a:bodyPr>
          <a:lstStyle/>
          <a:p>
            <a:pPr algn="ctr"/>
            <a:r>
              <a:rPr lang="en-US" sz="1600" b="1" dirty="0" smtClean="0">
                <a:solidFill>
                  <a:srgbClr val="FF0000"/>
                </a:solidFill>
              </a:rPr>
              <a:t>COMMON PERFORMANCE ISSUES</a:t>
            </a:r>
          </a:p>
          <a:p>
            <a:pPr algn="ctr"/>
            <a:r>
              <a:rPr lang="en-US" sz="1200" dirty="0" smtClean="0"/>
              <a:t>Slow running queries issues</a:t>
            </a:r>
          </a:p>
          <a:p>
            <a:pPr algn="ctr"/>
            <a:r>
              <a:rPr lang="en-US" sz="1200" dirty="0" smtClean="0"/>
              <a:t>Fragmentation issue</a:t>
            </a:r>
          </a:p>
          <a:p>
            <a:pPr algn="ctr"/>
            <a:r>
              <a:rPr lang="en-US" sz="1200" dirty="0" smtClean="0"/>
              <a:t>Wait stats issue</a:t>
            </a:r>
          </a:p>
          <a:p>
            <a:pPr algn="ctr"/>
            <a:r>
              <a:rPr lang="en-US" sz="1200" dirty="0" smtClean="0"/>
              <a:t>Tempdb improper set up</a:t>
            </a:r>
          </a:p>
          <a:p>
            <a:pPr algn="ctr"/>
            <a:r>
              <a:rPr lang="en-US" sz="1200" dirty="0" smtClean="0"/>
              <a:t>Poor execution plan choice</a:t>
            </a:r>
          </a:p>
          <a:p>
            <a:pPr algn="ctr"/>
            <a:r>
              <a:rPr lang="en-US" sz="1200" dirty="0" smtClean="0"/>
              <a:t>SQL Server wrong configurations</a:t>
            </a:r>
          </a:p>
          <a:p>
            <a:pPr algn="ctr"/>
            <a:r>
              <a:rPr lang="en-US" sz="1200" dirty="0" smtClean="0"/>
              <a:t>Improper index design</a:t>
            </a:r>
          </a:p>
          <a:p>
            <a:pPr algn="ctr"/>
            <a:r>
              <a:rPr lang="en-US" sz="1200" dirty="0" smtClean="0"/>
              <a:t>Blocking</a:t>
            </a:r>
          </a:p>
          <a:p>
            <a:endParaRPr lang="en-US" sz="1200" dirty="0" smtClean="0"/>
          </a:p>
          <a:p>
            <a:endParaRPr lang="en-US" dirty="0"/>
          </a:p>
        </p:txBody>
      </p:sp>
      <p:sp>
        <p:nvSpPr>
          <p:cNvPr id="43" name="Right Arrow 42"/>
          <p:cNvSpPr/>
          <p:nvPr/>
        </p:nvSpPr>
        <p:spPr>
          <a:xfrm rot="2557992">
            <a:off x="822401" y="3521368"/>
            <a:ext cx="2038350" cy="941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80739" y="1643193"/>
            <a:ext cx="1922315" cy="1200329"/>
          </a:xfrm>
          <a:prstGeom prst="rect">
            <a:avLst/>
          </a:prstGeom>
          <a:noFill/>
        </p:spPr>
        <p:txBody>
          <a:bodyPr wrap="square" rtlCol="0">
            <a:spAutoFit/>
          </a:bodyPr>
          <a:lstStyle/>
          <a:p>
            <a:pPr algn="ctr"/>
            <a:r>
              <a:rPr lang="en-US" dirty="0" smtClean="0"/>
              <a:t>Building blocks needed for performance tuning</a:t>
            </a:r>
            <a:endParaRPr lang="en-US" dirty="0"/>
          </a:p>
        </p:txBody>
      </p:sp>
      <p:sp>
        <p:nvSpPr>
          <p:cNvPr id="45" name="Rectangle 44"/>
          <p:cNvSpPr/>
          <p:nvPr/>
        </p:nvSpPr>
        <p:spPr>
          <a:xfrm>
            <a:off x="7972423" y="5056899"/>
            <a:ext cx="1683327" cy="737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8111616" y="5176620"/>
            <a:ext cx="1510792" cy="646331"/>
          </a:xfrm>
          <a:prstGeom prst="rect">
            <a:avLst/>
          </a:prstGeom>
          <a:noFill/>
        </p:spPr>
        <p:txBody>
          <a:bodyPr wrap="square" rtlCol="0">
            <a:spAutoFit/>
          </a:bodyPr>
          <a:lstStyle/>
          <a:p>
            <a:pPr algn="ctr"/>
            <a:r>
              <a:rPr lang="en-US" dirty="0" smtClean="0"/>
              <a:t>More information </a:t>
            </a:r>
            <a:endParaRPr lang="en-US" dirty="0"/>
          </a:p>
        </p:txBody>
      </p:sp>
    </p:spTree>
    <p:extLst>
      <p:ext uri="{BB962C8B-B14F-4D97-AF65-F5344CB8AC3E}">
        <p14:creationId xmlns:p14="http://schemas.microsoft.com/office/powerpoint/2010/main" val="266643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1122073"/>
          </a:xfrm>
        </p:spPr>
        <p:txBody>
          <a:bodyPr/>
          <a:lstStyle/>
          <a:p>
            <a:r>
              <a:rPr lang="en-US" dirty="0" smtClean="0"/>
              <a:t>REQUIREMENTS </a:t>
            </a:r>
            <a:endParaRPr lang="en-US" dirty="0"/>
          </a:p>
        </p:txBody>
      </p:sp>
      <p:sp>
        <p:nvSpPr>
          <p:cNvPr id="3" name="Subtitle 2"/>
          <p:cNvSpPr>
            <a:spLocks noGrp="1"/>
          </p:cNvSpPr>
          <p:nvPr>
            <p:ph type="subTitle" idx="1"/>
          </p:nvPr>
        </p:nvSpPr>
        <p:spPr>
          <a:xfrm>
            <a:off x="1524000" y="1330036"/>
            <a:ext cx="9144000" cy="5143501"/>
          </a:xfrm>
        </p:spPr>
        <p:txBody>
          <a:bodyPr>
            <a:normAutofit/>
          </a:bodyPr>
          <a:lstStyle/>
          <a:p>
            <a:pPr marL="342900" indent="-342900" algn="l">
              <a:buFont typeface="Arial" panose="020B0604020202020204" pitchFamily="34" charset="0"/>
              <a:buChar char="•"/>
            </a:pPr>
            <a:r>
              <a:rPr lang="en-US" dirty="0" smtClean="0"/>
              <a:t>LEARN T-SQL FROM SCRATCH</a:t>
            </a:r>
          </a:p>
          <a:p>
            <a:pPr marL="342900" indent="-342900" algn="l">
              <a:buFont typeface="Arial" panose="020B0604020202020204" pitchFamily="34" charset="0"/>
              <a:buChar char="•"/>
            </a:pPr>
            <a:r>
              <a:rPr lang="en-US" dirty="0" smtClean="0"/>
              <a:t>SQL ADMINISTRATION PART 1</a:t>
            </a:r>
          </a:p>
          <a:p>
            <a:pPr marL="342900" indent="-342900" algn="l">
              <a:buFont typeface="Arial" panose="020B0604020202020204" pitchFamily="34" charset="0"/>
              <a:buChar char="•"/>
            </a:pPr>
            <a:r>
              <a:rPr lang="en-US" dirty="0" smtClean="0"/>
              <a:t>SQL ADMINISTRATION PART 2</a:t>
            </a:r>
          </a:p>
          <a:p>
            <a:pPr marL="342900" indent="-342900" algn="l">
              <a:buFont typeface="Arial" panose="020B0604020202020204" pitchFamily="34" charset="0"/>
              <a:buChar char="•"/>
            </a:pPr>
            <a:r>
              <a:rPr lang="en-US" dirty="0" smtClean="0"/>
              <a:t>SQL ADMINISTRATION PART 3</a:t>
            </a:r>
          </a:p>
          <a:p>
            <a:endParaRPr lang="en-US" dirty="0"/>
          </a:p>
          <a:p>
            <a:pPr algn="l"/>
            <a:r>
              <a:rPr lang="en-US" dirty="0" smtClean="0"/>
              <a:t>GO TO UDEMY.COM</a:t>
            </a:r>
          </a:p>
          <a:p>
            <a:pPr algn="l"/>
            <a:r>
              <a:rPr lang="en-US" dirty="0" smtClean="0"/>
              <a:t>IN SEARCH TYPE: RAF ASGHAR</a:t>
            </a:r>
          </a:p>
          <a:p>
            <a:pPr algn="l"/>
            <a:endParaRPr lang="en-US" dirty="0"/>
          </a:p>
          <a:p>
            <a:pPr algn="l"/>
            <a:r>
              <a:rPr lang="en-US" dirty="0" smtClean="0"/>
              <a:t>THE COURSE WILL BE DIVIDED INTO </a:t>
            </a:r>
            <a:r>
              <a:rPr lang="en-US" b="1" dirty="0" smtClean="0">
                <a:solidFill>
                  <a:srgbClr val="FF0000"/>
                </a:solidFill>
              </a:rPr>
              <a:t>TWO SEPARATE COURSES</a:t>
            </a:r>
            <a:r>
              <a:rPr lang="en-US" dirty="0" smtClean="0"/>
              <a:t>:</a:t>
            </a:r>
          </a:p>
          <a:p>
            <a:pPr algn="l"/>
            <a:r>
              <a:rPr lang="en-US" dirty="0" smtClean="0"/>
              <a:t>SQL PERFORMANCE TUNING </a:t>
            </a:r>
            <a:r>
              <a:rPr lang="en-US" dirty="0" smtClean="0">
                <a:solidFill>
                  <a:srgbClr val="FF0000"/>
                </a:solidFill>
              </a:rPr>
              <a:t>PART 1</a:t>
            </a:r>
          </a:p>
          <a:p>
            <a:pPr algn="l"/>
            <a:r>
              <a:rPr lang="en-US" dirty="0" smtClean="0"/>
              <a:t>SQL PERFORMANCE TUNING </a:t>
            </a:r>
            <a:r>
              <a:rPr lang="en-US" dirty="0" smtClean="0">
                <a:solidFill>
                  <a:srgbClr val="FF0000"/>
                </a:solidFill>
              </a:rPr>
              <a:t>PART 2</a:t>
            </a:r>
            <a:r>
              <a:rPr lang="en-US" dirty="0" smtClean="0"/>
              <a:t> (COMING OUT IN 6 WEEKS)</a:t>
            </a:r>
          </a:p>
          <a:p>
            <a:pPr algn="l"/>
            <a:endParaRPr lang="en-US" dirty="0" smtClean="0"/>
          </a:p>
          <a:p>
            <a:pPr algn="l"/>
            <a:endParaRPr lang="en-US" dirty="0" smtClean="0"/>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303493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316</Words>
  <Application>Microsoft Office PowerPoint</Application>
  <PresentationFormat>Widescreen</PresentationFormat>
  <Paragraphs>66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REQUIREMENTS </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rafasg61 A</dc:creator>
  <cp:lastModifiedBy>rafasg61 A</cp:lastModifiedBy>
  <cp:revision>45</cp:revision>
  <dcterms:created xsi:type="dcterms:W3CDTF">2017-11-24T21:30:10Z</dcterms:created>
  <dcterms:modified xsi:type="dcterms:W3CDTF">2017-11-24T23:11:01Z</dcterms:modified>
</cp:coreProperties>
</file>