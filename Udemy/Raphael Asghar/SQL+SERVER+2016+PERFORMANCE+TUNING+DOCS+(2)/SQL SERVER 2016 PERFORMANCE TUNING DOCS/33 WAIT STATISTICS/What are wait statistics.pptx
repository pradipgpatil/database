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9" r:id="rId5"/>
    <p:sldId id="258"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95DCAB-E67C-4E9A-80B5-B7EBCBD85B00}" type="datetimeFigureOut">
              <a:rPr lang="en-US" smtClean="0"/>
              <a:t>11/14/2017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1095381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95DCAB-E67C-4E9A-80B5-B7EBCBD85B00}" type="datetimeFigureOut">
              <a:rPr lang="en-US" smtClean="0"/>
              <a:t>11/14/2017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311827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95DCAB-E67C-4E9A-80B5-B7EBCBD85B00}" type="datetimeFigureOut">
              <a:rPr lang="en-US" smtClean="0"/>
              <a:t>11/14/2017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1000526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95DCAB-E67C-4E9A-80B5-B7EBCBD85B00}" type="datetimeFigureOut">
              <a:rPr lang="en-US" smtClean="0"/>
              <a:t>11/14/2017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1688214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95DCAB-E67C-4E9A-80B5-B7EBCBD85B00}" type="datetimeFigureOut">
              <a:rPr lang="en-US" smtClean="0"/>
              <a:t>11/14/2017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3424813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95DCAB-E67C-4E9A-80B5-B7EBCBD85B00}" type="datetimeFigureOut">
              <a:rPr lang="en-US" smtClean="0"/>
              <a:t>11/14/2017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134657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95DCAB-E67C-4E9A-80B5-B7EBCBD85B00}" type="datetimeFigureOut">
              <a:rPr lang="en-US" smtClean="0"/>
              <a:t>11/14/2017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3261807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95DCAB-E67C-4E9A-80B5-B7EBCBD85B00}" type="datetimeFigureOut">
              <a:rPr lang="en-US" smtClean="0"/>
              <a:t>11/14/2017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3755608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95DCAB-E67C-4E9A-80B5-B7EBCBD85B00}" type="datetimeFigureOut">
              <a:rPr lang="en-US" smtClean="0"/>
              <a:t>11/14/2017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3843920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95DCAB-E67C-4E9A-80B5-B7EBCBD85B00}" type="datetimeFigureOut">
              <a:rPr lang="en-US" smtClean="0"/>
              <a:t>11/14/2017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1272594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95DCAB-E67C-4E9A-80B5-B7EBCBD85B00}" type="datetimeFigureOut">
              <a:rPr lang="en-US" smtClean="0"/>
              <a:t>11/14/2017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646CB7-56E4-4510-B7FF-63CBE4B26919}" type="slidenum">
              <a:rPr lang="en-US" smtClean="0"/>
              <a:t>‹#›</a:t>
            </a:fld>
            <a:endParaRPr lang="en-US"/>
          </a:p>
        </p:txBody>
      </p:sp>
    </p:spTree>
    <p:extLst>
      <p:ext uri="{BB962C8B-B14F-4D97-AF65-F5344CB8AC3E}">
        <p14:creationId xmlns:p14="http://schemas.microsoft.com/office/powerpoint/2010/main" val="414590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95DCAB-E67C-4E9A-80B5-B7EBCBD85B00}" type="datetimeFigureOut">
              <a:rPr lang="en-US" smtClean="0"/>
              <a:t>11/14/2017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46CB7-56E4-4510-B7FF-63CBE4B26919}" type="slidenum">
              <a:rPr lang="en-US" smtClean="0"/>
              <a:t>‹#›</a:t>
            </a:fld>
            <a:endParaRPr lang="en-US"/>
          </a:p>
        </p:txBody>
      </p:sp>
    </p:spTree>
    <p:extLst>
      <p:ext uri="{BB962C8B-B14F-4D97-AF65-F5344CB8AC3E}">
        <p14:creationId xmlns:p14="http://schemas.microsoft.com/office/powerpoint/2010/main" val="2826699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docs.microsoft.com/en-us/sql/relational-databases/system-dynamic-management-views/sys-dm-os-wait-stats-transact-sql"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22073"/>
          </a:xfrm>
        </p:spPr>
        <p:txBody>
          <a:bodyPr/>
          <a:lstStyle/>
          <a:p>
            <a:r>
              <a:rPr lang="en-US" dirty="0" smtClean="0"/>
              <a:t>Wait statistics</a:t>
            </a:r>
            <a:endParaRPr lang="en-US" dirty="0"/>
          </a:p>
        </p:txBody>
      </p:sp>
      <p:sp>
        <p:nvSpPr>
          <p:cNvPr id="3" name="Subtitle 2"/>
          <p:cNvSpPr>
            <a:spLocks noGrp="1"/>
          </p:cNvSpPr>
          <p:nvPr>
            <p:ph type="subTitle" idx="1"/>
          </p:nvPr>
        </p:nvSpPr>
        <p:spPr>
          <a:xfrm>
            <a:off x="1524000" y="2545773"/>
            <a:ext cx="9144000" cy="3449782"/>
          </a:xfrm>
        </p:spPr>
        <p:txBody>
          <a:bodyPr>
            <a:normAutofit/>
          </a:bodyPr>
          <a:lstStyle/>
          <a:p>
            <a:pPr marL="457200" indent="-457200" algn="l">
              <a:buFont typeface="Arial" panose="020B0604020202020204" pitchFamily="34" charset="0"/>
              <a:buChar char="•"/>
            </a:pPr>
            <a:r>
              <a:rPr lang="en-US" sz="2800" dirty="0" smtClean="0"/>
              <a:t>What are wait statistics?</a:t>
            </a:r>
          </a:p>
          <a:p>
            <a:pPr marL="457200" indent="-457200" algn="l">
              <a:buFont typeface="Arial" panose="020B0604020202020204" pitchFamily="34" charset="0"/>
              <a:buChar char="•"/>
            </a:pPr>
            <a:r>
              <a:rPr lang="en-US" sz="2800" dirty="0" smtClean="0"/>
              <a:t>Cycle of a wait stat (query)</a:t>
            </a:r>
          </a:p>
          <a:p>
            <a:pPr marL="457200" indent="-457200" algn="l">
              <a:buFont typeface="Arial" panose="020B0604020202020204" pitchFamily="34" charset="0"/>
              <a:buChar char="•"/>
            </a:pPr>
            <a:r>
              <a:rPr lang="en-US" sz="2800" dirty="0" smtClean="0"/>
              <a:t>DMV used to discover issues</a:t>
            </a:r>
          </a:p>
          <a:p>
            <a:pPr marL="457200" indent="-457200" algn="l">
              <a:buFont typeface="Arial" panose="020B0604020202020204" pitchFamily="34" charset="0"/>
              <a:buChar char="•"/>
            </a:pPr>
            <a:r>
              <a:rPr lang="en-US" sz="2800" dirty="0" smtClean="0"/>
              <a:t>Demo</a:t>
            </a:r>
            <a:endParaRPr lang="en-US" sz="2800" dirty="0"/>
          </a:p>
        </p:txBody>
      </p:sp>
    </p:spTree>
    <p:extLst>
      <p:ext uri="{BB962C8B-B14F-4D97-AF65-F5344CB8AC3E}">
        <p14:creationId xmlns:p14="http://schemas.microsoft.com/office/powerpoint/2010/main" val="2895629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527"/>
            <a:ext cx="9144000" cy="633701"/>
          </a:xfrm>
        </p:spPr>
        <p:txBody>
          <a:bodyPr>
            <a:normAutofit/>
          </a:bodyPr>
          <a:lstStyle/>
          <a:p>
            <a:r>
              <a:rPr lang="en-US" sz="3600" dirty="0" smtClean="0"/>
              <a:t>What are wait statistics?</a:t>
            </a:r>
            <a:endParaRPr lang="en-US" sz="3600" dirty="0"/>
          </a:p>
        </p:txBody>
      </p:sp>
      <p:sp>
        <p:nvSpPr>
          <p:cNvPr id="3" name="Subtitle 2"/>
          <p:cNvSpPr>
            <a:spLocks noGrp="1"/>
          </p:cNvSpPr>
          <p:nvPr>
            <p:ph type="subTitle" idx="1"/>
          </p:nvPr>
        </p:nvSpPr>
        <p:spPr>
          <a:xfrm>
            <a:off x="1524000" y="966355"/>
            <a:ext cx="9144000" cy="5465618"/>
          </a:xfrm>
        </p:spPr>
        <p:txBody>
          <a:bodyPr/>
          <a:lstStyle/>
          <a:p>
            <a:pPr marL="285750" indent="-285750" algn="l">
              <a:buFont typeface="Arial" panose="020B0604020202020204" pitchFamily="34" charset="0"/>
              <a:buChar char="•"/>
            </a:pPr>
            <a:r>
              <a:rPr lang="en-US" sz="1800" dirty="0" smtClean="0"/>
              <a:t>When a query is sent from an application they must ‘compete ‘ for the limited CPU processor.</a:t>
            </a:r>
          </a:p>
          <a:p>
            <a:pPr marL="285750" indent="-285750" algn="l">
              <a:buFont typeface="Arial" panose="020B0604020202020204" pitchFamily="34" charset="0"/>
              <a:buChar char="•"/>
            </a:pPr>
            <a:r>
              <a:rPr lang="en-US" sz="1800" dirty="0" smtClean="0"/>
              <a:t>On a single core CPU with little transactional activity, accessing the CPU for processing may not be a problem</a:t>
            </a:r>
          </a:p>
          <a:p>
            <a:endParaRPr lang="en-US" dirty="0" smtClean="0"/>
          </a:p>
        </p:txBody>
      </p:sp>
      <p:sp>
        <p:nvSpPr>
          <p:cNvPr id="4" name="Rectangle 3"/>
          <p:cNvSpPr/>
          <p:nvPr/>
        </p:nvSpPr>
        <p:spPr>
          <a:xfrm>
            <a:off x="7072746" y="3304309"/>
            <a:ext cx="2234046" cy="1662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5224895" y="4587403"/>
            <a:ext cx="955964" cy="369332"/>
          </a:xfrm>
          <a:prstGeom prst="rect">
            <a:avLst/>
          </a:prstGeom>
          <a:noFill/>
        </p:spPr>
        <p:txBody>
          <a:bodyPr wrap="square" rtlCol="0">
            <a:spAutoFit/>
          </a:bodyPr>
          <a:lstStyle/>
          <a:p>
            <a:r>
              <a:rPr lang="en-US" dirty="0" smtClean="0"/>
              <a:t>Query 3</a:t>
            </a:r>
            <a:endParaRPr lang="en-US" dirty="0"/>
          </a:p>
        </p:txBody>
      </p:sp>
      <p:sp>
        <p:nvSpPr>
          <p:cNvPr id="9" name="TextBox 8"/>
          <p:cNvSpPr txBox="1"/>
          <p:nvPr/>
        </p:nvSpPr>
        <p:spPr>
          <a:xfrm>
            <a:off x="5224895" y="3963311"/>
            <a:ext cx="955964" cy="369332"/>
          </a:xfrm>
          <a:prstGeom prst="rect">
            <a:avLst/>
          </a:prstGeom>
          <a:noFill/>
        </p:spPr>
        <p:txBody>
          <a:bodyPr wrap="square" rtlCol="0">
            <a:spAutoFit/>
          </a:bodyPr>
          <a:lstStyle/>
          <a:p>
            <a:r>
              <a:rPr lang="en-US" dirty="0" smtClean="0"/>
              <a:t>Query 2</a:t>
            </a:r>
            <a:endParaRPr lang="en-US" dirty="0"/>
          </a:p>
        </p:txBody>
      </p:sp>
      <p:sp>
        <p:nvSpPr>
          <p:cNvPr id="10" name="TextBox 9"/>
          <p:cNvSpPr txBox="1"/>
          <p:nvPr/>
        </p:nvSpPr>
        <p:spPr>
          <a:xfrm>
            <a:off x="5224895" y="3304309"/>
            <a:ext cx="955964" cy="369332"/>
          </a:xfrm>
          <a:prstGeom prst="rect">
            <a:avLst/>
          </a:prstGeom>
          <a:noFill/>
        </p:spPr>
        <p:txBody>
          <a:bodyPr wrap="square" rtlCol="0">
            <a:spAutoFit/>
          </a:bodyPr>
          <a:lstStyle/>
          <a:p>
            <a:r>
              <a:rPr lang="en-US" dirty="0" smtClean="0"/>
              <a:t>Query 1</a:t>
            </a:r>
            <a:endParaRPr lang="en-US" dirty="0"/>
          </a:p>
        </p:txBody>
      </p:sp>
      <p:sp>
        <p:nvSpPr>
          <p:cNvPr id="11" name="TextBox 10"/>
          <p:cNvSpPr txBox="1"/>
          <p:nvPr/>
        </p:nvSpPr>
        <p:spPr>
          <a:xfrm>
            <a:off x="7310005" y="3578622"/>
            <a:ext cx="1768186" cy="1200329"/>
          </a:xfrm>
          <a:prstGeom prst="rect">
            <a:avLst/>
          </a:prstGeom>
          <a:noFill/>
        </p:spPr>
        <p:txBody>
          <a:bodyPr wrap="square" rtlCol="0">
            <a:spAutoFit/>
          </a:bodyPr>
          <a:lstStyle/>
          <a:p>
            <a:pPr algn="ctr"/>
            <a:r>
              <a:rPr lang="en-US" dirty="0" smtClean="0"/>
              <a:t>SINGLE OR MULTIPLE CPUs</a:t>
            </a:r>
          </a:p>
          <a:p>
            <a:pPr algn="ctr"/>
            <a:r>
              <a:rPr lang="en-US" dirty="0" smtClean="0"/>
              <a:t>PROCESSING REQUESTS</a:t>
            </a:r>
            <a:endParaRPr lang="en-US" dirty="0"/>
          </a:p>
        </p:txBody>
      </p:sp>
      <p:cxnSp>
        <p:nvCxnSpPr>
          <p:cNvPr id="15" name="Straight Arrow Connector 14"/>
          <p:cNvCxnSpPr/>
          <p:nvPr/>
        </p:nvCxnSpPr>
        <p:spPr>
          <a:xfrm>
            <a:off x="6193279" y="3488975"/>
            <a:ext cx="6875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6233113" y="4166391"/>
            <a:ext cx="647699" cy="12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6233113" y="4787519"/>
            <a:ext cx="67254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3335482" y="3002972"/>
            <a:ext cx="779318" cy="7918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3098223" y="3778645"/>
            <a:ext cx="1253836" cy="9934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3337214" y="5097607"/>
            <a:ext cx="777586" cy="369332"/>
          </a:xfrm>
          <a:prstGeom prst="rect">
            <a:avLst/>
          </a:prstGeom>
          <a:noFill/>
        </p:spPr>
        <p:txBody>
          <a:bodyPr wrap="square" rtlCol="0">
            <a:spAutoFit/>
          </a:bodyPr>
          <a:lstStyle/>
          <a:p>
            <a:r>
              <a:rPr lang="en-US" dirty="0" smtClean="0"/>
              <a:t>users</a:t>
            </a:r>
            <a:endParaRPr lang="en-US" dirty="0"/>
          </a:p>
        </p:txBody>
      </p:sp>
      <p:sp>
        <p:nvSpPr>
          <p:cNvPr id="42" name="Curved Left Arrow 41"/>
          <p:cNvSpPr/>
          <p:nvPr/>
        </p:nvSpPr>
        <p:spPr>
          <a:xfrm rot="5400000">
            <a:off x="6163064" y="3406964"/>
            <a:ext cx="488371" cy="4293955"/>
          </a:xfrm>
          <a:prstGeom prst="curvedLef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TextBox 42"/>
          <p:cNvSpPr txBox="1"/>
          <p:nvPr/>
        </p:nvSpPr>
        <p:spPr>
          <a:xfrm>
            <a:off x="5174104" y="6053435"/>
            <a:ext cx="2725882" cy="461665"/>
          </a:xfrm>
          <a:prstGeom prst="rect">
            <a:avLst/>
          </a:prstGeom>
          <a:noFill/>
        </p:spPr>
        <p:txBody>
          <a:bodyPr wrap="square" rtlCol="0">
            <a:spAutoFit/>
          </a:bodyPr>
          <a:lstStyle/>
          <a:p>
            <a:pPr algn="ctr"/>
            <a:r>
              <a:rPr lang="en-US" sz="1200" dirty="0" smtClean="0"/>
              <a:t>Q1, Q2, Q3 RETURNED FAST – NO WATING</a:t>
            </a:r>
            <a:endParaRPr lang="en-US" sz="1200" dirty="0"/>
          </a:p>
        </p:txBody>
      </p:sp>
    </p:spTree>
    <p:extLst>
      <p:ext uri="{BB962C8B-B14F-4D97-AF65-F5344CB8AC3E}">
        <p14:creationId xmlns:p14="http://schemas.microsoft.com/office/powerpoint/2010/main" val="2320175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527"/>
            <a:ext cx="9144000" cy="633701"/>
          </a:xfrm>
        </p:spPr>
        <p:txBody>
          <a:bodyPr>
            <a:normAutofit/>
          </a:bodyPr>
          <a:lstStyle/>
          <a:p>
            <a:r>
              <a:rPr lang="en-US" sz="3600" dirty="0" smtClean="0"/>
              <a:t>What are wait statistics?</a:t>
            </a:r>
            <a:endParaRPr lang="en-US" sz="3600" dirty="0"/>
          </a:p>
        </p:txBody>
      </p:sp>
      <p:sp>
        <p:nvSpPr>
          <p:cNvPr id="3" name="Subtitle 2"/>
          <p:cNvSpPr>
            <a:spLocks noGrp="1"/>
          </p:cNvSpPr>
          <p:nvPr>
            <p:ph type="subTitle" idx="1"/>
          </p:nvPr>
        </p:nvSpPr>
        <p:spPr>
          <a:xfrm>
            <a:off x="1524000" y="966355"/>
            <a:ext cx="9144000" cy="5465618"/>
          </a:xfrm>
        </p:spPr>
        <p:txBody>
          <a:bodyPr>
            <a:normAutofit/>
          </a:bodyPr>
          <a:lstStyle/>
          <a:p>
            <a:pPr marL="285750" indent="-285750" algn="l">
              <a:buFont typeface="Arial" panose="020B0604020202020204" pitchFamily="34" charset="0"/>
              <a:buChar char="•"/>
            </a:pPr>
            <a:r>
              <a:rPr lang="en-US" sz="1800" dirty="0" smtClean="0"/>
              <a:t>However, on a very busy transactional database, where you have thousands of users requesting their query to be processed this can become an issue. As these requests ‘compete’ for the limited CPU resource, </a:t>
            </a:r>
            <a:r>
              <a:rPr lang="en-US" sz="1800" dirty="0" smtClean="0">
                <a:solidFill>
                  <a:srgbClr val="C00000"/>
                </a:solidFill>
              </a:rPr>
              <a:t>WAITING</a:t>
            </a:r>
            <a:r>
              <a:rPr lang="en-US" sz="1800" dirty="0" smtClean="0"/>
              <a:t> for the CPU to process the request can become an issue.  And the CPU can be taxed.  </a:t>
            </a:r>
          </a:p>
        </p:txBody>
      </p:sp>
      <p:sp>
        <p:nvSpPr>
          <p:cNvPr id="4" name="Rectangle 3"/>
          <p:cNvSpPr/>
          <p:nvPr/>
        </p:nvSpPr>
        <p:spPr>
          <a:xfrm>
            <a:off x="5150428" y="2867891"/>
            <a:ext cx="2234046" cy="1662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TextBox 4"/>
          <p:cNvSpPr txBox="1"/>
          <p:nvPr/>
        </p:nvSpPr>
        <p:spPr>
          <a:xfrm>
            <a:off x="8156864" y="3954288"/>
            <a:ext cx="955964" cy="369332"/>
          </a:xfrm>
          <a:prstGeom prst="rect">
            <a:avLst/>
          </a:prstGeom>
          <a:noFill/>
        </p:spPr>
        <p:txBody>
          <a:bodyPr wrap="square" rtlCol="0">
            <a:spAutoFit/>
          </a:bodyPr>
          <a:lstStyle/>
          <a:p>
            <a:r>
              <a:rPr lang="en-US" dirty="0">
                <a:solidFill>
                  <a:prstClr val="black"/>
                </a:solidFill>
              </a:rPr>
              <a:t>Query 6</a:t>
            </a:r>
          </a:p>
        </p:txBody>
      </p:sp>
      <p:sp>
        <p:nvSpPr>
          <p:cNvPr id="6" name="TextBox 5"/>
          <p:cNvSpPr txBox="1"/>
          <p:nvPr/>
        </p:nvSpPr>
        <p:spPr>
          <a:xfrm>
            <a:off x="3366654" y="2496189"/>
            <a:ext cx="955964" cy="369332"/>
          </a:xfrm>
          <a:prstGeom prst="rect">
            <a:avLst/>
          </a:prstGeom>
          <a:noFill/>
        </p:spPr>
        <p:txBody>
          <a:bodyPr wrap="square" rtlCol="0">
            <a:spAutoFit/>
          </a:bodyPr>
          <a:lstStyle/>
          <a:p>
            <a:r>
              <a:rPr lang="en-US" dirty="0">
                <a:solidFill>
                  <a:prstClr val="black"/>
                </a:solidFill>
              </a:rPr>
              <a:t>Query 1</a:t>
            </a:r>
          </a:p>
        </p:txBody>
      </p:sp>
      <p:sp>
        <p:nvSpPr>
          <p:cNvPr id="7" name="TextBox 6"/>
          <p:cNvSpPr txBox="1"/>
          <p:nvPr/>
        </p:nvSpPr>
        <p:spPr>
          <a:xfrm>
            <a:off x="5789469" y="5051258"/>
            <a:ext cx="955964" cy="369332"/>
          </a:xfrm>
          <a:prstGeom prst="rect">
            <a:avLst/>
          </a:prstGeom>
          <a:noFill/>
        </p:spPr>
        <p:txBody>
          <a:bodyPr wrap="square" rtlCol="0">
            <a:spAutoFit/>
          </a:bodyPr>
          <a:lstStyle/>
          <a:p>
            <a:r>
              <a:rPr lang="en-US" dirty="0">
                <a:solidFill>
                  <a:prstClr val="black"/>
                </a:solidFill>
              </a:rPr>
              <a:t>Query 4</a:t>
            </a:r>
          </a:p>
        </p:txBody>
      </p:sp>
      <p:sp>
        <p:nvSpPr>
          <p:cNvPr id="8" name="TextBox 7"/>
          <p:cNvSpPr txBox="1"/>
          <p:nvPr/>
        </p:nvSpPr>
        <p:spPr>
          <a:xfrm>
            <a:off x="8156864" y="2680855"/>
            <a:ext cx="955964" cy="369332"/>
          </a:xfrm>
          <a:prstGeom prst="rect">
            <a:avLst/>
          </a:prstGeom>
          <a:noFill/>
        </p:spPr>
        <p:txBody>
          <a:bodyPr wrap="square" rtlCol="0">
            <a:spAutoFit/>
          </a:bodyPr>
          <a:lstStyle/>
          <a:p>
            <a:r>
              <a:rPr lang="en-US" dirty="0">
                <a:solidFill>
                  <a:prstClr val="black"/>
                </a:solidFill>
              </a:rPr>
              <a:t>Query 3</a:t>
            </a:r>
          </a:p>
        </p:txBody>
      </p:sp>
      <p:sp>
        <p:nvSpPr>
          <p:cNvPr id="9" name="TextBox 8"/>
          <p:cNvSpPr txBox="1"/>
          <p:nvPr/>
        </p:nvSpPr>
        <p:spPr>
          <a:xfrm>
            <a:off x="3366654" y="4112522"/>
            <a:ext cx="955964" cy="369332"/>
          </a:xfrm>
          <a:prstGeom prst="rect">
            <a:avLst/>
          </a:prstGeom>
          <a:noFill/>
        </p:spPr>
        <p:txBody>
          <a:bodyPr wrap="square" rtlCol="0">
            <a:spAutoFit/>
          </a:bodyPr>
          <a:lstStyle/>
          <a:p>
            <a:r>
              <a:rPr lang="en-US" dirty="0">
                <a:solidFill>
                  <a:prstClr val="black"/>
                </a:solidFill>
              </a:rPr>
              <a:t>Query 5</a:t>
            </a:r>
          </a:p>
        </p:txBody>
      </p:sp>
      <p:sp>
        <p:nvSpPr>
          <p:cNvPr id="10" name="TextBox 9"/>
          <p:cNvSpPr txBox="1"/>
          <p:nvPr/>
        </p:nvSpPr>
        <p:spPr>
          <a:xfrm>
            <a:off x="5761759" y="1977737"/>
            <a:ext cx="955964" cy="369332"/>
          </a:xfrm>
          <a:prstGeom prst="rect">
            <a:avLst/>
          </a:prstGeom>
          <a:noFill/>
        </p:spPr>
        <p:txBody>
          <a:bodyPr wrap="square" rtlCol="0">
            <a:spAutoFit/>
          </a:bodyPr>
          <a:lstStyle/>
          <a:p>
            <a:r>
              <a:rPr lang="en-US" dirty="0">
                <a:solidFill>
                  <a:prstClr val="black"/>
                </a:solidFill>
              </a:rPr>
              <a:t>Query 2</a:t>
            </a:r>
          </a:p>
        </p:txBody>
      </p:sp>
      <p:sp>
        <p:nvSpPr>
          <p:cNvPr id="11" name="TextBox 10"/>
          <p:cNvSpPr txBox="1"/>
          <p:nvPr/>
        </p:nvSpPr>
        <p:spPr>
          <a:xfrm>
            <a:off x="5383358" y="3358451"/>
            <a:ext cx="1768186" cy="646331"/>
          </a:xfrm>
          <a:prstGeom prst="rect">
            <a:avLst/>
          </a:prstGeom>
          <a:noFill/>
        </p:spPr>
        <p:txBody>
          <a:bodyPr wrap="square" rtlCol="0">
            <a:spAutoFit/>
          </a:bodyPr>
          <a:lstStyle/>
          <a:p>
            <a:pPr algn="ctr"/>
            <a:r>
              <a:rPr lang="en-US" dirty="0">
                <a:solidFill>
                  <a:prstClr val="black"/>
                </a:solidFill>
              </a:rPr>
              <a:t>SINGLE OR MULTIPLE CPUS</a:t>
            </a:r>
          </a:p>
        </p:txBody>
      </p:sp>
      <p:cxnSp>
        <p:nvCxnSpPr>
          <p:cNvPr id="13" name="Straight Arrow Connector 12"/>
          <p:cNvCxnSpPr/>
          <p:nvPr/>
        </p:nvCxnSpPr>
        <p:spPr>
          <a:xfrm>
            <a:off x="4426527" y="2763982"/>
            <a:ext cx="581891" cy="286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267451" y="2496189"/>
            <a:ext cx="0" cy="257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7481455" y="2907084"/>
            <a:ext cx="529936" cy="262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7526484" y="4004782"/>
            <a:ext cx="370608" cy="292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4464628" y="4218709"/>
            <a:ext cx="543790" cy="78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0"/>
          </p:cNvCxnSpPr>
          <p:nvPr/>
        </p:nvCxnSpPr>
        <p:spPr>
          <a:xfrm flipV="1">
            <a:off x="6267451" y="4655127"/>
            <a:ext cx="0" cy="396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618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527"/>
            <a:ext cx="9144000" cy="633701"/>
          </a:xfrm>
        </p:spPr>
        <p:txBody>
          <a:bodyPr>
            <a:normAutofit/>
          </a:bodyPr>
          <a:lstStyle/>
          <a:p>
            <a:r>
              <a:rPr lang="en-US" sz="3600" dirty="0" smtClean="0"/>
              <a:t>What are wait statistics?</a:t>
            </a:r>
            <a:endParaRPr lang="en-US" sz="3600" dirty="0"/>
          </a:p>
        </p:txBody>
      </p:sp>
      <p:sp>
        <p:nvSpPr>
          <p:cNvPr id="3" name="Subtitle 2"/>
          <p:cNvSpPr>
            <a:spLocks noGrp="1"/>
          </p:cNvSpPr>
          <p:nvPr>
            <p:ph type="subTitle" idx="1"/>
          </p:nvPr>
        </p:nvSpPr>
        <p:spPr>
          <a:xfrm>
            <a:off x="1524000" y="966355"/>
            <a:ext cx="9144000" cy="5465618"/>
          </a:xfrm>
        </p:spPr>
        <p:txBody>
          <a:bodyPr>
            <a:normAutofit/>
          </a:bodyPr>
          <a:lstStyle/>
          <a:p>
            <a:pPr marL="285750" indent="-285750" algn="l">
              <a:buFont typeface="Arial" panose="020B0604020202020204" pitchFamily="34" charset="0"/>
              <a:buChar char="•"/>
            </a:pPr>
            <a:r>
              <a:rPr lang="en-US" sz="1800" dirty="0" smtClean="0"/>
              <a:t>Here we see queries waiting for the processor to execute the request.  There can be many factors causing this waiting, such as locking, poor index, badly designed query and more.</a:t>
            </a:r>
          </a:p>
        </p:txBody>
      </p:sp>
      <p:sp>
        <p:nvSpPr>
          <p:cNvPr id="4" name="Rectangle 3"/>
          <p:cNvSpPr/>
          <p:nvPr/>
        </p:nvSpPr>
        <p:spPr>
          <a:xfrm>
            <a:off x="5150428" y="2867891"/>
            <a:ext cx="2234046" cy="1662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TextBox 4"/>
          <p:cNvSpPr txBox="1"/>
          <p:nvPr/>
        </p:nvSpPr>
        <p:spPr>
          <a:xfrm>
            <a:off x="8156864" y="3954288"/>
            <a:ext cx="955964" cy="369332"/>
          </a:xfrm>
          <a:prstGeom prst="rect">
            <a:avLst/>
          </a:prstGeom>
          <a:noFill/>
        </p:spPr>
        <p:txBody>
          <a:bodyPr wrap="square" rtlCol="0">
            <a:spAutoFit/>
          </a:bodyPr>
          <a:lstStyle/>
          <a:p>
            <a:r>
              <a:rPr lang="en-US" dirty="0">
                <a:solidFill>
                  <a:prstClr val="black"/>
                </a:solidFill>
              </a:rPr>
              <a:t>Query 6</a:t>
            </a:r>
          </a:p>
        </p:txBody>
      </p:sp>
      <p:sp>
        <p:nvSpPr>
          <p:cNvPr id="6" name="TextBox 5"/>
          <p:cNvSpPr txBox="1"/>
          <p:nvPr/>
        </p:nvSpPr>
        <p:spPr>
          <a:xfrm>
            <a:off x="3366654" y="2496189"/>
            <a:ext cx="955964" cy="369332"/>
          </a:xfrm>
          <a:prstGeom prst="rect">
            <a:avLst/>
          </a:prstGeom>
          <a:noFill/>
        </p:spPr>
        <p:txBody>
          <a:bodyPr wrap="square" rtlCol="0">
            <a:spAutoFit/>
          </a:bodyPr>
          <a:lstStyle/>
          <a:p>
            <a:r>
              <a:rPr lang="en-US" dirty="0">
                <a:solidFill>
                  <a:prstClr val="black"/>
                </a:solidFill>
              </a:rPr>
              <a:t>Query 1</a:t>
            </a:r>
          </a:p>
        </p:txBody>
      </p:sp>
      <p:sp>
        <p:nvSpPr>
          <p:cNvPr id="7" name="TextBox 6"/>
          <p:cNvSpPr txBox="1"/>
          <p:nvPr/>
        </p:nvSpPr>
        <p:spPr>
          <a:xfrm>
            <a:off x="5789469" y="5051258"/>
            <a:ext cx="955964" cy="369332"/>
          </a:xfrm>
          <a:prstGeom prst="rect">
            <a:avLst/>
          </a:prstGeom>
          <a:noFill/>
        </p:spPr>
        <p:txBody>
          <a:bodyPr wrap="square" rtlCol="0">
            <a:spAutoFit/>
          </a:bodyPr>
          <a:lstStyle/>
          <a:p>
            <a:r>
              <a:rPr lang="en-US" dirty="0">
                <a:solidFill>
                  <a:prstClr val="black"/>
                </a:solidFill>
              </a:rPr>
              <a:t>Query 4</a:t>
            </a:r>
          </a:p>
        </p:txBody>
      </p:sp>
      <p:sp>
        <p:nvSpPr>
          <p:cNvPr id="8" name="TextBox 7"/>
          <p:cNvSpPr txBox="1"/>
          <p:nvPr/>
        </p:nvSpPr>
        <p:spPr>
          <a:xfrm>
            <a:off x="8156864" y="2680855"/>
            <a:ext cx="955964" cy="369332"/>
          </a:xfrm>
          <a:prstGeom prst="rect">
            <a:avLst/>
          </a:prstGeom>
          <a:noFill/>
        </p:spPr>
        <p:txBody>
          <a:bodyPr wrap="square" rtlCol="0">
            <a:spAutoFit/>
          </a:bodyPr>
          <a:lstStyle/>
          <a:p>
            <a:r>
              <a:rPr lang="en-US" dirty="0">
                <a:solidFill>
                  <a:prstClr val="black"/>
                </a:solidFill>
              </a:rPr>
              <a:t>Query 3</a:t>
            </a:r>
          </a:p>
        </p:txBody>
      </p:sp>
      <p:sp>
        <p:nvSpPr>
          <p:cNvPr id="9" name="TextBox 8"/>
          <p:cNvSpPr txBox="1"/>
          <p:nvPr/>
        </p:nvSpPr>
        <p:spPr>
          <a:xfrm>
            <a:off x="3366654" y="4112522"/>
            <a:ext cx="955964" cy="369332"/>
          </a:xfrm>
          <a:prstGeom prst="rect">
            <a:avLst/>
          </a:prstGeom>
          <a:noFill/>
        </p:spPr>
        <p:txBody>
          <a:bodyPr wrap="square" rtlCol="0">
            <a:spAutoFit/>
          </a:bodyPr>
          <a:lstStyle/>
          <a:p>
            <a:r>
              <a:rPr lang="en-US" dirty="0">
                <a:solidFill>
                  <a:prstClr val="black"/>
                </a:solidFill>
              </a:rPr>
              <a:t>Query 5</a:t>
            </a:r>
          </a:p>
        </p:txBody>
      </p:sp>
      <p:sp>
        <p:nvSpPr>
          <p:cNvPr id="10" name="TextBox 9"/>
          <p:cNvSpPr txBox="1"/>
          <p:nvPr/>
        </p:nvSpPr>
        <p:spPr>
          <a:xfrm>
            <a:off x="5761759" y="1977737"/>
            <a:ext cx="955964" cy="369332"/>
          </a:xfrm>
          <a:prstGeom prst="rect">
            <a:avLst/>
          </a:prstGeom>
          <a:noFill/>
        </p:spPr>
        <p:txBody>
          <a:bodyPr wrap="square" rtlCol="0">
            <a:spAutoFit/>
          </a:bodyPr>
          <a:lstStyle/>
          <a:p>
            <a:r>
              <a:rPr lang="en-US" dirty="0">
                <a:solidFill>
                  <a:prstClr val="black"/>
                </a:solidFill>
              </a:rPr>
              <a:t>Query 2</a:t>
            </a:r>
          </a:p>
        </p:txBody>
      </p:sp>
      <p:sp>
        <p:nvSpPr>
          <p:cNvPr id="11" name="TextBox 10"/>
          <p:cNvSpPr txBox="1"/>
          <p:nvPr/>
        </p:nvSpPr>
        <p:spPr>
          <a:xfrm>
            <a:off x="5383358" y="3358451"/>
            <a:ext cx="1768186" cy="646331"/>
          </a:xfrm>
          <a:prstGeom prst="rect">
            <a:avLst/>
          </a:prstGeom>
          <a:noFill/>
        </p:spPr>
        <p:txBody>
          <a:bodyPr wrap="square" rtlCol="0">
            <a:spAutoFit/>
          </a:bodyPr>
          <a:lstStyle/>
          <a:p>
            <a:pPr algn="ctr"/>
            <a:r>
              <a:rPr lang="en-US" dirty="0">
                <a:solidFill>
                  <a:prstClr val="black"/>
                </a:solidFill>
              </a:rPr>
              <a:t>SINGLE OR MULTIPLE CPUS</a:t>
            </a:r>
          </a:p>
        </p:txBody>
      </p:sp>
      <p:cxnSp>
        <p:nvCxnSpPr>
          <p:cNvPr id="13" name="Straight Arrow Connector 12"/>
          <p:cNvCxnSpPr/>
          <p:nvPr/>
        </p:nvCxnSpPr>
        <p:spPr>
          <a:xfrm>
            <a:off x="4426527" y="2763982"/>
            <a:ext cx="581891" cy="286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267451" y="2496189"/>
            <a:ext cx="0" cy="257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7481455" y="2907084"/>
            <a:ext cx="529936" cy="262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7526484" y="4004782"/>
            <a:ext cx="370608" cy="292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4464628" y="4218709"/>
            <a:ext cx="543790" cy="784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0"/>
          </p:cNvCxnSpPr>
          <p:nvPr/>
        </p:nvCxnSpPr>
        <p:spPr>
          <a:xfrm flipV="1">
            <a:off x="6267451" y="4655127"/>
            <a:ext cx="0" cy="3961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946198" y="2278890"/>
            <a:ext cx="642506" cy="250659"/>
          </a:xfrm>
          <a:prstGeom prst="rect">
            <a:avLst/>
          </a:prstGeom>
          <a:noFill/>
        </p:spPr>
        <p:txBody>
          <a:bodyPr wrap="square" rtlCol="0">
            <a:spAutoFit/>
          </a:bodyPr>
          <a:lstStyle/>
          <a:p>
            <a:r>
              <a:rPr lang="en-US" sz="1000" dirty="0" smtClean="0">
                <a:solidFill>
                  <a:srgbClr val="C00000"/>
                </a:solidFill>
              </a:rPr>
              <a:t>waiting</a:t>
            </a:r>
            <a:endParaRPr lang="en-US" sz="1000" dirty="0">
              <a:solidFill>
                <a:srgbClr val="C00000"/>
              </a:solidFill>
            </a:endParaRPr>
          </a:p>
        </p:txBody>
      </p:sp>
      <p:sp>
        <p:nvSpPr>
          <p:cNvPr id="20" name="TextBox 19"/>
          <p:cNvSpPr txBox="1"/>
          <p:nvPr/>
        </p:nvSpPr>
        <p:spPr>
          <a:xfrm>
            <a:off x="5947066" y="5378387"/>
            <a:ext cx="642506" cy="250659"/>
          </a:xfrm>
          <a:prstGeom prst="rect">
            <a:avLst/>
          </a:prstGeom>
          <a:noFill/>
        </p:spPr>
        <p:txBody>
          <a:bodyPr wrap="square" rtlCol="0">
            <a:spAutoFit/>
          </a:bodyPr>
          <a:lstStyle/>
          <a:p>
            <a:r>
              <a:rPr lang="en-US" sz="1000" dirty="0" smtClean="0">
                <a:solidFill>
                  <a:srgbClr val="C00000"/>
                </a:solidFill>
              </a:rPr>
              <a:t>waiting</a:t>
            </a:r>
            <a:endParaRPr lang="en-US" sz="1000" dirty="0">
              <a:solidFill>
                <a:srgbClr val="C00000"/>
              </a:solidFill>
            </a:endParaRPr>
          </a:p>
        </p:txBody>
      </p:sp>
      <p:sp>
        <p:nvSpPr>
          <p:cNvPr id="22" name="TextBox 21"/>
          <p:cNvSpPr txBox="1"/>
          <p:nvPr/>
        </p:nvSpPr>
        <p:spPr>
          <a:xfrm>
            <a:off x="8313593" y="4259497"/>
            <a:ext cx="642506" cy="250659"/>
          </a:xfrm>
          <a:prstGeom prst="rect">
            <a:avLst/>
          </a:prstGeom>
          <a:noFill/>
        </p:spPr>
        <p:txBody>
          <a:bodyPr wrap="square" rtlCol="0">
            <a:spAutoFit/>
          </a:bodyPr>
          <a:lstStyle/>
          <a:p>
            <a:r>
              <a:rPr lang="en-US" sz="1000" dirty="0" smtClean="0">
                <a:solidFill>
                  <a:srgbClr val="C00000"/>
                </a:solidFill>
              </a:rPr>
              <a:t>waiting</a:t>
            </a:r>
            <a:endParaRPr lang="en-US" sz="1000" dirty="0">
              <a:solidFill>
                <a:srgbClr val="C00000"/>
              </a:solidFill>
            </a:endParaRPr>
          </a:p>
        </p:txBody>
      </p:sp>
      <p:sp>
        <p:nvSpPr>
          <p:cNvPr id="24" name="TextBox 23"/>
          <p:cNvSpPr txBox="1"/>
          <p:nvPr/>
        </p:nvSpPr>
        <p:spPr>
          <a:xfrm>
            <a:off x="3523383" y="4481854"/>
            <a:ext cx="642506" cy="250659"/>
          </a:xfrm>
          <a:prstGeom prst="rect">
            <a:avLst/>
          </a:prstGeom>
          <a:noFill/>
        </p:spPr>
        <p:txBody>
          <a:bodyPr wrap="square" rtlCol="0">
            <a:spAutoFit/>
          </a:bodyPr>
          <a:lstStyle/>
          <a:p>
            <a:r>
              <a:rPr lang="en-US" sz="1000" dirty="0" smtClean="0">
                <a:solidFill>
                  <a:srgbClr val="C00000"/>
                </a:solidFill>
              </a:rPr>
              <a:t>waiting</a:t>
            </a:r>
            <a:endParaRPr lang="en-US" sz="1000" dirty="0">
              <a:solidFill>
                <a:srgbClr val="C00000"/>
              </a:solidFill>
            </a:endParaRPr>
          </a:p>
        </p:txBody>
      </p:sp>
      <p:sp>
        <p:nvSpPr>
          <p:cNvPr id="25" name="TextBox 24"/>
          <p:cNvSpPr txBox="1"/>
          <p:nvPr/>
        </p:nvSpPr>
        <p:spPr>
          <a:xfrm>
            <a:off x="8301474" y="3007984"/>
            <a:ext cx="642506" cy="250659"/>
          </a:xfrm>
          <a:prstGeom prst="rect">
            <a:avLst/>
          </a:prstGeom>
          <a:noFill/>
        </p:spPr>
        <p:txBody>
          <a:bodyPr wrap="square" rtlCol="0">
            <a:spAutoFit/>
          </a:bodyPr>
          <a:lstStyle/>
          <a:p>
            <a:r>
              <a:rPr lang="en-US" sz="1000" dirty="0" smtClean="0">
                <a:solidFill>
                  <a:srgbClr val="C00000"/>
                </a:solidFill>
              </a:rPr>
              <a:t>waiting</a:t>
            </a:r>
            <a:endParaRPr lang="en-US" sz="1000" dirty="0">
              <a:solidFill>
                <a:srgbClr val="C00000"/>
              </a:solidFill>
            </a:endParaRPr>
          </a:p>
        </p:txBody>
      </p:sp>
    </p:spTree>
    <p:extLst>
      <p:ext uri="{BB962C8B-B14F-4D97-AF65-F5344CB8AC3E}">
        <p14:creationId xmlns:p14="http://schemas.microsoft.com/office/powerpoint/2010/main" val="4228699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7182"/>
            <a:ext cx="9144000" cy="446664"/>
          </a:xfrm>
        </p:spPr>
        <p:txBody>
          <a:bodyPr>
            <a:normAutofit/>
          </a:bodyPr>
          <a:lstStyle/>
          <a:p>
            <a:r>
              <a:rPr lang="en-US" sz="2400" dirty="0" smtClean="0"/>
              <a:t>What are wait statistics?</a:t>
            </a:r>
            <a:endParaRPr lang="en-US" sz="2400" dirty="0"/>
          </a:p>
        </p:txBody>
      </p:sp>
      <p:sp>
        <p:nvSpPr>
          <p:cNvPr id="3" name="Subtitle 2"/>
          <p:cNvSpPr>
            <a:spLocks noGrp="1"/>
          </p:cNvSpPr>
          <p:nvPr>
            <p:ph type="subTitle" idx="1"/>
          </p:nvPr>
        </p:nvSpPr>
        <p:spPr>
          <a:xfrm>
            <a:off x="1524000" y="633846"/>
            <a:ext cx="9144000" cy="1122218"/>
          </a:xfrm>
        </p:spPr>
        <p:txBody>
          <a:bodyPr>
            <a:normAutofit/>
          </a:bodyPr>
          <a:lstStyle/>
          <a:p>
            <a:pPr algn="l"/>
            <a:r>
              <a:rPr lang="en-US" sz="1800" dirty="0" smtClean="0"/>
              <a:t>As seen on previous slide, every time an applications sends a request to the CPU for processing, the query always has to wait. This waiting can be tracked by wait statistics. (Generally this wait time is 4 ms).  The best way to demonstrate this wait process is via the diagram below.  As you can see, there are three states that a query can be in: Running, Suspended, and Runnable</a:t>
            </a:r>
            <a:endParaRPr lang="en-US" sz="1800" dirty="0"/>
          </a:p>
        </p:txBody>
      </p:sp>
      <p:sp>
        <p:nvSpPr>
          <p:cNvPr id="4" name="Rounded Rectangle 3"/>
          <p:cNvSpPr/>
          <p:nvPr/>
        </p:nvSpPr>
        <p:spPr>
          <a:xfrm>
            <a:off x="5070765" y="2202728"/>
            <a:ext cx="1278081" cy="706582"/>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854536" y="4163291"/>
            <a:ext cx="1278081" cy="706582"/>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328556" y="4163291"/>
            <a:ext cx="1278081" cy="706582"/>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231823" y="2371353"/>
            <a:ext cx="955964" cy="369332"/>
          </a:xfrm>
          <a:prstGeom prst="rect">
            <a:avLst/>
          </a:prstGeom>
          <a:noFill/>
        </p:spPr>
        <p:txBody>
          <a:bodyPr wrap="square" rtlCol="0">
            <a:spAutoFit/>
          </a:bodyPr>
          <a:lstStyle/>
          <a:p>
            <a:r>
              <a:rPr lang="en-US" dirty="0"/>
              <a:t>R</a:t>
            </a:r>
            <a:r>
              <a:rPr lang="en-US" dirty="0" smtClean="0"/>
              <a:t>unning</a:t>
            </a:r>
            <a:endParaRPr lang="en-US" dirty="0"/>
          </a:p>
        </p:txBody>
      </p:sp>
      <p:sp>
        <p:nvSpPr>
          <p:cNvPr id="8" name="TextBox 7"/>
          <p:cNvSpPr txBox="1"/>
          <p:nvPr/>
        </p:nvSpPr>
        <p:spPr>
          <a:xfrm>
            <a:off x="6854536" y="4331916"/>
            <a:ext cx="1250372" cy="369332"/>
          </a:xfrm>
          <a:prstGeom prst="rect">
            <a:avLst/>
          </a:prstGeom>
          <a:noFill/>
        </p:spPr>
        <p:txBody>
          <a:bodyPr wrap="square" rtlCol="0">
            <a:spAutoFit/>
          </a:bodyPr>
          <a:lstStyle/>
          <a:p>
            <a:r>
              <a:rPr lang="en-US" dirty="0" smtClean="0"/>
              <a:t>Suspended</a:t>
            </a:r>
            <a:endParaRPr lang="en-US" dirty="0"/>
          </a:p>
        </p:txBody>
      </p:sp>
      <p:sp>
        <p:nvSpPr>
          <p:cNvPr id="9" name="TextBox 8"/>
          <p:cNvSpPr txBox="1"/>
          <p:nvPr/>
        </p:nvSpPr>
        <p:spPr>
          <a:xfrm>
            <a:off x="3432464" y="4331916"/>
            <a:ext cx="1188027" cy="369332"/>
          </a:xfrm>
          <a:prstGeom prst="rect">
            <a:avLst/>
          </a:prstGeom>
          <a:noFill/>
        </p:spPr>
        <p:txBody>
          <a:bodyPr wrap="square" rtlCol="0">
            <a:spAutoFit/>
          </a:bodyPr>
          <a:lstStyle/>
          <a:p>
            <a:r>
              <a:rPr lang="en-US" dirty="0" smtClean="0"/>
              <a:t>Runnable</a:t>
            </a:r>
            <a:endParaRPr lang="en-US" dirty="0"/>
          </a:p>
        </p:txBody>
      </p:sp>
      <p:cxnSp>
        <p:nvCxnSpPr>
          <p:cNvPr id="11" name="Straight Arrow Connector 10"/>
          <p:cNvCxnSpPr/>
          <p:nvPr/>
        </p:nvCxnSpPr>
        <p:spPr>
          <a:xfrm>
            <a:off x="6431973" y="3106882"/>
            <a:ext cx="1047749" cy="904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070765" y="4516582"/>
            <a:ext cx="13612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967596" y="3106882"/>
            <a:ext cx="957695" cy="696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919230" y="1731911"/>
            <a:ext cx="1664277" cy="369332"/>
          </a:xfrm>
          <a:prstGeom prst="rect">
            <a:avLst/>
          </a:prstGeom>
          <a:noFill/>
        </p:spPr>
        <p:txBody>
          <a:bodyPr wrap="square" rtlCol="0">
            <a:spAutoFit/>
          </a:bodyPr>
          <a:lstStyle/>
          <a:p>
            <a:r>
              <a:rPr lang="en-US" dirty="0" smtClean="0">
                <a:solidFill>
                  <a:srgbClr val="C00000"/>
                </a:solidFill>
              </a:rPr>
              <a:t>Path of a query</a:t>
            </a:r>
            <a:endParaRPr lang="en-US" dirty="0">
              <a:solidFill>
                <a:srgbClr val="C00000"/>
              </a:solidFill>
            </a:endParaRPr>
          </a:p>
        </p:txBody>
      </p:sp>
      <p:sp>
        <p:nvSpPr>
          <p:cNvPr id="17" name="TextBox 16"/>
          <p:cNvSpPr txBox="1"/>
          <p:nvPr/>
        </p:nvSpPr>
        <p:spPr>
          <a:xfrm>
            <a:off x="1524000" y="2232853"/>
            <a:ext cx="2213264" cy="646331"/>
          </a:xfrm>
          <a:prstGeom prst="rect">
            <a:avLst/>
          </a:prstGeom>
          <a:noFill/>
          <a:ln>
            <a:solidFill>
              <a:schemeClr val="tx1"/>
            </a:solidFill>
          </a:ln>
        </p:spPr>
        <p:txBody>
          <a:bodyPr wrap="square" rtlCol="0">
            <a:spAutoFit/>
          </a:bodyPr>
          <a:lstStyle/>
          <a:p>
            <a:pPr algn="ctr"/>
            <a:r>
              <a:rPr lang="en-US" dirty="0" smtClean="0"/>
              <a:t>Query: Select Fn from names</a:t>
            </a:r>
            <a:endParaRPr lang="en-US" dirty="0"/>
          </a:p>
        </p:txBody>
      </p:sp>
      <p:cxnSp>
        <p:nvCxnSpPr>
          <p:cNvPr id="19" name="Straight Arrow Connector 18"/>
          <p:cNvCxnSpPr/>
          <p:nvPr/>
        </p:nvCxnSpPr>
        <p:spPr>
          <a:xfrm>
            <a:off x="4044662" y="2556019"/>
            <a:ext cx="7143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62446" y="5245269"/>
            <a:ext cx="10245436" cy="1169551"/>
          </a:xfrm>
          <a:prstGeom prst="rect">
            <a:avLst/>
          </a:prstGeom>
          <a:noFill/>
        </p:spPr>
        <p:txBody>
          <a:bodyPr wrap="square" rtlCol="0">
            <a:spAutoFit/>
          </a:bodyPr>
          <a:lstStyle/>
          <a:p>
            <a:pPr marL="342900" indent="-342900">
              <a:buAutoNum type="arabicPeriod"/>
            </a:pPr>
            <a:r>
              <a:rPr lang="en-US" sz="1400" dirty="0" smtClean="0"/>
              <a:t>When a query is being processes by the CPU it is said to be in a </a:t>
            </a:r>
            <a:r>
              <a:rPr lang="en-US" sz="1400" b="1" dirty="0" smtClean="0"/>
              <a:t>running</a:t>
            </a:r>
            <a:r>
              <a:rPr lang="en-US" sz="1400" dirty="0" smtClean="0"/>
              <a:t> state. (Ideal position)</a:t>
            </a:r>
          </a:p>
          <a:p>
            <a:pPr marL="342900" indent="-342900">
              <a:buAutoNum type="arabicPeriod"/>
            </a:pPr>
            <a:r>
              <a:rPr lang="en-US" sz="1400" dirty="0" smtClean="0"/>
              <a:t>If there is a lock on the query or a missing resource the query needs, then the query moves to a state </a:t>
            </a:r>
            <a:r>
              <a:rPr lang="en-US" sz="1400" b="1" dirty="0"/>
              <a:t>s</a:t>
            </a:r>
            <a:r>
              <a:rPr lang="en-US" sz="1400" b="1" dirty="0" smtClean="0"/>
              <a:t>uspended</a:t>
            </a:r>
            <a:r>
              <a:rPr lang="en-US" sz="1400" dirty="0" smtClean="0"/>
              <a:t> and moves to the queue for waiting for the resource to be obtained</a:t>
            </a:r>
          </a:p>
          <a:p>
            <a:pPr marL="342900" indent="-342900">
              <a:buAutoNum type="arabicPeriod"/>
            </a:pPr>
            <a:r>
              <a:rPr lang="en-US" sz="1400" dirty="0" smtClean="0"/>
              <a:t>When the missing resource the query needs is provided (lock is removed) it goes into </a:t>
            </a:r>
            <a:r>
              <a:rPr lang="en-US" sz="1400" b="1" dirty="0" smtClean="0"/>
              <a:t>runnable</a:t>
            </a:r>
            <a:r>
              <a:rPr lang="en-US" sz="1400" dirty="0" smtClean="0"/>
              <a:t> state, and the entire cycle repeats for query and all other queries</a:t>
            </a:r>
            <a:endParaRPr lang="en-US" sz="1400" dirty="0"/>
          </a:p>
        </p:txBody>
      </p:sp>
      <p:sp>
        <p:nvSpPr>
          <p:cNvPr id="21" name="TextBox 20"/>
          <p:cNvSpPr txBox="1"/>
          <p:nvPr/>
        </p:nvSpPr>
        <p:spPr>
          <a:xfrm>
            <a:off x="4291445" y="2101243"/>
            <a:ext cx="315192" cy="369332"/>
          </a:xfrm>
          <a:prstGeom prst="rect">
            <a:avLst/>
          </a:prstGeom>
          <a:noFill/>
        </p:spPr>
        <p:txBody>
          <a:bodyPr wrap="square" rtlCol="0">
            <a:spAutoFit/>
          </a:bodyPr>
          <a:lstStyle/>
          <a:p>
            <a:r>
              <a:rPr lang="en-US" dirty="0" smtClean="0"/>
              <a:t>1</a:t>
            </a:r>
            <a:endParaRPr lang="en-US" dirty="0"/>
          </a:p>
        </p:txBody>
      </p:sp>
      <p:sp>
        <p:nvSpPr>
          <p:cNvPr id="22" name="TextBox 21"/>
          <p:cNvSpPr txBox="1"/>
          <p:nvPr/>
        </p:nvSpPr>
        <p:spPr>
          <a:xfrm>
            <a:off x="8416634" y="4331916"/>
            <a:ext cx="315192" cy="369332"/>
          </a:xfrm>
          <a:prstGeom prst="rect">
            <a:avLst/>
          </a:prstGeom>
          <a:noFill/>
        </p:spPr>
        <p:txBody>
          <a:bodyPr wrap="square" rtlCol="0">
            <a:spAutoFit/>
          </a:bodyPr>
          <a:lstStyle/>
          <a:p>
            <a:r>
              <a:rPr lang="en-US" dirty="0"/>
              <a:t>2</a:t>
            </a:r>
          </a:p>
        </p:txBody>
      </p:sp>
      <p:sp>
        <p:nvSpPr>
          <p:cNvPr id="23" name="TextBox 22"/>
          <p:cNvSpPr txBox="1"/>
          <p:nvPr/>
        </p:nvSpPr>
        <p:spPr>
          <a:xfrm>
            <a:off x="2729347" y="4321380"/>
            <a:ext cx="315192" cy="369332"/>
          </a:xfrm>
          <a:prstGeom prst="rect">
            <a:avLst/>
          </a:prstGeom>
          <a:noFill/>
        </p:spPr>
        <p:txBody>
          <a:bodyPr wrap="square" rtlCol="0">
            <a:spAutoFit/>
          </a:bodyPr>
          <a:lstStyle/>
          <a:p>
            <a:r>
              <a:rPr lang="en-US" dirty="0"/>
              <a:t>3</a:t>
            </a:r>
          </a:p>
        </p:txBody>
      </p:sp>
      <p:sp>
        <p:nvSpPr>
          <p:cNvPr id="24" name="TextBox 23"/>
          <p:cNvSpPr txBox="1"/>
          <p:nvPr/>
        </p:nvSpPr>
        <p:spPr>
          <a:xfrm>
            <a:off x="7138555" y="3198260"/>
            <a:ext cx="633845" cy="276999"/>
          </a:xfrm>
          <a:prstGeom prst="rect">
            <a:avLst/>
          </a:prstGeom>
          <a:noFill/>
        </p:spPr>
        <p:txBody>
          <a:bodyPr wrap="square" rtlCol="0">
            <a:spAutoFit/>
          </a:bodyPr>
          <a:lstStyle/>
          <a:p>
            <a:r>
              <a:rPr lang="en-US" sz="1200" dirty="0" smtClean="0"/>
              <a:t>Lock</a:t>
            </a:r>
            <a:endParaRPr lang="en-US" sz="1200" dirty="0"/>
          </a:p>
        </p:txBody>
      </p:sp>
      <p:sp>
        <p:nvSpPr>
          <p:cNvPr id="25" name="TextBox 24"/>
          <p:cNvSpPr txBox="1"/>
          <p:nvPr/>
        </p:nvSpPr>
        <p:spPr>
          <a:xfrm>
            <a:off x="5278584" y="4614980"/>
            <a:ext cx="1117024" cy="276999"/>
          </a:xfrm>
          <a:prstGeom prst="rect">
            <a:avLst/>
          </a:prstGeom>
          <a:noFill/>
        </p:spPr>
        <p:txBody>
          <a:bodyPr wrap="square" rtlCol="0">
            <a:spAutoFit/>
          </a:bodyPr>
          <a:lstStyle/>
          <a:p>
            <a:r>
              <a:rPr lang="en-US" sz="1200" dirty="0" smtClean="0"/>
              <a:t>Lock removed</a:t>
            </a:r>
            <a:endParaRPr lang="en-US" sz="1200" dirty="0"/>
          </a:p>
        </p:txBody>
      </p:sp>
    </p:spTree>
    <p:extLst>
      <p:ext uri="{BB962C8B-B14F-4D97-AF65-F5344CB8AC3E}">
        <p14:creationId xmlns:p14="http://schemas.microsoft.com/office/powerpoint/2010/main" val="3820287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22263"/>
            <a:ext cx="9144000" cy="560964"/>
          </a:xfrm>
        </p:spPr>
        <p:txBody>
          <a:bodyPr>
            <a:normAutofit/>
          </a:bodyPr>
          <a:lstStyle/>
          <a:p>
            <a:r>
              <a:rPr lang="en-US" sz="2800" dirty="0" smtClean="0"/>
              <a:t>DMVs to view the wait statistics</a:t>
            </a:r>
            <a:endParaRPr lang="en-US" sz="2800" dirty="0"/>
          </a:p>
        </p:txBody>
      </p:sp>
      <p:sp>
        <p:nvSpPr>
          <p:cNvPr id="3" name="Subtitle 2"/>
          <p:cNvSpPr>
            <a:spLocks noGrp="1"/>
          </p:cNvSpPr>
          <p:nvPr>
            <p:ph type="subTitle" idx="1"/>
          </p:nvPr>
        </p:nvSpPr>
        <p:spPr>
          <a:xfrm>
            <a:off x="1524000" y="1690110"/>
            <a:ext cx="8681605" cy="5012026"/>
          </a:xfrm>
        </p:spPr>
        <p:txBody>
          <a:bodyPr>
            <a:normAutofit fontScale="62500" lnSpcReduction="20000"/>
          </a:bodyPr>
          <a:lstStyle/>
          <a:p>
            <a:pPr algn="l"/>
            <a:r>
              <a:rPr lang="en-US" sz="3800" dirty="0" smtClean="0"/>
              <a:t>If the query is forced to wait for a resource, SQL Server records that wait stats and wait types.  There are many wait types and the following link will help you understand the types:</a:t>
            </a:r>
          </a:p>
          <a:p>
            <a:pPr algn="l"/>
            <a:endParaRPr lang="en-US" sz="3800" dirty="0" smtClean="0"/>
          </a:p>
          <a:p>
            <a:pPr algn="l"/>
            <a:r>
              <a:rPr lang="en-US" sz="3800" dirty="0" smtClean="0">
                <a:hlinkClick r:id="rId2"/>
              </a:rPr>
              <a:t>https://docs.microsoft.com/en-us/sql/relational-databases/system-dynamic-management-views/sys-dm-os-wait-stats-transact-sql</a:t>
            </a:r>
            <a:endParaRPr lang="en-US" sz="3800" dirty="0" smtClean="0"/>
          </a:p>
          <a:p>
            <a:pPr algn="l"/>
            <a:endParaRPr lang="en-US" sz="3800" dirty="0" smtClean="0"/>
          </a:p>
          <a:p>
            <a:pPr algn="l"/>
            <a:r>
              <a:rPr lang="en-US" sz="3800" dirty="0" smtClean="0"/>
              <a:t>We can view the wait statistics by examining the following DMVs:</a:t>
            </a:r>
          </a:p>
          <a:p>
            <a:pPr marL="571500" indent="-571500" algn="l">
              <a:buFont typeface="Arial" panose="020B0604020202020204" pitchFamily="34" charset="0"/>
              <a:buChar char="•"/>
            </a:pPr>
            <a:endParaRPr lang="en-US" sz="3800" dirty="0" smtClean="0"/>
          </a:p>
          <a:p>
            <a:pPr marL="571500" indent="-571500" algn="l">
              <a:buFont typeface="Arial" panose="020B0604020202020204" pitchFamily="34" charset="0"/>
              <a:buChar char="•"/>
            </a:pPr>
            <a:r>
              <a:rPr kumimoji="0" lang="en-US" altLang="en-US" sz="3800" b="0" i="0" u="none" strike="noStrike" cap="none" normalizeH="0" baseline="0" dirty="0" smtClean="0">
                <a:ln>
                  <a:noFill/>
                </a:ln>
                <a:effectLst/>
              </a:rPr>
              <a:t>Select * from sys.dm_os_wait_stats</a:t>
            </a:r>
          </a:p>
          <a:p>
            <a:pPr marL="571500" indent="-571500" algn="l">
              <a:buFont typeface="Arial" panose="020B0604020202020204" pitchFamily="34" charset="0"/>
              <a:buChar char="•"/>
            </a:pPr>
            <a:r>
              <a:rPr kumimoji="0" lang="en-US" altLang="en-US" sz="3800" b="0" i="0" u="none" strike="noStrike" cap="none" normalizeH="0" baseline="0" dirty="0" smtClean="0">
                <a:ln>
                  <a:noFill/>
                </a:ln>
                <a:effectLst/>
              </a:rPr>
              <a:t>Select * from </a:t>
            </a:r>
            <a:r>
              <a:rPr lang="en-US" sz="3800" dirty="0" smtClean="0">
                <a:effectLst/>
              </a:rPr>
              <a:t>sys.dm_os_waiting_tasks</a:t>
            </a:r>
          </a:p>
          <a:p>
            <a:pPr marL="571500" indent="-571500" algn="l">
              <a:buFont typeface="Arial" panose="020B0604020202020204" pitchFamily="34" charset="0"/>
              <a:buChar char="•"/>
            </a:pPr>
            <a:r>
              <a:rPr kumimoji="0" lang="en-US" altLang="en-US" sz="3800" b="0" i="0" u="none" strike="noStrike" cap="none" normalizeH="0" baseline="0" dirty="0" smtClean="0">
                <a:ln>
                  <a:noFill/>
                </a:ln>
                <a:effectLst/>
              </a:rPr>
              <a:t>Select * from </a:t>
            </a:r>
            <a:r>
              <a:rPr lang="en-US" sz="3800" dirty="0" smtClean="0">
                <a:effectLst/>
              </a:rPr>
              <a:t>sys.dm_exec_requests</a:t>
            </a:r>
          </a:p>
        </p:txBody>
      </p:sp>
      <p:sp>
        <p:nvSpPr>
          <p:cNvPr id="5" name="Rectangle 2"/>
          <p:cNvSpPr>
            <a:spLocks noChangeArrowheads="1"/>
          </p:cNvSpPr>
          <p:nvPr/>
        </p:nvSpPr>
        <p:spPr bwMode="auto">
          <a:xfrm>
            <a:off x="1524000" y="4641911"/>
            <a:ext cx="299258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t"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808080"/>
                </a:solidFill>
                <a:effectLst/>
                <a:latin typeface="Arial Unicode MS" panose="020B0604020202020204" pitchFamily="34" charset="-128"/>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923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9527"/>
            <a:ext cx="9144000" cy="841519"/>
          </a:xfrm>
        </p:spPr>
        <p:txBody>
          <a:bodyPr>
            <a:normAutofit/>
          </a:bodyPr>
          <a:lstStyle/>
          <a:p>
            <a:r>
              <a:rPr lang="en-US" sz="4800" dirty="0" smtClean="0"/>
              <a:t>Wait types</a:t>
            </a:r>
            <a:endParaRPr lang="en-US" sz="4800" dirty="0"/>
          </a:p>
        </p:txBody>
      </p:sp>
      <p:sp>
        <p:nvSpPr>
          <p:cNvPr id="3" name="Subtitle 2"/>
          <p:cNvSpPr>
            <a:spLocks noGrp="1"/>
          </p:cNvSpPr>
          <p:nvPr>
            <p:ph type="subTitle" idx="1"/>
          </p:nvPr>
        </p:nvSpPr>
        <p:spPr>
          <a:xfrm>
            <a:off x="1524000" y="1091046"/>
            <a:ext cx="9144000" cy="5766953"/>
          </a:xfrm>
        </p:spPr>
        <p:txBody>
          <a:bodyPr>
            <a:normAutofit/>
          </a:bodyPr>
          <a:lstStyle/>
          <a:p>
            <a:r>
              <a:rPr lang="en-US" sz="1800" dirty="0" smtClean="0">
                <a:effectLst/>
              </a:rPr>
              <a:t>Commonly encountered wait types include:</a:t>
            </a:r>
          </a:p>
          <a:p>
            <a:pPr algn="l"/>
            <a:r>
              <a:rPr lang="en-US" sz="1800" dirty="0" smtClean="0">
                <a:effectLst/>
              </a:rPr>
              <a:t>         </a:t>
            </a:r>
            <a:r>
              <a:rPr lang="en-US" sz="1800" b="1" dirty="0" smtClean="0">
                <a:effectLst/>
              </a:rPr>
              <a:t>ASYNC_NETWORK_IO</a:t>
            </a:r>
          </a:p>
          <a:p>
            <a:pPr lvl="2" algn="l"/>
            <a:r>
              <a:rPr lang="en-US" dirty="0"/>
              <a:t>SQL Server holds data in the output buffer until it receives an acknowledgement from the client that it has finished consuming that data. ASYNC_NETWORK_IO is an indication that your client application is not able to efficiently retrieve the data it needs from the system. You may also see this wait if there are fundamental issues with your network, which can lead to long waits while the data is processed by the client and then signals returned back to the server. </a:t>
            </a:r>
          </a:p>
          <a:p>
            <a:pPr lvl="1" algn="l"/>
            <a:r>
              <a:rPr lang="en-US" b="1" dirty="0" smtClean="0">
                <a:effectLst/>
              </a:rPr>
              <a:t>CXPACKET</a:t>
            </a:r>
          </a:p>
          <a:p>
            <a:pPr lvl="2" algn="l"/>
            <a:r>
              <a:rPr lang="en-US" dirty="0" smtClean="0">
                <a:effectLst/>
              </a:rPr>
              <a:t>This wait type is involved in parallel query execution, and indicates that the SPID is waiting on a parallel process to complete or start. </a:t>
            </a:r>
          </a:p>
          <a:p>
            <a:pPr algn="l"/>
            <a:r>
              <a:rPr lang="en-US" sz="1800" b="1" dirty="0" smtClean="0">
                <a:effectLst/>
              </a:rPr>
              <a:t>         OLEDB</a:t>
            </a:r>
          </a:p>
          <a:p>
            <a:pPr lvl="2" algn="l"/>
            <a:r>
              <a:rPr lang="en-US" dirty="0"/>
              <a:t>Object Linking and Embedding Database (OLEDB) is a mechanism used within SQL Server to connect to other database resources. OLEDB waits indicate that SQL Server has been making calls to remote OLEDB resources from within the system. Waits may be affected by any issues on the remote resource. The wait itself defines the length of time that the OLEDB call is taking to return</a:t>
            </a:r>
            <a:r>
              <a:rPr lang="en-US" dirty="0" smtClean="0"/>
              <a:t>.</a:t>
            </a:r>
          </a:p>
          <a:p>
            <a:pPr lvl="1" algn="l"/>
            <a:r>
              <a:rPr lang="en-US" b="1" dirty="0" smtClean="0">
                <a:effectLst/>
              </a:rPr>
              <a:t>PAGEIOLATCH_EX</a:t>
            </a:r>
          </a:p>
          <a:p>
            <a:pPr lvl="2" algn="l"/>
            <a:r>
              <a:rPr lang="en-US" dirty="0"/>
              <a:t>A query is waiting for exclusive write access to a page in order to add data to the page, but the page is not currently in memory and has to be loaded from disk.</a:t>
            </a:r>
          </a:p>
        </p:txBody>
      </p:sp>
    </p:spTree>
    <p:extLst>
      <p:ext uri="{BB962C8B-B14F-4D97-AF65-F5344CB8AC3E}">
        <p14:creationId xmlns:p14="http://schemas.microsoft.com/office/powerpoint/2010/main" val="2681365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7213</TotalTime>
  <Words>679</Words>
  <Application>Microsoft Office PowerPoint</Application>
  <PresentationFormat>Widescreen</PresentationFormat>
  <Paragraphs>74</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 Unicode MS</vt:lpstr>
      <vt:lpstr>Arial</vt:lpstr>
      <vt:lpstr>Calibri</vt:lpstr>
      <vt:lpstr>Calibri Light</vt:lpstr>
      <vt:lpstr>Office Theme</vt:lpstr>
      <vt:lpstr>Wait statistics</vt:lpstr>
      <vt:lpstr>What are wait statistics?</vt:lpstr>
      <vt:lpstr>What are wait statistics?</vt:lpstr>
      <vt:lpstr>What are wait statistics?</vt:lpstr>
      <vt:lpstr>What are wait statistics?</vt:lpstr>
      <vt:lpstr>DMVs to view the wait statistics</vt:lpstr>
      <vt:lpstr>Wait types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are wait statistics?</dc:title>
  <dc:creator>rafasg61 A</dc:creator>
  <cp:lastModifiedBy>rafasg61 A</cp:lastModifiedBy>
  <cp:revision>73</cp:revision>
  <dcterms:created xsi:type="dcterms:W3CDTF">2017-11-10T02:32:53Z</dcterms:created>
  <dcterms:modified xsi:type="dcterms:W3CDTF">2017-11-15T02:58:22Z</dcterms:modified>
</cp:coreProperties>
</file>