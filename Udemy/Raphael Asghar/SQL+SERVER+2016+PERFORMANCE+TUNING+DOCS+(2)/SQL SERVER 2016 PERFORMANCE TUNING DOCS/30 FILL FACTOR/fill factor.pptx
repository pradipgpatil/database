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57" r:id="rId3"/>
    <p:sldId id="260" r:id="rId4"/>
    <p:sldId id="261" r:id="rId5"/>
    <p:sldId id="262" r:id="rId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7" d="100"/>
          <a:sy n="87" d="100"/>
        </p:scale>
        <p:origin x="149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5DB8AA3-DEED-FE4E-8B65-6A6E6017186A}" type="datetimeFigureOut">
              <a:rPr lang="en-US" smtClean="0"/>
              <a:t>11/3/2017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1FAAF6-D9E9-B745-A9F0-8AA1B8517BAB}" type="slidenum">
              <a:rPr lang="en-US" smtClean="0"/>
              <a:t>‹#›</a:t>
            </a:fld>
            <a:endParaRPr lang="en-US"/>
          </a:p>
        </p:txBody>
      </p:sp>
    </p:spTree>
    <p:extLst>
      <p:ext uri="{BB962C8B-B14F-4D97-AF65-F5344CB8AC3E}">
        <p14:creationId xmlns:p14="http://schemas.microsoft.com/office/powerpoint/2010/main" val="3108956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5DB8AA3-DEED-FE4E-8B65-6A6E6017186A}" type="datetimeFigureOut">
              <a:rPr lang="en-US" smtClean="0"/>
              <a:t>11/3/2017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1FAAF6-D9E9-B745-A9F0-8AA1B8517BAB}" type="slidenum">
              <a:rPr lang="en-US" smtClean="0"/>
              <a:t>‹#›</a:t>
            </a:fld>
            <a:endParaRPr lang="en-US"/>
          </a:p>
        </p:txBody>
      </p:sp>
    </p:spTree>
    <p:extLst>
      <p:ext uri="{BB962C8B-B14F-4D97-AF65-F5344CB8AC3E}">
        <p14:creationId xmlns:p14="http://schemas.microsoft.com/office/powerpoint/2010/main" val="4022180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5DB8AA3-DEED-FE4E-8B65-6A6E6017186A}" type="datetimeFigureOut">
              <a:rPr lang="en-US" smtClean="0"/>
              <a:t>11/3/2017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1FAAF6-D9E9-B745-A9F0-8AA1B8517BAB}" type="slidenum">
              <a:rPr lang="en-US" smtClean="0"/>
              <a:t>‹#›</a:t>
            </a:fld>
            <a:endParaRPr lang="en-US"/>
          </a:p>
        </p:txBody>
      </p:sp>
    </p:spTree>
    <p:extLst>
      <p:ext uri="{BB962C8B-B14F-4D97-AF65-F5344CB8AC3E}">
        <p14:creationId xmlns:p14="http://schemas.microsoft.com/office/powerpoint/2010/main" val="1067412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5DB8AA3-DEED-FE4E-8B65-6A6E6017186A}" type="datetimeFigureOut">
              <a:rPr lang="en-US" smtClean="0"/>
              <a:t>11/3/2017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1FAAF6-D9E9-B745-A9F0-8AA1B8517BAB}" type="slidenum">
              <a:rPr lang="en-US" smtClean="0"/>
              <a:t>‹#›</a:t>
            </a:fld>
            <a:endParaRPr lang="en-US"/>
          </a:p>
        </p:txBody>
      </p:sp>
    </p:spTree>
    <p:extLst>
      <p:ext uri="{BB962C8B-B14F-4D97-AF65-F5344CB8AC3E}">
        <p14:creationId xmlns:p14="http://schemas.microsoft.com/office/powerpoint/2010/main" val="331459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5DB8AA3-DEED-FE4E-8B65-6A6E6017186A}" type="datetimeFigureOut">
              <a:rPr lang="en-US" smtClean="0"/>
              <a:t>11/3/2017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1FAAF6-D9E9-B745-A9F0-8AA1B8517BAB}" type="slidenum">
              <a:rPr lang="en-US" smtClean="0"/>
              <a:t>‹#›</a:t>
            </a:fld>
            <a:endParaRPr lang="en-US"/>
          </a:p>
        </p:txBody>
      </p:sp>
    </p:spTree>
    <p:extLst>
      <p:ext uri="{BB962C8B-B14F-4D97-AF65-F5344CB8AC3E}">
        <p14:creationId xmlns:p14="http://schemas.microsoft.com/office/powerpoint/2010/main" val="4162967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5DB8AA3-DEED-FE4E-8B65-6A6E6017186A}" type="datetimeFigureOut">
              <a:rPr lang="en-US" smtClean="0"/>
              <a:t>11/3/2017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1FAAF6-D9E9-B745-A9F0-8AA1B8517BAB}" type="slidenum">
              <a:rPr lang="en-US" smtClean="0"/>
              <a:t>‹#›</a:t>
            </a:fld>
            <a:endParaRPr lang="en-US"/>
          </a:p>
        </p:txBody>
      </p:sp>
    </p:spTree>
    <p:extLst>
      <p:ext uri="{BB962C8B-B14F-4D97-AF65-F5344CB8AC3E}">
        <p14:creationId xmlns:p14="http://schemas.microsoft.com/office/powerpoint/2010/main" val="2658516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DB8AA3-DEED-FE4E-8B65-6A6E6017186A}" type="datetimeFigureOut">
              <a:rPr lang="en-US" smtClean="0"/>
              <a:t>11/3/2017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1FAAF6-D9E9-B745-A9F0-8AA1B8517BAB}" type="slidenum">
              <a:rPr lang="en-US" smtClean="0"/>
              <a:t>‹#›</a:t>
            </a:fld>
            <a:endParaRPr lang="en-US"/>
          </a:p>
        </p:txBody>
      </p:sp>
    </p:spTree>
    <p:extLst>
      <p:ext uri="{BB962C8B-B14F-4D97-AF65-F5344CB8AC3E}">
        <p14:creationId xmlns:p14="http://schemas.microsoft.com/office/powerpoint/2010/main" val="2394697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5DB8AA3-DEED-FE4E-8B65-6A6E6017186A}" type="datetimeFigureOut">
              <a:rPr lang="en-US" smtClean="0"/>
              <a:t>11/3/2017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1FAAF6-D9E9-B745-A9F0-8AA1B8517BAB}" type="slidenum">
              <a:rPr lang="en-US" smtClean="0"/>
              <a:t>‹#›</a:t>
            </a:fld>
            <a:endParaRPr lang="en-US"/>
          </a:p>
        </p:txBody>
      </p:sp>
    </p:spTree>
    <p:extLst>
      <p:ext uri="{BB962C8B-B14F-4D97-AF65-F5344CB8AC3E}">
        <p14:creationId xmlns:p14="http://schemas.microsoft.com/office/powerpoint/2010/main" val="4250744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5DB8AA3-DEED-FE4E-8B65-6A6E6017186A}" type="datetimeFigureOut">
              <a:rPr lang="en-US" smtClean="0"/>
              <a:t>11/3/2017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1FAAF6-D9E9-B745-A9F0-8AA1B8517BAB}" type="slidenum">
              <a:rPr lang="en-US" smtClean="0"/>
              <a:t>‹#›</a:t>
            </a:fld>
            <a:endParaRPr lang="en-US"/>
          </a:p>
        </p:txBody>
      </p:sp>
    </p:spTree>
    <p:extLst>
      <p:ext uri="{BB962C8B-B14F-4D97-AF65-F5344CB8AC3E}">
        <p14:creationId xmlns:p14="http://schemas.microsoft.com/office/powerpoint/2010/main" val="2510113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5DB8AA3-DEED-FE4E-8B65-6A6E6017186A}" type="datetimeFigureOut">
              <a:rPr lang="en-US" smtClean="0"/>
              <a:t>11/3/2017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1FAAF6-D9E9-B745-A9F0-8AA1B8517BAB}" type="slidenum">
              <a:rPr lang="en-US" smtClean="0"/>
              <a:t>‹#›</a:t>
            </a:fld>
            <a:endParaRPr lang="en-US"/>
          </a:p>
        </p:txBody>
      </p:sp>
    </p:spTree>
    <p:extLst>
      <p:ext uri="{BB962C8B-B14F-4D97-AF65-F5344CB8AC3E}">
        <p14:creationId xmlns:p14="http://schemas.microsoft.com/office/powerpoint/2010/main" val="3415870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5DB8AA3-DEED-FE4E-8B65-6A6E6017186A}" type="datetimeFigureOut">
              <a:rPr lang="en-US" smtClean="0"/>
              <a:t>11/3/2017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1FAAF6-D9E9-B745-A9F0-8AA1B8517BAB}" type="slidenum">
              <a:rPr lang="en-US" smtClean="0"/>
              <a:t>‹#›</a:t>
            </a:fld>
            <a:endParaRPr lang="en-US"/>
          </a:p>
        </p:txBody>
      </p:sp>
    </p:spTree>
    <p:extLst>
      <p:ext uri="{BB962C8B-B14F-4D97-AF65-F5344CB8AC3E}">
        <p14:creationId xmlns:p14="http://schemas.microsoft.com/office/powerpoint/2010/main" val="3977099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DB8AA3-DEED-FE4E-8B65-6A6E6017186A}" type="datetimeFigureOut">
              <a:rPr lang="en-US" smtClean="0"/>
              <a:t>11/3/2017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1FAAF6-D9E9-B745-A9F0-8AA1B8517BAB}" type="slidenum">
              <a:rPr lang="en-US" smtClean="0"/>
              <a:t>‹#›</a:t>
            </a:fld>
            <a:endParaRPr lang="en-US"/>
          </a:p>
        </p:txBody>
      </p:sp>
    </p:spTree>
    <p:extLst>
      <p:ext uri="{BB962C8B-B14F-4D97-AF65-F5344CB8AC3E}">
        <p14:creationId xmlns:p14="http://schemas.microsoft.com/office/powerpoint/2010/main" val="8188359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t>
            </a:r>
            <a:r>
              <a:rPr lang="en-US" dirty="0" smtClean="0"/>
              <a:t>the fill factor</a:t>
            </a:r>
            <a:r>
              <a:rPr lang="en-US" dirty="0"/>
              <a:t>? </a:t>
            </a:r>
          </a:p>
        </p:txBody>
      </p:sp>
      <p:sp>
        <p:nvSpPr>
          <p:cNvPr id="3" name="Content Placeholder 2"/>
          <p:cNvSpPr>
            <a:spLocks noGrp="1"/>
          </p:cNvSpPr>
          <p:nvPr>
            <p:ph idx="1"/>
          </p:nvPr>
        </p:nvSpPr>
        <p:spPr/>
        <p:txBody>
          <a:bodyPr>
            <a:normAutofit fontScale="92500" lnSpcReduction="10000"/>
          </a:bodyPr>
          <a:lstStyle/>
          <a:p>
            <a:r>
              <a:rPr lang="en-US" sz="2000" dirty="0"/>
              <a:t>When we talk about </a:t>
            </a:r>
            <a:r>
              <a:rPr lang="en-US" sz="2000" dirty="0" smtClean="0"/>
              <a:t>indexes and/or tables, </a:t>
            </a:r>
            <a:r>
              <a:rPr lang="en-US" sz="2000" dirty="0"/>
              <a:t>we can’t escape knowing about the fill </a:t>
            </a:r>
            <a:r>
              <a:rPr lang="en-US" sz="2000" dirty="0" smtClean="0"/>
              <a:t>factor</a:t>
            </a:r>
            <a:r>
              <a:rPr lang="en-US" sz="2000" dirty="0" smtClean="0"/>
              <a:t>.</a:t>
            </a:r>
          </a:p>
          <a:p>
            <a:pPr marL="0" indent="0">
              <a:buNone/>
            </a:pPr>
            <a:endParaRPr lang="en-US" sz="2000" dirty="0" smtClean="0">
              <a:effectLst/>
            </a:endParaRPr>
          </a:p>
          <a:p>
            <a:r>
              <a:rPr lang="en-US" sz="2000" dirty="0"/>
              <a:t>We know that each database page (8kb in size) stores one or more rows based on the size of the row.  As such, the larger the row size, the fewer rows each page can have.</a:t>
            </a:r>
            <a:r>
              <a:rPr lang="en-US" sz="2000" dirty="0" smtClean="0">
                <a:effectLst/>
              </a:rPr>
              <a:t> </a:t>
            </a:r>
          </a:p>
          <a:p>
            <a:pPr marL="0" indent="0">
              <a:buNone/>
            </a:pPr>
            <a:endParaRPr lang="en-US" sz="2000" dirty="0" smtClean="0">
              <a:effectLst/>
            </a:endParaRPr>
          </a:p>
          <a:p>
            <a:r>
              <a:rPr lang="en-US" sz="2000" dirty="0" smtClean="0"/>
              <a:t>The fill-factor value determines </a:t>
            </a:r>
            <a:r>
              <a:rPr lang="en-US" sz="2000" dirty="0" smtClean="0">
                <a:solidFill>
                  <a:srgbClr val="FF0000"/>
                </a:solidFill>
              </a:rPr>
              <a:t>the percentage of space on each leaf-level page </a:t>
            </a:r>
            <a:r>
              <a:rPr lang="en-US" sz="2000" dirty="0" smtClean="0">
                <a:solidFill>
                  <a:srgbClr val="FF0000"/>
                </a:solidFill>
              </a:rPr>
              <a:t>that can be filled </a:t>
            </a:r>
            <a:r>
              <a:rPr lang="en-US" sz="2000" dirty="0" smtClean="0">
                <a:solidFill>
                  <a:srgbClr val="FF0000"/>
                </a:solidFill>
              </a:rPr>
              <a:t>with data</a:t>
            </a:r>
            <a:r>
              <a:rPr lang="en-US" sz="2000" dirty="0" smtClean="0"/>
              <a:t>, reserving the remainder on each page as free space for future growth. </a:t>
            </a:r>
            <a:endParaRPr lang="en-US" sz="2000" dirty="0" smtClean="0"/>
          </a:p>
          <a:p>
            <a:endParaRPr lang="en-US" sz="2000" dirty="0"/>
          </a:p>
          <a:p>
            <a:r>
              <a:rPr lang="en-US" sz="2000" dirty="0" smtClean="0"/>
              <a:t>For </a:t>
            </a:r>
            <a:r>
              <a:rPr lang="en-US" sz="2000" dirty="0" smtClean="0"/>
              <a:t>example, specifying </a:t>
            </a:r>
            <a:r>
              <a:rPr lang="en-US" sz="2000" dirty="0" smtClean="0">
                <a:solidFill>
                  <a:srgbClr val="FF0000"/>
                </a:solidFill>
              </a:rPr>
              <a:t>a fill-factor value of 80 </a:t>
            </a:r>
            <a:r>
              <a:rPr lang="en-US" sz="2000" dirty="0" smtClean="0">
                <a:solidFill>
                  <a:srgbClr val="FF0000"/>
                </a:solidFill>
              </a:rPr>
              <a:t>means 80% </a:t>
            </a:r>
            <a:r>
              <a:rPr lang="en-US" sz="2000" dirty="0" smtClean="0">
                <a:solidFill>
                  <a:srgbClr val="FF0000"/>
                </a:solidFill>
              </a:rPr>
              <a:t>of the page will have data and the remaining</a:t>
            </a:r>
            <a:r>
              <a:rPr lang="en-US" sz="2000" dirty="0" smtClean="0">
                <a:solidFill>
                  <a:srgbClr val="FF0000"/>
                </a:solidFill>
              </a:rPr>
              <a:t> 20% </a:t>
            </a:r>
            <a:r>
              <a:rPr lang="en-US" sz="2000" dirty="0" smtClean="0">
                <a:solidFill>
                  <a:srgbClr val="FF0000"/>
                </a:solidFill>
              </a:rPr>
              <a:t>of each leaf-level page will be left empty</a:t>
            </a:r>
            <a:r>
              <a:rPr lang="en-US" sz="2000" dirty="0" smtClean="0"/>
              <a:t>, providing space for </a:t>
            </a:r>
            <a:r>
              <a:rPr lang="en-US" sz="2000" dirty="0" smtClean="0">
                <a:solidFill>
                  <a:srgbClr val="FF0000"/>
                </a:solidFill>
              </a:rPr>
              <a:t>index expansion </a:t>
            </a:r>
            <a:r>
              <a:rPr lang="en-US" sz="2000" dirty="0" smtClean="0"/>
              <a:t>as data is added to the underlying table. </a:t>
            </a:r>
            <a:r>
              <a:rPr lang="en-US" sz="2000" dirty="0" smtClean="0"/>
              <a:t>Default </a:t>
            </a:r>
            <a:r>
              <a:rPr lang="en-US" sz="2000" dirty="0" smtClean="0"/>
              <a:t>(100 or 0) </a:t>
            </a:r>
          </a:p>
          <a:p>
            <a:endParaRPr lang="en-US" sz="1400" dirty="0"/>
          </a:p>
        </p:txBody>
      </p:sp>
    </p:spTree>
    <p:extLst>
      <p:ext uri="{BB962C8B-B14F-4D97-AF65-F5344CB8AC3E}">
        <p14:creationId xmlns:p14="http://schemas.microsoft.com/office/powerpoint/2010/main" val="336587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91693" y="1822826"/>
            <a:ext cx="1795686" cy="2799532"/>
          </a:xfrm>
          <a:prstGeom prst="rect">
            <a:avLst/>
          </a:prstGeom>
          <a:solidFill>
            <a:schemeClr val="accent3">
              <a:lumMod val="20000"/>
              <a:lumOff val="80000"/>
            </a:schemeClr>
          </a:solidFill>
          <a:ln>
            <a:solidFill>
              <a:schemeClr val="accent3">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p:cNvSpPr/>
          <p:nvPr/>
        </p:nvSpPr>
        <p:spPr>
          <a:xfrm>
            <a:off x="6545320" y="1822826"/>
            <a:ext cx="1795686" cy="2799532"/>
          </a:xfrm>
          <a:prstGeom prst="rect">
            <a:avLst/>
          </a:prstGeom>
          <a:solidFill>
            <a:schemeClr val="accent3">
              <a:lumMod val="20000"/>
              <a:lumOff val="80000"/>
            </a:schemeClr>
          </a:solidFill>
          <a:ln>
            <a:solidFill>
              <a:schemeClr val="accent3">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p:nvSpPr>
        <p:spPr>
          <a:xfrm>
            <a:off x="2512594" y="1561216"/>
            <a:ext cx="1160709" cy="261610"/>
          </a:xfrm>
          <a:prstGeom prst="rect">
            <a:avLst/>
          </a:prstGeom>
          <a:noFill/>
        </p:spPr>
        <p:txBody>
          <a:bodyPr wrap="square" rtlCol="0">
            <a:spAutoFit/>
          </a:bodyPr>
          <a:lstStyle/>
          <a:p>
            <a:r>
              <a:rPr lang="en-US" sz="1100" dirty="0" smtClean="0"/>
              <a:t>Page  (100 or 0)</a:t>
            </a:r>
            <a:endParaRPr lang="en-US" sz="1100" dirty="0"/>
          </a:p>
        </p:txBody>
      </p:sp>
      <p:cxnSp>
        <p:nvCxnSpPr>
          <p:cNvPr id="11" name="Straight Connector 10"/>
          <p:cNvCxnSpPr/>
          <p:nvPr/>
        </p:nvCxnSpPr>
        <p:spPr>
          <a:xfrm flipV="1">
            <a:off x="2341902" y="2944821"/>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flipV="1">
            <a:off x="2341902" y="3097221"/>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flipV="1">
            <a:off x="2341902" y="3256449"/>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flipV="1">
            <a:off x="2341902" y="3408565"/>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flipV="1">
            <a:off x="2341902" y="3576802"/>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flipV="1">
            <a:off x="2341902" y="1991065"/>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V="1">
            <a:off x="2341902" y="2143465"/>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V="1">
            <a:off x="2341902" y="2302693"/>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V="1">
            <a:off x="2341902" y="2454809"/>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V="1">
            <a:off x="2341902" y="2623046"/>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V="1">
            <a:off x="2341902" y="2770800"/>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690115" y="4383067"/>
            <a:ext cx="402834" cy="63532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195106" y="5038568"/>
            <a:ext cx="1795686" cy="1446550"/>
          </a:xfrm>
          <a:prstGeom prst="rect">
            <a:avLst/>
          </a:prstGeom>
          <a:noFill/>
        </p:spPr>
        <p:txBody>
          <a:bodyPr wrap="square" rtlCol="0">
            <a:spAutoFit/>
          </a:bodyPr>
          <a:lstStyle/>
          <a:p>
            <a:pPr algn="ctr"/>
            <a:r>
              <a:rPr lang="en-US" sz="1100" dirty="0" smtClean="0"/>
              <a:t>The rows in this page will keep on being inserted until the page is full.  As you can see from this example, there are probably two more rows that this page can accommodate, and then it’s full</a:t>
            </a:r>
            <a:endParaRPr lang="en-US" sz="1100" dirty="0"/>
          </a:p>
        </p:txBody>
      </p:sp>
      <p:cxnSp>
        <p:nvCxnSpPr>
          <p:cNvPr id="29" name="Straight Connector 28"/>
          <p:cNvCxnSpPr/>
          <p:nvPr/>
        </p:nvCxnSpPr>
        <p:spPr>
          <a:xfrm flipV="1">
            <a:off x="2341902" y="3722374"/>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flipV="1">
            <a:off x="2341902" y="3874774"/>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flipV="1">
            <a:off x="2341902" y="4034002"/>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flipV="1">
            <a:off x="2341902" y="4186118"/>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V="1">
            <a:off x="805669" y="4396723"/>
            <a:ext cx="1030983" cy="6828"/>
          </a:xfrm>
          <a:prstGeom prst="straightConnector1">
            <a:avLst/>
          </a:prstGeom>
          <a:ln>
            <a:solidFill>
              <a:srgbClr val="953735"/>
            </a:solidFill>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flipV="1">
            <a:off x="805669" y="4557542"/>
            <a:ext cx="1030983" cy="6828"/>
          </a:xfrm>
          <a:prstGeom prst="straightConnector1">
            <a:avLst/>
          </a:prstGeom>
          <a:ln>
            <a:solidFill>
              <a:srgbClr val="953735"/>
            </a:solidFill>
            <a:tailEnd type="arrow"/>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05669" y="3352610"/>
            <a:ext cx="908084" cy="938719"/>
          </a:xfrm>
          <a:prstGeom prst="rect">
            <a:avLst/>
          </a:prstGeom>
          <a:noFill/>
        </p:spPr>
        <p:txBody>
          <a:bodyPr wrap="square" rtlCol="0">
            <a:spAutoFit/>
          </a:bodyPr>
          <a:lstStyle/>
          <a:p>
            <a:pPr algn="ctr"/>
            <a:r>
              <a:rPr lang="en-US" sz="1100" dirty="0" smtClean="0"/>
              <a:t>If we insert 2 more rows, this page will be filled</a:t>
            </a:r>
            <a:endParaRPr lang="en-US" sz="1100" dirty="0"/>
          </a:p>
        </p:txBody>
      </p:sp>
      <p:sp>
        <p:nvSpPr>
          <p:cNvPr id="42" name="TextBox 41"/>
          <p:cNvSpPr txBox="1"/>
          <p:nvPr/>
        </p:nvSpPr>
        <p:spPr>
          <a:xfrm>
            <a:off x="2195107" y="81937"/>
            <a:ext cx="6145900" cy="1600438"/>
          </a:xfrm>
          <a:prstGeom prst="rect">
            <a:avLst/>
          </a:prstGeom>
          <a:noFill/>
        </p:spPr>
        <p:txBody>
          <a:bodyPr wrap="square" rtlCol="0">
            <a:spAutoFit/>
          </a:bodyPr>
          <a:lstStyle/>
          <a:p>
            <a:pPr algn="ctr"/>
            <a:r>
              <a:rPr lang="en-US" sz="1400" dirty="0" smtClean="0"/>
              <a:t>     </a:t>
            </a:r>
            <a:r>
              <a:rPr lang="en-US" sz="1400" dirty="0" smtClean="0">
                <a:solidFill>
                  <a:srgbClr val="FF0000"/>
                </a:solidFill>
              </a:rPr>
              <a:t>The </a:t>
            </a:r>
            <a:r>
              <a:rPr lang="en-US" sz="1400" dirty="0">
                <a:solidFill>
                  <a:srgbClr val="FF0000"/>
                </a:solidFill>
              </a:rPr>
              <a:t>fill-factor value determines the percentage of space on each leaf-level page to be filled with data, reserving the remainder on each page as free space for future growth. </a:t>
            </a:r>
            <a:r>
              <a:rPr lang="en-US" sz="1400" dirty="0"/>
              <a:t>For example, specifying a </a:t>
            </a:r>
            <a:r>
              <a:rPr lang="en-US" sz="1400" dirty="0">
                <a:solidFill>
                  <a:srgbClr val="FF0000"/>
                </a:solidFill>
              </a:rPr>
              <a:t>fill-factor value of 80 </a:t>
            </a:r>
            <a:r>
              <a:rPr lang="en-US" sz="1400" dirty="0"/>
              <a:t>means that </a:t>
            </a:r>
            <a:r>
              <a:rPr lang="en-US" sz="1400" dirty="0">
                <a:solidFill>
                  <a:srgbClr val="FF0000"/>
                </a:solidFill>
              </a:rPr>
              <a:t>20 percent of each leaf-level page will be left empty</a:t>
            </a:r>
            <a:r>
              <a:rPr lang="en-US" sz="1400" dirty="0"/>
              <a:t>, providing space for index expansion as data is added to the underlying table. The empty space is reserved between the index rows rather than at the end of the index.</a:t>
            </a:r>
          </a:p>
          <a:p>
            <a:pPr algn="ctr"/>
            <a:r>
              <a:rPr lang="en-US" sz="1400" dirty="0" smtClean="0"/>
              <a:t>Default (100 or 0) </a:t>
            </a:r>
            <a:endParaRPr lang="en-US" sz="1400" dirty="0"/>
          </a:p>
        </p:txBody>
      </p:sp>
      <p:sp>
        <p:nvSpPr>
          <p:cNvPr id="44" name="TextBox 43"/>
          <p:cNvSpPr txBox="1"/>
          <p:nvPr/>
        </p:nvSpPr>
        <p:spPr>
          <a:xfrm>
            <a:off x="6926704" y="1551963"/>
            <a:ext cx="1017327" cy="261610"/>
          </a:xfrm>
          <a:prstGeom prst="rect">
            <a:avLst/>
          </a:prstGeom>
          <a:noFill/>
        </p:spPr>
        <p:txBody>
          <a:bodyPr wrap="square" rtlCol="0">
            <a:spAutoFit/>
          </a:bodyPr>
          <a:lstStyle/>
          <a:p>
            <a:r>
              <a:rPr lang="en-US" sz="1100" dirty="0" smtClean="0"/>
              <a:t>Page  (20%)</a:t>
            </a:r>
            <a:endParaRPr lang="en-US" sz="1100" dirty="0"/>
          </a:p>
        </p:txBody>
      </p:sp>
      <p:cxnSp>
        <p:nvCxnSpPr>
          <p:cNvPr id="61" name="Straight Connector 60"/>
          <p:cNvCxnSpPr/>
          <p:nvPr/>
        </p:nvCxnSpPr>
        <p:spPr>
          <a:xfrm flipV="1">
            <a:off x="6756979" y="1955510"/>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62" name="Straight Connector 61"/>
          <p:cNvCxnSpPr/>
          <p:nvPr/>
        </p:nvCxnSpPr>
        <p:spPr>
          <a:xfrm flipV="1">
            <a:off x="6756979" y="2107910"/>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63" name="Straight Connector 62"/>
          <p:cNvCxnSpPr/>
          <p:nvPr/>
        </p:nvCxnSpPr>
        <p:spPr>
          <a:xfrm flipV="1">
            <a:off x="6756979" y="2267138"/>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64" name="Straight Connector 63"/>
          <p:cNvCxnSpPr/>
          <p:nvPr/>
        </p:nvCxnSpPr>
        <p:spPr>
          <a:xfrm flipV="1">
            <a:off x="6756979" y="2419254"/>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6637552" y="5110495"/>
            <a:ext cx="1703454" cy="769441"/>
          </a:xfrm>
          <a:prstGeom prst="rect">
            <a:avLst/>
          </a:prstGeom>
        </p:spPr>
        <p:txBody>
          <a:bodyPr wrap="square">
            <a:spAutoFit/>
          </a:bodyPr>
          <a:lstStyle/>
          <a:p>
            <a:pPr algn="ctr"/>
            <a:r>
              <a:rPr lang="en-US" sz="1100" dirty="0" smtClean="0"/>
              <a:t>20% fill factor means that after 20% page is full, the next row will be inserted in the next page</a:t>
            </a:r>
            <a:endParaRPr lang="en-US" sz="1100" dirty="0"/>
          </a:p>
        </p:txBody>
      </p:sp>
      <p:sp>
        <p:nvSpPr>
          <p:cNvPr id="70" name="Rectangle 69"/>
          <p:cNvSpPr/>
          <p:nvPr/>
        </p:nvSpPr>
        <p:spPr>
          <a:xfrm>
            <a:off x="6545321" y="2461637"/>
            <a:ext cx="1795686" cy="2160721"/>
          </a:xfrm>
          <a:prstGeom prst="rect">
            <a:avLst/>
          </a:prstGeom>
          <a:solidFill>
            <a:schemeClr val="accent4">
              <a:lumMod val="60000"/>
              <a:lumOff val="40000"/>
            </a:schemeClr>
          </a:solidFill>
          <a:ln>
            <a:solidFill>
              <a:schemeClr val="accent4">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TextBox 70"/>
          <p:cNvSpPr txBox="1"/>
          <p:nvPr/>
        </p:nvSpPr>
        <p:spPr>
          <a:xfrm>
            <a:off x="6926704" y="3396238"/>
            <a:ext cx="1188020" cy="369332"/>
          </a:xfrm>
          <a:prstGeom prst="rect">
            <a:avLst/>
          </a:prstGeom>
          <a:noFill/>
        </p:spPr>
        <p:txBody>
          <a:bodyPr wrap="square" rtlCol="0">
            <a:spAutoFit/>
          </a:bodyPr>
          <a:lstStyle/>
          <a:p>
            <a:r>
              <a:rPr lang="en-US" dirty="0" smtClean="0"/>
              <a:t>Free space</a:t>
            </a:r>
            <a:endParaRPr lang="en-US" dirty="0"/>
          </a:p>
        </p:txBody>
      </p:sp>
    </p:spTree>
    <p:extLst>
      <p:ext uri="{BB962C8B-B14F-4D97-AF65-F5344CB8AC3E}">
        <p14:creationId xmlns:p14="http://schemas.microsoft.com/office/powerpoint/2010/main" val="1057636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02590" y="1823110"/>
            <a:ext cx="1795686" cy="2799532"/>
          </a:xfrm>
          <a:prstGeom prst="rect">
            <a:avLst/>
          </a:prstGeom>
          <a:solidFill>
            <a:schemeClr val="accent3">
              <a:lumMod val="20000"/>
              <a:lumOff val="80000"/>
            </a:schemeClr>
          </a:solidFill>
          <a:ln>
            <a:solidFill>
              <a:schemeClr val="accent3">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p:nvSpPr>
        <p:spPr>
          <a:xfrm>
            <a:off x="2523491" y="1561500"/>
            <a:ext cx="1160709" cy="261610"/>
          </a:xfrm>
          <a:prstGeom prst="rect">
            <a:avLst/>
          </a:prstGeom>
          <a:noFill/>
        </p:spPr>
        <p:txBody>
          <a:bodyPr wrap="square" rtlCol="0">
            <a:spAutoFit/>
          </a:bodyPr>
          <a:lstStyle/>
          <a:p>
            <a:r>
              <a:rPr lang="en-US" sz="1100" dirty="0" smtClean="0"/>
              <a:t>Page  (100 or 0)</a:t>
            </a:r>
            <a:endParaRPr lang="en-US" sz="1100" dirty="0"/>
          </a:p>
        </p:txBody>
      </p:sp>
      <p:cxnSp>
        <p:nvCxnSpPr>
          <p:cNvPr id="11" name="Straight Connector 10"/>
          <p:cNvCxnSpPr/>
          <p:nvPr/>
        </p:nvCxnSpPr>
        <p:spPr>
          <a:xfrm flipV="1">
            <a:off x="2352799" y="2945105"/>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flipV="1">
            <a:off x="2352799" y="3097505"/>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flipV="1">
            <a:off x="2352799" y="3256733"/>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flipV="1">
            <a:off x="2352799" y="3408849"/>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flipV="1">
            <a:off x="2352799" y="3577086"/>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flipV="1">
            <a:off x="2352799" y="1991349"/>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V="1">
            <a:off x="2352799" y="2143749"/>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V="1">
            <a:off x="2352799" y="2302977"/>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V="1">
            <a:off x="2352799" y="2455093"/>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V="1">
            <a:off x="2352799" y="2623330"/>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V="1">
            <a:off x="2352799" y="2771084"/>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flipV="1">
            <a:off x="2352799" y="3722658"/>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flipV="1">
            <a:off x="2352799" y="3875058"/>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flipV="1">
            <a:off x="2352799" y="4034286"/>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flipV="1">
            <a:off x="2352799" y="4186402"/>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2210954" y="4870556"/>
            <a:ext cx="1753145" cy="1615827"/>
          </a:xfrm>
          <a:prstGeom prst="rect">
            <a:avLst/>
          </a:prstGeom>
          <a:noFill/>
        </p:spPr>
        <p:txBody>
          <a:bodyPr wrap="square" rtlCol="0">
            <a:spAutoFit/>
          </a:bodyPr>
          <a:lstStyle/>
          <a:p>
            <a:pPr algn="ctr"/>
            <a:r>
              <a:rPr lang="en-US" sz="1100" dirty="0" smtClean="0"/>
              <a:t>Suppose we want to insert this record: It need to go </a:t>
            </a:r>
            <a:r>
              <a:rPr lang="en-US" sz="1100" dirty="0" smtClean="0"/>
              <a:t>between gg and </a:t>
            </a:r>
            <a:r>
              <a:rPr lang="en-US" sz="1100" dirty="0" err="1" smtClean="0"/>
              <a:t>hh</a:t>
            </a:r>
            <a:r>
              <a:rPr lang="en-US" sz="1100" dirty="0" smtClean="0"/>
              <a:t>.  Since there is no space left for this insert, the page will split  because the fill factor did not allow for any more rows to be inserted as there is no more space</a:t>
            </a:r>
            <a:endParaRPr lang="en-US" sz="1100" dirty="0"/>
          </a:p>
        </p:txBody>
      </p:sp>
      <p:sp>
        <p:nvSpPr>
          <p:cNvPr id="42" name="TextBox 41"/>
          <p:cNvSpPr txBox="1"/>
          <p:nvPr/>
        </p:nvSpPr>
        <p:spPr>
          <a:xfrm>
            <a:off x="2195107" y="81937"/>
            <a:ext cx="6145900" cy="1292662"/>
          </a:xfrm>
          <a:prstGeom prst="rect">
            <a:avLst/>
          </a:prstGeom>
          <a:noFill/>
        </p:spPr>
        <p:txBody>
          <a:bodyPr wrap="square" rtlCol="0">
            <a:spAutoFit/>
          </a:bodyPr>
          <a:lstStyle/>
          <a:p>
            <a:pPr algn="ctr"/>
            <a:r>
              <a:rPr lang="en-US" dirty="0"/>
              <a:t>What is the significance of understanding the fill factor?</a:t>
            </a:r>
          </a:p>
          <a:p>
            <a:pPr algn="ctr"/>
            <a:r>
              <a:rPr lang="en-US" dirty="0" smtClean="0"/>
              <a:t>Default </a:t>
            </a:r>
            <a:r>
              <a:rPr lang="en-US" dirty="0" smtClean="0"/>
              <a:t>(100 or 0) </a:t>
            </a:r>
            <a:r>
              <a:rPr lang="en-US" dirty="0"/>
              <a:t/>
            </a:r>
            <a:br>
              <a:rPr lang="en-US" dirty="0"/>
            </a:br>
            <a:r>
              <a:rPr lang="en-US" sz="1400" dirty="0">
                <a:solidFill>
                  <a:srgbClr val="FF0000"/>
                </a:solidFill>
              </a:rPr>
              <a:t>T</a:t>
            </a:r>
            <a:r>
              <a:rPr lang="en-US" sz="1400" dirty="0" smtClean="0">
                <a:solidFill>
                  <a:srgbClr val="FF0000"/>
                </a:solidFill>
              </a:rPr>
              <a:t>he significance is this: If </a:t>
            </a:r>
            <a:r>
              <a:rPr lang="en-US" sz="1400" dirty="0">
                <a:solidFill>
                  <a:srgbClr val="FF0000"/>
                </a:solidFill>
              </a:rPr>
              <a:t>the page is completely filled and new data is inserted in the table which belongs to completely filled page, the “page split” event happens to accommodate new data. </a:t>
            </a:r>
            <a:endParaRPr lang="en-US" sz="1400" dirty="0">
              <a:solidFill>
                <a:srgbClr val="FF0000"/>
              </a:solidFill>
            </a:endParaRPr>
          </a:p>
        </p:txBody>
      </p:sp>
      <p:sp>
        <p:nvSpPr>
          <p:cNvPr id="34" name="Rectangle 33"/>
          <p:cNvSpPr/>
          <p:nvPr/>
        </p:nvSpPr>
        <p:spPr>
          <a:xfrm>
            <a:off x="5772670" y="1496445"/>
            <a:ext cx="1795686" cy="2334166"/>
          </a:xfrm>
          <a:prstGeom prst="rect">
            <a:avLst/>
          </a:prstGeom>
          <a:solidFill>
            <a:schemeClr val="accent3">
              <a:lumMod val="20000"/>
              <a:lumOff val="80000"/>
            </a:schemeClr>
          </a:solidFill>
          <a:ln>
            <a:solidFill>
              <a:schemeClr val="accent3">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6" name="Straight Connector 35"/>
          <p:cNvCxnSpPr/>
          <p:nvPr/>
        </p:nvCxnSpPr>
        <p:spPr>
          <a:xfrm flipV="1">
            <a:off x="5922879" y="2618440"/>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flipV="1">
            <a:off x="5922879" y="2770840"/>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flipV="1">
            <a:off x="5922879" y="2930068"/>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p:nvCxnSpPr>
        <p:spPr>
          <a:xfrm flipV="1">
            <a:off x="5922879" y="3082184"/>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46" name="Straight Connector 45"/>
          <p:cNvCxnSpPr/>
          <p:nvPr/>
        </p:nvCxnSpPr>
        <p:spPr>
          <a:xfrm flipV="1">
            <a:off x="5922879" y="1664684"/>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47" name="Straight Connector 46"/>
          <p:cNvCxnSpPr/>
          <p:nvPr/>
        </p:nvCxnSpPr>
        <p:spPr>
          <a:xfrm flipV="1">
            <a:off x="5922879" y="1817084"/>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48" name="Straight Connector 47"/>
          <p:cNvCxnSpPr/>
          <p:nvPr/>
        </p:nvCxnSpPr>
        <p:spPr>
          <a:xfrm flipV="1">
            <a:off x="5922879" y="1976312"/>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49" name="Straight Connector 48"/>
          <p:cNvCxnSpPr/>
          <p:nvPr/>
        </p:nvCxnSpPr>
        <p:spPr>
          <a:xfrm flipV="1">
            <a:off x="5922879" y="2128428"/>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50" name="Straight Connector 49"/>
          <p:cNvCxnSpPr/>
          <p:nvPr/>
        </p:nvCxnSpPr>
        <p:spPr>
          <a:xfrm flipV="1">
            <a:off x="5922879" y="2296665"/>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Connector 50"/>
          <p:cNvCxnSpPr/>
          <p:nvPr/>
        </p:nvCxnSpPr>
        <p:spPr>
          <a:xfrm flipV="1">
            <a:off x="5922879" y="2444419"/>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56" name="Straight Connector 55"/>
          <p:cNvCxnSpPr/>
          <p:nvPr/>
        </p:nvCxnSpPr>
        <p:spPr>
          <a:xfrm flipV="1">
            <a:off x="2352799" y="4350155"/>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57" name="Straight Connector 56"/>
          <p:cNvCxnSpPr/>
          <p:nvPr/>
        </p:nvCxnSpPr>
        <p:spPr>
          <a:xfrm flipV="1">
            <a:off x="2350135" y="4491202"/>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2079438" y="3259654"/>
            <a:ext cx="330506" cy="246221"/>
          </a:xfrm>
          <a:prstGeom prst="rect">
            <a:avLst/>
          </a:prstGeom>
          <a:noFill/>
        </p:spPr>
        <p:txBody>
          <a:bodyPr wrap="square" rtlCol="0">
            <a:spAutoFit/>
          </a:bodyPr>
          <a:lstStyle/>
          <a:p>
            <a:r>
              <a:rPr lang="en-US" sz="1000" dirty="0" err="1" smtClean="0"/>
              <a:t>hh</a:t>
            </a:r>
            <a:endParaRPr lang="en-US" sz="1000" dirty="0"/>
          </a:p>
        </p:txBody>
      </p:sp>
      <p:sp>
        <p:nvSpPr>
          <p:cNvPr id="58" name="TextBox 57"/>
          <p:cNvSpPr txBox="1"/>
          <p:nvPr/>
        </p:nvSpPr>
        <p:spPr>
          <a:xfrm>
            <a:off x="2091881" y="3115635"/>
            <a:ext cx="343359" cy="246221"/>
          </a:xfrm>
          <a:prstGeom prst="rect">
            <a:avLst/>
          </a:prstGeom>
          <a:noFill/>
        </p:spPr>
        <p:txBody>
          <a:bodyPr wrap="square" rtlCol="0">
            <a:spAutoFit/>
          </a:bodyPr>
          <a:lstStyle/>
          <a:p>
            <a:r>
              <a:rPr lang="en-US" sz="1000" dirty="0" smtClean="0"/>
              <a:t>gg</a:t>
            </a:r>
            <a:endParaRPr lang="en-US" sz="1000" dirty="0"/>
          </a:p>
        </p:txBody>
      </p:sp>
      <p:sp>
        <p:nvSpPr>
          <p:cNvPr id="59" name="TextBox 58"/>
          <p:cNvSpPr txBox="1"/>
          <p:nvPr/>
        </p:nvSpPr>
        <p:spPr>
          <a:xfrm>
            <a:off x="1290346" y="2795910"/>
            <a:ext cx="404360" cy="246221"/>
          </a:xfrm>
          <a:prstGeom prst="rect">
            <a:avLst/>
          </a:prstGeom>
          <a:noFill/>
        </p:spPr>
        <p:txBody>
          <a:bodyPr wrap="square" rtlCol="0">
            <a:spAutoFit/>
          </a:bodyPr>
          <a:lstStyle/>
          <a:p>
            <a:r>
              <a:rPr lang="en-US" sz="1000" dirty="0" err="1" smtClean="0"/>
              <a:t>ggg</a:t>
            </a:r>
            <a:endParaRPr lang="en-US" sz="1000" dirty="0"/>
          </a:p>
        </p:txBody>
      </p:sp>
      <p:cxnSp>
        <p:nvCxnSpPr>
          <p:cNvPr id="7" name="Straight Arrow Connector 6"/>
          <p:cNvCxnSpPr>
            <a:endCxn id="58" idx="1"/>
          </p:cNvCxnSpPr>
          <p:nvPr/>
        </p:nvCxnSpPr>
        <p:spPr>
          <a:xfrm>
            <a:off x="1713636" y="2941691"/>
            <a:ext cx="378245" cy="297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5772670" y="3997804"/>
            <a:ext cx="1795686" cy="2488579"/>
          </a:xfrm>
          <a:prstGeom prst="rect">
            <a:avLst/>
          </a:prstGeom>
          <a:solidFill>
            <a:schemeClr val="accent3">
              <a:lumMod val="20000"/>
              <a:lumOff val="80000"/>
            </a:schemeClr>
          </a:solidFill>
          <a:ln>
            <a:solidFill>
              <a:schemeClr val="accent3">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6" name="Straight Connector 65"/>
          <p:cNvCxnSpPr/>
          <p:nvPr/>
        </p:nvCxnSpPr>
        <p:spPr>
          <a:xfrm flipV="1">
            <a:off x="5922879" y="5119799"/>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67" name="Straight Connector 66"/>
          <p:cNvCxnSpPr/>
          <p:nvPr/>
        </p:nvCxnSpPr>
        <p:spPr>
          <a:xfrm flipV="1">
            <a:off x="5922879" y="5272199"/>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69" name="Straight Connector 68"/>
          <p:cNvCxnSpPr/>
          <p:nvPr/>
        </p:nvCxnSpPr>
        <p:spPr>
          <a:xfrm flipV="1">
            <a:off x="5922879" y="5431427"/>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74" name="Straight Connector 73"/>
          <p:cNvCxnSpPr/>
          <p:nvPr/>
        </p:nvCxnSpPr>
        <p:spPr>
          <a:xfrm flipV="1">
            <a:off x="5922879" y="4166043"/>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75" name="Straight Connector 74"/>
          <p:cNvCxnSpPr/>
          <p:nvPr/>
        </p:nvCxnSpPr>
        <p:spPr>
          <a:xfrm flipV="1">
            <a:off x="5922879" y="4318443"/>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76" name="Straight Connector 75"/>
          <p:cNvCxnSpPr/>
          <p:nvPr/>
        </p:nvCxnSpPr>
        <p:spPr>
          <a:xfrm flipV="1">
            <a:off x="5922879" y="4477671"/>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77" name="Straight Connector 76"/>
          <p:cNvCxnSpPr/>
          <p:nvPr/>
        </p:nvCxnSpPr>
        <p:spPr>
          <a:xfrm flipV="1">
            <a:off x="5922879" y="4629787"/>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78" name="Straight Connector 77"/>
          <p:cNvCxnSpPr/>
          <p:nvPr/>
        </p:nvCxnSpPr>
        <p:spPr>
          <a:xfrm flipV="1">
            <a:off x="5922879" y="4798024"/>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79" name="Straight Connector 78"/>
          <p:cNvCxnSpPr/>
          <p:nvPr/>
        </p:nvCxnSpPr>
        <p:spPr>
          <a:xfrm flipV="1">
            <a:off x="5922879" y="4945778"/>
            <a:ext cx="1474784" cy="6828"/>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87" name="Straight Arrow Connector 86"/>
          <p:cNvCxnSpPr/>
          <p:nvPr/>
        </p:nvCxnSpPr>
        <p:spPr>
          <a:xfrm flipV="1">
            <a:off x="4171170" y="2795910"/>
            <a:ext cx="1430807" cy="1554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p:cNvCxnSpPr/>
          <p:nvPr/>
        </p:nvCxnSpPr>
        <p:spPr>
          <a:xfrm>
            <a:off x="4223898" y="4166043"/>
            <a:ext cx="1360176" cy="3488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3944150" y="3172288"/>
            <a:ext cx="1862697" cy="830997"/>
          </a:xfrm>
          <a:prstGeom prst="rect">
            <a:avLst/>
          </a:prstGeom>
          <a:noFill/>
        </p:spPr>
        <p:txBody>
          <a:bodyPr wrap="square" rtlCol="0">
            <a:spAutoFit/>
          </a:bodyPr>
          <a:lstStyle/>
          <a:p>
            <a:pPr algn="ctr"/>
            <a:r>
              <a:rPr lang="en-US" sz="1200" dirty="0" smtClean="0"/>
              <a:t>Page split</a:t>
            </a:r>
          </a:p>
          <a:p>
            <a:pPr algn="ctr"/>
            <a:r>
              <a:rPr lang="en-US" sz="1200" dirty="0" smtClean="0"/>
              <a:t>means </a:t>
            </a:r>
            <a:r>
              <a:rPr lang="en-US" sz="1200" dirty="0"/>
              <a:t>a completely filled page is now two half-filled pages. </a:t>
            </a:r>
            <a:endParaRPr lang="en-US" sz="1200" dirty="0"/>
          </a:p>
        </p:txBody>
      </p:sp>
    </p:spTree>
    <p:extLst>
      <p:ext uri="{BB962C8B-B14F-4D97-AF65-F5344CB8AC3E}">
        <p14:creationId xmlns:p14="http://schemas.microsoft.com/office/powerpoint/2010/main" val="27154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47441" y="914400"/>
            <a:ext cx="6037243" cy="5447645"/>
          </a:xfrm>
          <a:prstGeom prst="rect">
            <a:avLst/>
          </a:prstGeom>
          <a:noFill/>
        </p:spPr>
        <p:txBody>
          <a:bodyPr wrap="square" rtlCol="0">
            <a:spAutoFit/>
          </a:bodyPr>
          <a:lstStyle/>
          <a:p>
            <a:r>
              <a:rPr lang="en-US" sz="2400" dirty="0" smtClean="0"/>
              <a:t>The reason why we need to keep an eye on fill factor: I/O</a:t>
            </a:r>
            <a:r>
              <a:rPr lang="en-US" sz="2400" dirty="0"/>
              <a:t/>
            </a:r>
            <a:br>
              <a:rPr lang="en-US" sz="2400" dirty="0"/>
            </a:br>
            <a:r>
              <a:rPr lang="en-US" sz="2400" dirty="0"/>
              <a:t/>
            </a:r>
            <a:br>
              <a:rPr lang="en-US" sz="2400" dirty="0"/>
            </a:br>
            <a:r>
              <a:rPr lang="en-US" sz="2400" dirty="0" smtClean="0"/>
              <a:t>From the last slide we can see that if we had 5000 pages that had the data for a specific index or table and we split the pages in half to accommodate the newly inserted data, the SQL engine now has to read more pages to get the same amount of data, thereby costing a greater I/O consumption.</a:t>
            </a:r>
          </a:p>
          <a:p>
            <a:endParaRPr lang="en-US" sz="2400" dirty="0"/>
          </a:p>
          <a:p>
            <a:r>
              <a:rPr lang="en-US" sz="2400" dirty="0" smtClean="0"/>
              <a:t>These added pages and higher I/O can cause performance issues</a:t>
            </a:r>
            <a:r>
              <a:rPr lang="en-US" sz="2400" dirty="0"/>
              <a:t/>
            </a:r>
            <a:br>
              <a:rPr lang="en-US" sz="2400" dirty="0"/>
            </a:br>
            <a:r>
              <a:rPr lang="en-US" dirty="0"/>
              <a:t/>
            </a:r>
            <a:br>
              <a:rPr lang="en-US" dirty="0"/>
            </a:br>
            <a:endParaRPr lang="en-US" dirty="0"/>
          </a:p>
        </p:txBody>
      </p:sp>
    </p:spTree>
    <p:extLst>
      <p:ext uri="{BB962C8B-B14F-4D97-AF65-F5344CB8AC3E}">
        <p14:creationId xmlns:p14="http://schemas.microsoft.com/office/powerpoint/2010/main" val="399302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38054"/>
            <a:ext cx="8229600" cy="1324645"/>
          </a:xfrm>
        </p:spPr>
        <p:txBody>
          <a:bodyPr>
            <a:noAutofit/>
          </a:bodyPr>
          <a:lstStyle/>
          <a:p>
            <a:r>
              <a:rPr lang="en-US" sz="2800" dirty="0" smtClean="0"/>
              <a:t>If we know that a fill factor of 100 can cause  page splits, then what is the optimum number we should set for fill factor?</a:t>
            </a:r>
            <a:endParaRPr lang="en-US" sz="2800" dirty="0"/>
          </a:p>
        </p:txBody>
      </p:sp>
      <p:sp>
        <p:nvSpPr>
          <p:cNvPr id="3" name="Content Placeholder 2"/>
          <p:cNvSpPr>
            <a:spLocks noGrp="1"/>
          </p:cNvSpPr>
          <p:nvPr>
            <p:ph idx="1"/>
          </p:nvPr>
        </p:nvSpPr>
        <p:spPr>
          <a:xfrm>
            <a:off x="457200" y="2010846"/>
            <a:ext cx="8229600" cy="4478874"/>
          </a:xfrm>
        </p:spPr>
        <p:txBody>
          <a:bodyPr>
            <a:normAutofit/>
          </a:bodyPr>
          <a:lstStyle/>
          <a:p>
            <a:r>
              <a:rPr lang="en-US" sz="2800" dirty="0" smtClean="0"/>
              <a:t>Depends on your environment.</a:t>
            </a:r>
          </a:p>
          <a:p>
            <a:r>
              <a:rPr lang="en-US" sz="2800" dirty="0" smtClean="0"/>
              <a:t>If you have a read only database then set the fill factor to 100</a:t>
            </a:r>
          </a:p>
          <a:p>
            <a:r>
              <a:rPr lang="en-US" sz="2800" dirty="0"/>
              <a:t>If you have a </a:t>
            </a:r>
            <a:r>
              <a:rPr lang="en-US" sz="2800" dirty="0" smtClean="0"/>
              <a:t>database with little modification for inserts or updates then </a:t>
            </a:r>
            <a:r>
              <a:rPr lang="en-US" sz="2800" dirty="0"/>
              <a:t>set the fill factor to </a:t>
            </a:r>
            <a:r>
              <a:rPr lang="en-US" sz="2800" dirty="0" smtClean="0"/>
              <a:t>100</a:t>
            </a:r>
          </a:p>
          <a:p>
            <a:r>
              <a:rPr lang="en-US" sz="2800" dirty="0"/>
              <a:t>If your system </a:t>
            </a:r>
            <a:r>
              <a:rPr lang="en-US" sz="2800" dirty="0" smtClean="0"/>
              <a:t>experiences high OLTP </a:t>
            </a:r>
            <a:r>
              <a:rPr lang="en-US" sz="2800" dirty="0"/>
              <a:t>transactions, then </a:t>
            </a:r>
            <a:r>
              <a:rPr lang="en-US" sz="2800" dirty="0" smtClean="0"/>
              <a:t>consider lowering the value to 85 to 95</a:t>
            </a:r>
          </a:p>
          <a:p>
            <a:r>
              <a:rPr lang="en-US" sz="2800" dirty="0" smtClean="0"/>
              <a:t>This number will have to tested (we will cover that in the upcoming videos)</a:t>
            </a:r>
            <a:endParaRPr lang="en-US" sz="2800" dirty="0"/>
          </a:p>
        </p:txBody>
      </p:sp>
    </p:spTree>
    <p:extLst>
      <p:ext uri="{BB962C8B-B14F-4D97-AF65-F5344CB8AC3E}">
        <p14:creationId xmlns:p14="http://schemas.microsoft.com/office/powerpoint/2010/main" val="30272912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159</TotalTime>
  <Words>528</Words>
  <Application>Microsoft Office PowerPoint</Application>
  <PresentationFormat>On-screen Show (4:3)</PresentationFormat>
  <Paragraphs>34</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What is the fill factor? </vt:lpstr>
      <vt:lpstr>PowerPoint Presentation</vt:lpstr>
      <vt:lpstr>PowerPoint Presentation</vt:lpstr>
      <vt:lpstr>PowerPoint Presentation</vt:lpstr>
      <vt:lpstr>If we know that a fill factor of 100 can cause  page splits, then what is the optimum number we should set for fill factor?</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LCAD</dc:creator>
  <cp:lastModifiedBy>rafasg61 A</cp:lastModifiedBy>
  <cp:revision>70</cp:revision>
  <dcterms:created xsi:type="dcterms:W3CDTF">2017-11-03T17:38:24Z</dcterms:created>
  <dcterms:modified xsi:type="dcterms:W3CDTF">2017-11-04T02:01:45Z</dcterms:modified>
</cp:coreProperties>
</file>