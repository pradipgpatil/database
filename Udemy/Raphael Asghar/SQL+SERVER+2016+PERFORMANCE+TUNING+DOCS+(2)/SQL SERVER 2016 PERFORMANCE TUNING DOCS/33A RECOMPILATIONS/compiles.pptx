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61" r:id="rId4"/>
    <p:sldId id="258" r:id="rId5"/>
    <p:sldId id="260" r:id="rId6"/>
    <p:sldId id="263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2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8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4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7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3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4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63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8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0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19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8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4CB92-5495-E641-89E1-9B959BB1FD62}" type="datetimeFigureOut">
              <a:rPr lang="en-US" smtClean="0"/>
              <a:t>11/18/2017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1E860-823E-6B46-921C-7FA39CF4D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1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8743"/>
            <a:ext cx="7772400" cy="147002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+mn-lt"/>
              </a:rPr>
              <a:t>What is </a:t>
            </a:r>
            <a:r>
              <a:rPr lang="en-US" sz="3000" dirty="0" smtClean="0">
                <a:latin typeface="+mn-lt"/>
              </a:rPr>
              <a:t>compilation / recompilation?</a:t>
            </a:r>
            <a:endParaRPr lang="en-US" sz="30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133600"/>
            <a:ext cx="9022813" cy="4421436"/>
          </a:xfrm>
        </p:spPr>
        <p:txBody>
          <a:bodyPr>
            <a:norm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  <a:ea typeface="+mj-ea"/>
              <a:cs typeface="+mj-cs"/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ea typeface="+mj-ea"/>
                <a:cs typeface="+mj-cs"/>
              </a:rPr>
              <a:t>A </a:t>
            </a:r>
            <a:r>
              <a:rPr lang="en-US" sz="2000" dirty="0">
                <a:solidFill>
                  <a:srgbClr val="FF0000"/>
                </a:solidFill>
                <a:ea typeface="+mj-ea"/>
                <a:cs typeface="+mj-cs"/>
              </a:rPr>
              <a:t>compilation</a:t>
            </a:r>
            <a:r>
              <a:rPr lang="en-US" sz="2000" dirty="0">
                <a:solidFill>
                  <a:schemeClr val="tx1"/>
                </a:solidFill>
                <a:ea typeface="+mj-ea"/>
                <a:cs typeface="+mj-cs"/>
              </a:rPr>
              <a:t> is the process when a stored procedure’s query </a:t>
            </a:r>
            <a:r>
              <a:rPr lang="en-US" sz="2000" dirty="0">
                <a:solidFill>
                  <a:srgbClr val="FF0000"/>
                </a:solidFill>
                <a:ea typeface="+mj-ea"/>
                <a:cs typeface="+mj-cs"/>
              </a:rPr>
              <a:t>execution plan </a:t>
            </a:r>
            <a:r>
              <a:rPr lang="en-US" sz="2000" dirty="0">
                <a:solidFill>
                  <a:schemeClr val="tx1"/>
                </a:solidFill>
                <a:ea typeface="+mj-ea"/>
                <a:cs typeface="+mj-cs"/>
              </a:rPr>
              <a:t>is </a:t>
            </a:r>
            <a:r>
              <a:rPr lang="en-US" sz="2000" dirty="0" smtClean="0">
                <a:solidFill>
                  <a:schemeClr val="tx1"/>
                </a:solidFill>
                <a:ea typeface="+mj-ea"/>
                <a:cs typeface="+mj-cs"/>
              </a:rPr>
              <a:t>optimized by the optimizer.  Once the optimizer completes, the compiled execution plan is saved in the cache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ea typeface="+mj-ea"/>
              <a:cs typeface="+mj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8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8019"/>
            <a:ext cx="7772400" cy="83298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+mn-lt"/>
              </a:rPr>
              <a:t>The purpose of the Query Optimizer </a:t>
            </a:r>
            <a:endParaRPr lang="en-US" sz="24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00204"/>
            <a:ext cx="6400800" cy="393859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3400" dirty="0">
                <a:solidFill>
                  <a:schemeClr val="tx1"/>
                </a:solidFill>
                <a:ea typeface="+mj-ea"/>
                <a:cs typeface="+mj-cs"/>
              </a:rPr>
              <a:t>A query optimizer is a SQL component that </a:t>
            </a:r>
            <a:r>
              <a:rPr lang="en-US" sz="3400" dirty="0">
                <a:solidFill>
                  <a:srgbClr val="FF0000"/>
                </a:solidFill>
                <a:ea typeface="+mj-ea"/>
                <a:cs typeface="+mj-cs"/>
              </a:rPr>
              <a:t>analyzes SQL queries </a:t>
            </a:r>
            <a:r>
              <a:rPr lang="en-US" sz="3400" dirty="0">
                <a:solidFill>
                  <a:schemeClr val="tx1"/>
                </a:solidFill>
                <a:ea typeface="+mj-ea"/>
                <a:cs typeface="+mj-cs"/>
              </a:rPr>
              <a:t>and generates multiple </a:t>
            </a:r>
            <a:r>
              <a:rPr lang="en-US" sz="3400" dirty="0">
                <a:solidFill>
                  <a:srgbClr val="FF0000"/>
                </a:solidFill>
                <a:ea typeface="+mj-ea"/>
                <a:cs typeface="+mj-cs"/>
              </a:rPr>
              <a:t>execution plans </a:t>
            </a:r>
            <a:r>
              <a:rPr lang="en-US" sz="3400" dirty="0">
                <a:solidFill>
                  <a:schemeClr val="tx1"/>
                </a:solidFill>
                <a:ea typeface="+mj-ea"/>
                <a:cs typeface="+mj-cs"/>
              </a:rPr>
              <a:t>and then selects the most efficient plan </a:t>
            </a:r>
          </a:p>
          <a:p>
            <a:pPr algn="l"/>
            <a:endParaRPr lang="en-US" sz="3400" dirty="0">
              <a:solidFill>
                <a:schemeClr val="tx1"/>
              </a:solidFill>
              <a:ea typeface="+mj-ea"/>
              <a:cs typeface="+mj-cs"/>
            </a:endParaRPr>
          </a:p>
          <a:p>
            <a:pPr algn="l"/>
            <a:r>
              <a:rPr lang="en-US" sz="3400" dirty="0">
                <a:solidFill>
                  <a:schemeClr val="tx1"/>
                </a:solidFill>
                <a:ea typeface="+mj-ea"/>
                <a:cs typeface="+mj-cs"/>
              </a:rPr>
              <a:t>Each of these </a:t>
            </a:r>
            <a:r>
              <a:rPr lang="en-US" sz="3400" dirty="0">
                <a:solidFill>
                  <a:srgbClr val="FF0000"/>
                </a:solidFill>
                <a:ea typeface="+mj-ea"/>
                <a:cs typeface="+mj-cs"/>
              </a:rPr>
              <a:t>SQL</a:t>
            </a:r>
            <a:r>
              <a:rPr lang="en-US" sz="3400" dirty="0">
                <a:solidFill>
                  <a:schemeClr val="tx1"/>
                </a:solidFill>
                <a:ea typeface="+mj-ea"/>
                <a:cs typeface="+mj-cs"/>
              </a:rPr>
              <a:t> statement, be it simple or complex, </a:t>
            </a:r>
            <a:r>
              <a:rPr lang="en-US" sz="3400" dirty="0">
                <a:solidFill>
                  <a:srgbClr val="FF0000"/>
                </a:solidFill>
                <a:ea typeface="+mj-ea"/>
                <a:cs typeface="+mj-cs"/>
              </a:rPr>
              <a:t>requires</a:t>
            </a:r>
            <a:r>
              <a:rPr lang="en-US" sz="3400" dirty="0">
                <a:solidFill>
                  <a:schemeClr val="tx1"/>
                </a:solidFill>
                <a:ea typeface="+mj-ea"/>
                <a:cs typeface="+mj-cs"/>
              </a:rPr>
              <a:t> minimal use of valuable </a:t>
            </a:r>
            <a:r>
              <a:rPr lang="en-US" sz="3400" dirty="0">
                <a:solidFill>
                  <a:srgbClr val="FF0000"/>
                </a:solidFill>
                <a:ea typeface="+mj-ea"/>
                <a:cs typeface="+mj-cs"/>
              </a:rPr>
              <a:t>resources</a:t>
            </a:r>
            <a:r>
              <a:rPr lang="en-US" sz="3400" dirty="0">
                <a:solidFill>
                  <a:schemeClr val="tx1"/>
                </a:solidFill>
                <a:ea typeface="+mj-ea"/>
                <a:cs typeface="+mj-cs"/>
              </a:rPr>
              <a:t>, such as disk reads, CPU usage and server memory</a:t>
            </a:r>
          </a:p>
          <a:p>
            <a:pPr algn="l"/>
            <a:r>
              <a:rPr lang="en-US" sz="3700" dirty="0" smtClean="0">
                <a:latin typeface="+mj-lt"/>
              </a:rPr>
              <a:t/>
            </a:r>
            <a:br>
              <a:rPr lang="en-US" sz="3700" dirty="0" smtClean="0">
                <a:latin typeface="+mj-l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4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optimizer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808" r="-114808"/>
          <a:stretch>
            <a:fillRect/>
          </a:stretch>
        </p:blipFill>
        <p:spPr>
          <a:xfrm>
            <a:off x="1266272" y="1661978"/>
            <a:ext cx="7998914" cy="48600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95740" y="352540"/>
            <a:ext cx="3283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Query optimizer steps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0544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6932" y="224316"/>
            <a:ext cx="47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a sproc </a:t>
            </a:r>
            <a:r>
              <a:rPr lang="en-US" dirty="0" smtClean="0">
                <a:solidFill>
                  <a:srgbClr val="FF0000"/>
                </a:solidFill>
              </a:rPr>
              <a:t>compiling</a:t>
            </a:r>
            <a:r>
              <a:rPr lang="en-US" dirty="0" smtClean="0"/>
              <a:t> and execution plan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7690" y="3581295"/>
            <a:ext cx="96868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Stored </a:t>
            </a:r>
          </a:p>
          <a:p>
            <a:pPr algn="ctr"/>
            <a:r>
              <a:rPr lang="en-US" sz="1200" dirty="0" smtClean="0"/>
              <a:t>Procedure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7872299" y="1336896"/>
            <a:ext cx="1100942" cy="6351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72299" y="1446535"/>
            <a:ext cx="11009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Cache (memory)</a:t>
            </a:r>
            <a:endParaRPr lang="en-US" sz="1100" dirty="0"/>
          </a:p>
        </p:txBody>
      </p:sp>
      <p:sp>
        <p:nvSpPr>
          <p:cNvPr id="6" name="Rectangle 5"/>
          <p:cNvSpPr/>
          <p:nvPr/>
        </p:nvSpPr>
        <p:spPr>
          <a:xfrm>
            <a:off x="7872299" y="4942336"/>
            <a:ext cx="1100942" cy="5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09263" y="5073168"/>
            <a:ext cx="80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Disk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" y="3150408"/>
            <a:ext cx="13440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1</a:t>
            </a:r>
            <a:r>
              <a:rPr lang="en-US" sz="1100" baseline="30000" dirty="0" smtClean="0"/>
              <a:t>st</a:t>
            </a:r>
            <a:r>
              <a:rPr lang="en-US" sz="1100" dirty="0" smtClean="0"/>
              <a:t> time a </a:t>
            </a:r>
          </a:p>
          <a:p>
            <a:pPr algn="ctr"/>
            <a:r>
              <a:rPr lang="en-US" sz="1100" dirty="0" smtClean="0"/>
              <a:t>sproc is executed</a:t>
            </a:r>
            <a:endParaRPr lang="en-US" sz="11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910944" y="4672980"/>
            <a:ext cx="678869" cy="5720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2394584">
            <a:off x="6401028" y="4954864"/>
            <a:ext cx="12707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FF0000"/>
                </a:solidFill>
              </a:rPr>
              <a:t>1</a:t>
            </a:r>
            <a:r>
              <a:rPr lang="en-US" sz="1100" baseline="30000" dirty="0" smtClean="0">
                <a:solidFill>
                  <a:srgbClr val="FF0000"/>
                </a:solidFill>
              </a:rPr>
              <a:t>st</a:t>
            </a:r>
            <a:r>
              <a:rPr lang="en-US" sz="1100" dirty="0" smtClean="0">
                <a:solidFill>
                  <a:srgbClr val="FF0000"/>
                </a:solidFill>
              </a:rPr>
              <a:t> time a sproc is executed:</a:t>
            </a:r>
          </a:p>
          <a:p>
            <a:pPr algn="ctr"/>
            <a:r>
              <a:rPr lang="en-US" sz="1100" dirty="0" smtClean="0">
                <a:solidFill>
                  <a:srgbClr val="FF0000"/>
                </a:solidFill>
              </a:rPr>
              <a:t>Gets the data from disk</a:t>
            </a:r>
            <a:endParaRPr lang="en-US" sz="11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7067022" y="4537379"/>
            <a:ext cx="649199" cy="5357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852492" y="1888229"/>
            <a:ext cx="918130" cy="425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20144538">
            <a:off x="6317374" y="1241272"/>
            <a:ext cx="14984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It goes to the cache to see if there is an execution plan: If not it will go to disk to get the data</a:t>
            </a:r>
            <a:endParaRPr lang="en-US" sz="10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25" y="2585933"/>
            <a:ext cx="1722174" cy="1990725"/>
          </a:xfrm>
          <a:prstGeom prst="rect">
            <a:avLst/>
          </a:prstGeom>
        </p:spPr>
      </p:pic>
      <p:pic>
        <p:nvPicPr>
          <p:cNvPr id="25" name="Content Placeholder 3" descr="optimizer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808" r="-114808"/>
          <a:stretch>
            <a:fillRect/>
          </a:stretch>
        </p:blipFill>
        <p:spPr>
          <a:xfrm>
            <a:off x="814581" y="1661978"/>
            <a:ext cx="4544172" cy="3503505"/>
          </a:xfrm>
          <a:prstGeom prst="rect">
            <a:avLst/>
          </a:prstGeom>
        </p:spPr>
      </p:pic>
      <p:sp>
        <p:nvSpPr>
          <p:cNvPr id="27" name="Right Arrow 26"/>
          <p:cNvSpPr/>
          <p:nvPr/>
        </p:nvSpPr>
        <p:spPr>
          <a:xfrm>
            <a:off x="1673978" y="3498224"/>
            <a:ext cx="407623" cy="2210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>
            <a:off x="3962202" y="3490459"/>
            <a:ext cx="361404" cy="2288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30506" y="5232805"/>
            <a:ext cx="49052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1. Sproc is executed</a:t>
            </a:r>
          </a:p>
          <a:p>
            <a:r>
              <a:rPr lang="en-US" sz="1400" dirty="0" smtClean="0"/>
              <a:t>2. Optimizer creates an execution plan</a:t>
            </a:r>
          </a:p>
          <a:p>
            <a:r>
              <a:rPr lang="en-US" sz="1400" dirty="0" smtClean="0"/>
              <a:t>3. </a:t>
            </a:r>
            <a:r>
              <a:rPr lang="en-US" sz="1400" dirty="0"/>
              <a:t>Optimizer </a:t>
            </a:r>
            <a:r>
              <a:rPr lang="en-US" sz="1400" dirty="0" smtClean="0"/>
              <a:t>checks cache for existence of plan</a:t>
            </a:r>
          </a:p>
          <a:p>
            <a:r>
              <a:rPr lang="en-US" sz="1400" dirty="0" smtClean="0"/>
              <a:t>4. If not in cache, it will go to the disk to find data</a:t>
            </a:r>
          </a:p>
          <a:p>
            <a:r>
              <a:rPr lang="en-US" sz="1400" dirty="0" smtClean="0"/>
              <a:t>5. This first time creation of an execution plan is compiling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8955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6553194" y="4296578"/>
            <a:ext cx="1107942" cy="10535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66932" y="224316"/>
            <a:ext cx="47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a sproc </a:t>
            </a:r>
            <a:r>
              <a:rPr lang="en-US" dirty="0" smtClean="0">
                <a:solidFill>
                  <a:srgbClr val="FF0000"/>
                </a:solidFill>
              </a:rPr>
              <a:t>compiling</a:t>
            </a:r>
            <a:r>
              <a:rPr lang="en-US" dirty="0" smtClean="0"/>
              <a:t> and execution plan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7690" y="3581295"/>
            <a:ext cx="96868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Stored </a:t>
            </a:r>
          </a:p>
          <a:p>
            <a:pPr algn="ctr"/>
            <a:r>
              <a:rPr lang="en-US" sz="1200" dirty="0" smtClean="0"/>
              <a:t>Procedure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7872299" y="1336896"/>
            <a:ext cx="1100942" cy="6351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72299" y="1446535"/>
            <a:ext cx="110094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Cache (memory)</a:t>
            </a:r>
          </a:p>
          <a:p>
            <a:pPr algn="ctr"/>
            <a:r>
              <a:rPr lang="en-US" sz="1100" dirty="0" smtClean="0"/>
              <a:t>Sproc</a:t>
            </a:r>
            <a:endParaRPr lang="en-US" sz="1100" dirty="0"/>
          </a:p>
        </p:txBody>
      </p:sp>
      <p:sp>
        <p:nvSpPr>
          <p:cNvPr id="6" name="Rectangle 5"/>
          <p:cNvSpPr/>
          <p:nvPr/>
        </p:nvSpPr>
        <p:spPr>
          <a:xfrm>
            <a:off x="7872299" y="4942336"/>
            <a:ext cx="1100942" cy="5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09263" y="5073168"/>
            <a:ext cx="80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Disk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" y="3150408"/>
            <a:ext cx="13440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2nd time a </a:t>
            </a:r>
          </a:p>
          <a:p>
            <a:pPr algn="ctr"/>
            <a:r>
              <a:rPr lang="en-US" sz="1100" dirty="0" smtClean="0"/>
              <a:t>sproc is executed</a:t>
            </a:r>
            <a:endParaRPr lang="en-US" sz="1100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699781" y="4672980"/>
            <a:ext cx="678869" cy="572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6855859" y="4537379"/>
            <a:ext cx="649199" cy="535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852492" y="1888229"/>
            <a:ext cx="918130" cy="425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20144538">
            <a:off x="6317374" y="1318216"/>
            <a:ext cx="1498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It goes to the cache to see if there is an execution plan: </a:t>
            </a:r>
            <a:r>
              <a:rPr lang="en-US" sz="1000" dirty="0" smtClean="0">
                <a:solidFill>
                  <a:srgbClr val="FF0000"/>
                </a:solidFill>
              </a:rPr>
              <a:t>DOES EXISTS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25" y="2585933"/>
            <a:ext cx="1722174" cy="1990725"/>
          </a:xfrm>
          <a:prstGeom prst="rect">
            <a:avLst/>
          </a:prstGeom>
        </p:spPr>
      </p:pic>
      <p:pic>
        <p:nvPicPr>
          <p:cNvPr id="25" name="Content Placeholder 3" descr="optimizer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808" r="-114808"/>
          <a:stretch>
            <a:fillRect/>
          </a:stretch>
        </p:blipFill>
        <p:spPr>
          <a:xfrm>
            <a:off x="814581" y="1661978"/>
            <a:ext cx="4544172" cy="3503505"/>
          </a:xfrm>
          <a:prstGeom prst="rect">
            <a:avLst/>
          </a:prstGeom>
        </p:spPr>
      </p:pic>
      <p:sp>
        <p:nvSpPr>
          <p:cNvPr id="27" name="Right Arrow 26"/>
          <p:cNvSpPr/>
          <p:nvPr/>
        </p:nvSpPr>
        <p:spPr>
          <a:xfrm>
            <a:off x="1673978" y="3498224"/>
            <a:ext cx="407623" cy="2210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>
            <a:off x="3962202" y="3490459"/>
            <a:ext cx="361404" cy="2288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30506" y="5232805"/>
            <a:ext cx="49052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1. 2</a:t>
            </a:r>
            <a:r>
              <a:rPr lang="en-US" sz="1400" baseline="30000" dirty="0" smtClean="0"/>
              <a:t>ND</a:t>
            </a:r>
            <a:r>
              <a:rPr lang="en-US" sz="1400" dirty="0" smtClean="0"/>
              <a:t> time Sproc is executed</a:t>
            </a:r>
          </a:p>
          <a:p>
            <a:r>
              <a:rPr lang="en-US" sz="1400" dirty="0" smtClean="0"/>
              <a:t>2. Optimizer creates an execution plan</a:t>
            </a:r>
          </a:p>
          <a:p>
            <a:r>
              <a:rPr lang="en-US" sz="1400" dirty="0" smtClean="0"/>
              <a:t>3. </a:t>
            </a:r>
            <a:r>
              <a:rPr lang="en-US" sz="1400" dirty="0"/>
              <a:t>Optimizer </a:t>
            </a:r>
            <a:r>
              <a:rPr lang="en-US" sz="1400" dirty="0" smtClean="0"/>
              <a:t>checks cache for existence of plan</a:t>
            </a:r>
          </a:p>
          <a:p>
            <a:r>
              <a:rPr lang="en-US" sz="1400" dirty="0" smtClean="0"/>
              <a:t>4. If </a:t>
            </a:r>
            <a:r>
              <a:rPr lang="en-US" sz="1400" dirty="0" smtClean="0">
                <a:solidFill>
                  <a:srgbClr val="FF0000"/>
                </a:solidFill>
              </a:rPr>
              <a:t>DOES EXIST </a:t>
            </a:r>
            <a:r>
              <a:rPr lang="en-US" sz="1400" dirty="0" smtClean="0"/>
              <a:t>in cache, it will NOT go to the disk to find data</a:t>
            </a:r>
          </a:p>
          <a:p>
            <a:r>
              <a:rPr lang="en-US" sz="1400" dirty="0" smtClean="0"/>
              <a:t>5. Execution plan is saved in cache for reuse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061812" y="4672980"/>
            <a:ext cx="914400" cy="914400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6466901" y="4296578"/>
            <a:ext cx="1303721" cy="118442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855859" y="2046699"/>
            <a:ext cx="1016440" cy="432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6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32132"/>
            <a:ext cx="7772400" cy="87718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+mn-lt"/>
              </a:rPr>
              <a:t>What is recompilation?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145753"/>
            <a:ext cx="9144000" cy="5574535"/>
          </a:xfrm>
        </p:spPr>
        <p:txBody>
          <a:bodyPr>
            <a:normAutofit fontScale="55000" lnSpcReduction="20000"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endParaRPr lang="en-US" sz="5100" dirty="0" smtClean="0">
              <a:solidFill>
                <a:schemeClr val="tx1"/>
              </a:solidFill>
              <a:ea typeface="+mj-ea"/>
              <a:cs typeface="+mj-cs"/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A </a:t>
            </a:r>
            <a:r>
              <a:rPr lang="en-US" sz="5100" dirty="0">
                <a:solidFill>
                  <a:schemeClr val="tx1"/>
                </a:solidFill>
                <a:ea typeface="+mj-ea"/>
                <a:cs typeface="+mj-cs"/>
              </a:rPr>
              <a:t>recompilation is the same process as a compilation, just executed 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again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sz="5100" dirty="0">
              <a:solidFill>
                <a:schemeClr val="tx1"/>
              </a:solidFill>
              <a:ea typeface="+mj-ea"/>
              <a:cs typeface="+mj-cs"/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5100" dirty="0" smtClean="0">
                <a:solidFill>
                  <a:schemeClr val="tx1"/>
                </a:solidFill>
              </a:rPr>
              <a:t>Recompilation occurs when the 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database </a:t>
            </a:r>
            <a:r>
              <a:rPr lang="en-US" sz="5100" dirty="0">
                <a:solidFill>
                  <a:schemeClr val="tx1"/>
                </a:solidFill>
                <a:ea typeface="+mj-ea"/>
                <a:cs typeface="+mj-cs"/>
              </a:rPr>
              <a:t>structure or data change 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significantly causing a </a:t>
            </a:r>
            <a:r>
              <a:rPr lang="en-US" sz="5100" dirty="0">
                <a:solidFill>
                  <a:schemeClr val="tx1"/>
                </a:solidFill>
                <a:ea typeface="+mj-ea"/>
                <a:cs typeface="+mj-cs"/>
              </a:rPr>
              <a:t>new query execution 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plan to be reproduced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sz="5100" dirty="0">
              <a:solidFill>
                <a:schemeClr val="tx1"/>
              </a:solidFill>
              <a:ea typeface="+mj-ea"/>
              <a:cs typeface="+mj-cs"/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This recompilation </a:t>
            </a:r>
            <a:r>
              <a:rPr lang="en-US" sz="5100" dirty="0">
                <a:solidFill>
                  <a:schemeClr val="tx1"/>
                </a:solidFill>
                <a:ea typeface="+mj-ea"/>
                <a:cs typeface="+mj-cs"/>
              </a:rPr>
              <a:t>degrades SQL Server 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performance as it’s not using the  </a:t>
            </a:r>
            <a:r>
              <a:rPr lang="en-US" sz="5100" dirty="0">
                <a:solidFill>
                  <a:schemeClr val="tx1"/>
                </a:solidFill>
                <a:ea typeface="+mj-ea"/>
                <a:cs typeface="+mj-cs"/>
              </a:rPr>
              <a:t>cached execution 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plan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sz="5100" dirty="0" smtClean="0">
              <a:solidFill>
                <a:schemeClr val="tx1"/>
              </a:solidFill>
              <a:ea typeface="+mj-ea"/>
              <a:cs typeface="+mj-cs"/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5100" dirty="0">
                <a:solidFill>
                  <a:schemeClr val="tx1"/>
                </a:solidFill>
                <a:ea typeface="+mj-ea"/>
                <a:cs typeface="+mj-cs"/>
              </a:rPr>
              <a:t>Q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ueries </a:t>
            </a:r>
            <a:r>
              <a:rPr lang="en-US" sz="5100" dirty="0">
                <a:solidFill>
                  <a:schemeClr val="tx1"/>
                </a:solidFill>
                <a:ea typeface="+mj-ea"/>
                <a:cs typeface="+mj-cs"/>
              </a:rPr>
              <a:t>are reused, but their query execution plan is </a:t>
            </a:r>
            <a:r>
              <a:rPr lang="en-US" sz="5100" dirty="0" smtClean="0">
                <a:solidFill>
                  <a:schemeClr val="tx1"/>
                </a:solidFill>
                <a:ea typeface="+mj-ea"/>
                <a:cs typeface="+mj-cs"/>
              </a:rPr>
              <a:t>not</a:t>
            </a:r>
            <a:endParaRPr lang="en-US" sz="510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579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6932" y="224316"/>
            <a:ext cx="470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a sproc </a:t>
            </a:r>
            <a:r>
              <a:rPr lang="en-US" b="1" dirty="0" smtClean="0">
                <a:solidFill>
                  <a:srgbClr val="FF0000"/>
                </a:solidFill>
              </a:rPr>
              <a:t>recompiling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 execution plan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7690" y="3581295"/>
            <a:ext cx="96868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Stored </a:t>
            </a:r>
          </a:p>
          <a:p>
            <a:pPr algn="ctr"/>
            <a:r>
              <a:rPr lang="en-US" sz="1200" dirty="0" smtClean="0"/>
              <a:t>Procedure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7872299" y="1336896"/>
            <a:ext cx="1100942" cy="6351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72299" y="1446535"/>
            <a:ext cx="110094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Cache (memory)</a:t>
            </a:r>
          </a:p>
          <a:p>
            <a:pPr algn="ctr"/>
            <a:r>
              <a:rPr lang="en-US" sz="1100" dirty="0" smtClean="0"/>
              <a:t>Sproc</a:t>
            </a:r>
            <a:endParaRPr lang="en-US" sz="1100" dirty="0"/>
          </a:p>
        </p:txBody>
      </p:sp>
      <p:sp>
        <p:nvSpPr>
          <p:cNvPr id="6" name="Rectangle 5"/>
          <p:cNvSpPr/>
          <p:nvPr/>
        </p:nvSpPr>
        <p:spPr>
          <a:xfrm>
            <a:off x="7872299" y="4942336"/>
            <a:ext cx="1100942" cy="5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09263" y="5073168"/>
            <a:ext cx="80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Disk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1649" y="2898060"/>
            <a:ext cx="13440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smtClean="0">
                <a:solidFill>
                  <a:srgbClr val="FF0000"/>
                </a:solidFill>
              </a:rPr>
              <a:t>CHANGE OR MODIFICATION IN SPROC</a:t>
            </a:r>
            <a:endParaRPr lang="en-US" sz="1100" b="1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6852492" y="1888229"/>
            <a:ext cx="918130" cy="425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20144538">
            <a:off x="6317374" y="1318216"/>
            <a:ext cx="1498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It goes to the cache to see if there is an execution plan: </a:t>
            </a:r>
            <a:r>
              <a:rPr lang="en-US" sz="1000" dirty="0" smtClean="0">
                <a:solidFill>
                  <a:srgbClr val="FF0000"/>
                </a:solidFill>
              </a:rPr>
              <a:t>DOES NOT EXISTS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25" y="2585933"/>
            <a:ext cx="1722174" cy="1990725"/>
          </a:xfrm>
          <a:prstGeom prst="rect">
            <a:avLst/>
          </a:prstGeom>
        </p:spPr>
      </p:pic>
      <p:pic>
        <p:nvPicPr>
          <p:cNvPr id="25" name="Content Placeholder 3" descr="optimizer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808" r="-114808"/>
          <a:stretch>
            <a:fillRect/>
          </a:stretch>
        </p:blipFill>
        <p:spPr>
          <a:xfrm>
            <a:off x="814581" y="1661978"/>
            <a:ext cx="4544172" cy="3503505"/>
          </a:xfrm>
          <a:prstGeom prst="rect">
            <a:avLst/>
          </a:prstGeom>
        </p:spPr>
      </p:pic>
      <p:sp>
        <p:nvSpPr>
          <p:cNvPr id="27" name="Right Arrow 26"/>
          <p:cNvSpPr/>
          <p:nvPr/>
        </p:nvSpPr>
        <p:spPr>
          <a:xfrm>
            <a:off x="1673978" y="3498224"/>
            <a:ext cx="407623" cy="22108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>
            <a:off x="3962202" y="3490459"/>
            <a:ext cx="361404" cy="2288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30506" y="5232805"/>
            <a:ext cx="4905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1. Sproc is executed WITH MODFICATION</a:t>
            </a:r>
          </a:p>
          <a:p>
            <a:r>
              <a:rPr lang="en-US" sz="1400" dirty="0" smtClean="0"/>
              <a:t>2. Optimizer creates ANOTHER execution plan</a:t>
            </a:r>
          </a:p>
          <a:p>
            <a:r>
              <a:rPr lang="en-US" sz="1400" dirty="0" smtClean="0"/>
              <a:t>3. </a:t>
            </a:r>
            <a:r>
              <a:rPr lang="en-US" sz="1400" dirty="0"/>
              <a:t>Optimizer </a:t>
            </a:r>
            <a:r>
              <a:rPr lang="en-US" sz="1400" dirty="0" smtClean="0"/>
              <a:t>checks cache for existence of plan</a:t>
            </a:r>
          </a:p>
          <a:p>
            <a:r>
              <a:rPr lang="en-US" sz="1400" dirty="0" smtClean="0"/>
              <a:t>4. If </a:t>
            </a:r>
            <a:r>
              <a:rPr lang="en-US" sz="1400" dirty="0" smtClean="0">
                <a:solidFill>
                  <a:srgbClr val="FF0000"/>
                </a:solidFill>
              </a:rPr>
              <a:t>DOES NOT EXIST </a:t>
            </a:r>
            <a:r>
              <a:rPr lang="en-US" sz="1400" dirty="0" smtClean="0"/>
              <a:t>in cache, it will NOT go to the disk to find data</a:t>
            </a:r>
          </a:p>
          <a:p>
            <a:r>
              <a:rPr lang="en-US" sz="1400" dirty="0" smtClean="0"/>
              <a:t>5. Execution plan is saved in cache for reuse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569181" y="4435767"/>
            <a:ext cx="914400" cy="914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855859" y="2046699"/>
            <a:ext cx="1016440" cy="432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32964" y="2182940"/>
            <a:ext cx="1742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DIFFERENT EXECUTION PLAN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65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6541"/>
            <a:ext cx="7772400" cy="1470025"/>
          </a:xfrm>
        </p:spPr>
        <p:txBody>
          <a:bodyPr/>
          <a:lstStyle/>
          <a:p>
            <a:r>
              <a:rPr lang="en-US" dirty="0" smtClean="0"/>
              <a:t>What is the plan cache?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22652"/>
            <a:ext cx="6400800" cy="4387467"/>
          </a:xfrm>
        </p:spPr>
        <p:txBody>
          <a:bodyPr>
            <a:noAutofit/>
          </a:bodyPr>
          <a:lstStyle/>
          <a:p>
            <a:pPr algn="l"/>
            <a:endParaRPr lang="en-US" sz="1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part of the memory pool that is used to store execution plans is referred to as the </a:t>
            </a:r>
            <a:r>
              <a:rPr lang="en-US" sz="1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 cache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sz="1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There are many type of </a:t>
            </a:r>
            <a:r>
              <a:rPr lang="en-US" sz="1800" dirty="0" smtClean="0">
                <a:solidFill>
                  <a:schemeClr val="tx1"/>
                </a:solidFill>
              </a:rPr>
              <a:t>plan </a:t>
            </a:r>
            <a:r>
              <a:rPr lang="en-US" sz="1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cache.  The one we will focus on is the SQL PLAN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Plans 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are cached for possible reuse opportunities. If a query plan is not even cached, its reuse opportunity is zero. </a:t>
            </a:r>
            <a:endParaRPr lang="en-US" sz="18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/>
            <a:endParaRPr lang="en-US" sz="18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Such 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plan will be compiled every time it is executed, resulting in poor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9614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534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What is compilation / recompilation?</vt:lpstr>
      <vt:lpstr>The purpose of the Query Optimizer </vt:lpstr>
      <vt:lpstr>PowerPoint Presentation</vt:lpstr>
      <vt:lpstr>PowerPoint Presentation</vt:lpstr>
      <vt:lpstr>PowerPoint Presentation</vt:lpstr>
      <vt:lpstr>What is recompilation? </vt:lpstr>
      <vt:lpstr>PowerPoint Presentation</vt:lpstr>
      <vt:lpstr>What is the plan cache?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purpose of the Query Optimizer </dc:title>
  <dc:creator>LCAD</dc:creator>
  <cp:lastModifiedBy>rafasg61 A</cp:lastModifiedBy>
  <cp:revision>68</cp:revision>
  <dcterms:created xsi:type="dcterms:W3CDTF">2017-11-16T21:14:58Z</dcterms:created>
  <dcterms:modified xsi:type="dcterms:W3CDTF">2017-11-20T00:07:37Z</dcterms:modified>
</cp:coreProperties>
</file>