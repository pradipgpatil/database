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EAEE5D-144B-425B-956B-94D642D558B3}">
  <a:tblStyle styleId="{3FEAEE5D-144B-425B-956B-94D642D558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55cfdbd35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55cfdbd35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f70281d43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f70281d43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e3fd19f6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e3fd19f6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70281d439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70281d439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70281d43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70281d43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f0da453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f0da453a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1fb8e7f0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1fb8e7f0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70281d439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f70281d439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5e3fd19f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5e3fd19f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5e3fd19f6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5e3fd19f6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e3fd19f6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e3fd19f6d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f1fb8e7f0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f1fb8e7f0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70281d439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70281d439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5f0da453a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5f0da453a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f0da453a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5f0da453a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f0da453a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f0da453a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5f0da453a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5f0da453a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f5afe8e7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f5afe8e7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f70281d43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f70281d43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5f5afe8e7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5f5afe8e7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5f5afe8e7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5f5afe8e7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f70281d43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f70281d43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f1fb8e7f0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f1fb8e7f0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f70281d43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f70281d43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5f5afe8e7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5f5afe8e7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f5d465c6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5f5d465c6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5f5d465c6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5f5d465c6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f1fb8e7f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f1fb8e7f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f5afe8e73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f5afe8e73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f5d465c6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5f5d465c6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f1fb8e7f0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f1fb8e7f0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f70281d439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f70281d439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5f5afe8e7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5f5afe8e7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f70281d43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f70281d43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f70281d439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f70281d439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f1fb8e7f0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f1fb8e7f0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5f5d465c6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5f5d465c6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p14:dur="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Isolation_(database_systems)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905400" y="2348450"/>
            <a:ext cx="7333200" cy="123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ACID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486925"/>
            <a:ext cx="8520600" cy="15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Atomicity, Consistency, Isolation and Durability in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 Systems 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6202550" y="88775"/>
            <a:ext cx="2922000" cy="63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Husseinnasser.com</a:t>
            </a:r>
            <a:endParaRPr sz="2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Updated-Oct/2021</a:t>
            </a:r>
            <a:endParaRPr sz="2200"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l="25299" t="6984" r="26509" b="11422"/>
          <a:stretch/>
        </p:blipFill>
        <p:spPr>
          <a:xfrm>
            <a:off x="3477100" y="183675"/>
            <a:ext cx="2725449" cy="23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a Transaction?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Atomicity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Isolation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Consistency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Durability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Quiz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Transaction?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150" y="844800"/>
            <a:ext cx="1943400" cy="10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 collection of queries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One unit of work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E.g. Account deposit (SELECT, UPDATE, UPDATE)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 Lifespan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Transaction BEGIN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Transaction COMMIT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Transaction ROLLBACK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Transaction unexpected ending = ROLLBACK (e.g. crash)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Nature of Transactions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Usually Transactions are used to change and modify data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However, it is perfectly normal to have a read only transaction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Example, you want to generate a report and you want to get consistent snapshot based at the time of transaction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We will learn more about this in the Isolation section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47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Transaction</a:t>
            </a:r>
            <a:endParaRPr/>
          </a:p>
        </p:txBody>
      </p:sp>
      <p:graphicFrame>
        <p:nvGraphicFramePr>
          <p:cNvPr id="93" name="Google Shape;93;p19"/>
          <p:cNvGraphicFramePr/>
          <p:nvPr/>
        </p:nvGraphicFramePr>
        <p:xfrm>
          <a:off x="5801800" y="234388"/>
          <a:ext cx="3231725" cy="118863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46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ACCOUNT_ID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BALANCE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$1000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$500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4" name="Google Shape;94;p19"/>
          <p:cNvCxnSpPr/>
          <p:nvPr/>
        </p:nvCxnSpPr>
        <p:spPr>
          <a:xfrm>
            <a:off x="892750" y="1968125"/>
            <a:ext cx="0" cy="247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" name="Google Shape;95;p19"/>
          <p:cNvSpPr txBox="1"/>
          <p:nvPr/>
        </p:nvSpPr>
        <p:spPr>
          <a:xfrm>
            <a:off x="311700" y="1361075"/>
            <a:ext cx="3786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Send $100 From Account 1 to Account 2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1105800" y="1968125"/>
            <a:ext cx="79278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/>
              <a:t> </a:t>
            </a:r>
            <a:r>
              <a:rPr lang="en">
                <a:solidFill>
                  <a:schemeClr val="accent2"/>
                </a:solidFill>
              </a:rPr>
              <a:t>BALANCE</a:t>
            </a:r>
            <a:r>
              <a:rPr lang="en"/>
              <a:t>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/>
              <a:t> </a:t>
            </a:r>
            <a:r>
              <a:rPr lang="en">
                <a:solidFill>
                  <a:schemeClr val="accent2"/>
                </a:solidFill>
              </a:rPr>
              <a:t>ACCOUNT</a:t>
            </a:r>
            <a:r>
              <a:rPr lang="en"/>
              <a:t> </a:t>
            </a:r>
            <a:r>
              <a:rPr lang="en" b="1">
                <a:solidFill>
                  <a:srgbClr val="00FFFF"/>
                </a:solidFill>
              </a:rPr>
              <a:t>WHERE</a:t>
            </a:r>
            <a:r>
              <a:rPr lang="en">
                <a:solidFill>
                  <a:schemeClr val="accent2"/>
                </a:solidFill>
              </a:rPr>
              <a:t> ID = 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2932200" y="2983575"/>
            <a:ext cx="59451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UPDATE</a:t>
            </a:r>
            <a:r>
              <a:rPr lang="en"/>
              <a:t> </a:t>
            </a:r>
            <a:r>
              <a:rPr lang="en">
                <a:solidFill>
                  <a:schemeClr val="accent2"/>
                </a:solidFill>
              </a:rPr>
              <a:t>ACCOUNT</a:t>
            </a:r>
            <a:r>
              <a:rPr lang="en"/>
              <a:t> </a:t>
            </a:r>
            <a:r>
              <a:rPr lang="en" b="1">
                <a:solidFill>
                  <a:srgbClr val="00FFFF"/>
                </a:solidFill>
              </a:rPr>
              <a:t>SET</a:t>
            </a:r>
            <a:r>
              <a:rPr lang="en"/>
              <a:t> </a:t>
            </a:r>
            <a:r>
              <a:rPr lang="en">
                <a:solidFill>
                  <a:schemeClr val="accent2"/>
                </a:solidFill>
              </a:rPr>
              <a:t>BALANCE</a:t>
            </a:r>
            <a:r>
              <a:rPr lang="en"/>
              <a:t> </a:t>
            </a:r>
            <a:r>
              <a:rPr lang="en">
                <a:solidFill>
                  <a:srgbClr val="00FFFF"/>
                </a:solidFill>
              </a:rPr>
              <a:t>=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BALANCE</a:t>
            </a:r>
            <a:r>
              <a:rPr lang="en"/>
              <a:t> </a:t>
            </a:r>
            <a:r>
              <a:rPr lang="en">
                <a:solidFill>
                  <a:schemeClr val="accent2"/>
                </a:solidFill>
              </a:rPr>
              <a:t>- 100</a:t>
            </a:r>
            <a:r>
              <a:rPr lang="en"/>
              <a:t> </a:t>
            </a:r>
            <a:r>
              <a:rPr lang="en" b="1">
                <a:solidFill>
                  <a:srgbClr val="00FFFF"/>
                </a:solidFill>
              </a:rPr>
              <a:t>WHERE</a:t>
            </a:r>
            <a:r>
              <a:rPr lang="en"/>
              <a:t> </a:t>
            </a:r>
            <a:r>
              <a:rPr lang="en">
                <a:solidFill>
                  <a:schemeClr val="accent2"/>
                </a:solidFill>
              </a:rPr>
              <a:t>ID = 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2932200" y="3511350"/>
            <a:ext cx="59451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00FFFF"/>
                </a:solidFill>
              </a:rPr>
              <a:t>UPDATE</a:t>
            </a:r>
            <a:r>
              <a:rPr lang="en">
                <a:solidFill>
                  <a:schemeClr val="dk1"/>
                </a:solidFill>
              </a:rPr>
              <a:t> ACCOUNT </a:t>
            </a:r>
            <a:r>
              <a:rPr lang="en" b="1">
                <a:solidFill>
                  <a:srgbClr val="00FFFF"/>
                </a:solidFill>
              </a:rPr>
              <a:t>SET</a:t>
            </a:r>
            <a:r>
              <a:rPr lang="en">
                <a:solidFill>
                  <a:schemeClr val="dk1"/>
                </a:solidFill>
              </a:rPr>
              <a:t> BALANCE </a:t>
            </a:r>
            <a:r>
              <a:rPr lang="en">
                <a:solidFill>
                  <a:srgbClr val="00FFFF"/>
                </a:solidFill>
              </a:rPr>
              <a:t>=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BALANCE + 100 </a:t>
            </a:r>
            <a:r>
              <a:rPr lang="en" b="1">
                <a:solidFill>
                  <a:srgbClr val="00FFFF"/>
                </a:solidFill>
              </a:rPr>
              <a:t>WHERE</a:t>
            </a:r>
            <a:r>
              <a:rPr lang="en">
                <a:solidFill>
                  <a:schemeClr val="dk1"/>
                </a:solidFill>
              </a:rPr>
              <a:t> ID = 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00FF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1105800" y="2495900"/>
            <a:ext cx="17550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00"/>
                </a:solidFill>
              </a:rPr>
              <a:t>BALANCE &gt; 100</a:t>
            </a:r>
            <a:endParaRPr b="1">
              <a:solidFill>
                <a:srgbClr val="00FF00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31170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80500" y="4452800"/>
            <a:ext cx="1323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COMMIT TX1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7270525" y="664500"/>
            <a:ext cx="1755000" cy="3246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$900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7278600" y="1043875"/>
            <a:ext cx="1755000" cy="3246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$600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7278600" y="664488"/>
            <a:ext cx="1755000" cy="3246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$900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7278600" y="1043863"/>
            <a:ext cx="1755000" cy="3246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$600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Transaction?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150" y="844800"/>
            <a:ext cx="1943400" cy="10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Atomicity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500" y="304800"/>
            <a:ext cx="3280894" cy="18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Atomicity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marR="0" lvl="0" indent="-36957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400" dirty="0"/>
              <a:t>All queries in a transaction must succeed.</a:t>
            </a:r>
            <a:endParaRPr sz="2400" dirty="0"/>
          </a:p>
          <a:p>
            <a:pPr marL="457200" marR="0" lvl="0" indent="-3695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00" dirty="0"/>
              <a:t>If one query fails, all prior successful queries in the transaction should rollback.</a:t>
            </a:r>
            <a:endParaRPr sz="2400" dirty="0"/>
          </a:p>
          <a:p>
            <a:pPr marL="457200" marR="0" lvl="0" indent="-36957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00" dirty="0"/>
              <a:t>If the database went down prior to a commit of a transaction, all the successful queries in the transactions should rollback</a:t>
            </a:r>
            <a:endParaRPr sz="2400" dirty="0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47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Atomicity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129" name="Google Shape;129;p23"/>
          <p:cNvGraphicFramePr/>
          <p:nvPr/>
        </p:nvGraphicFramePr>
        <p:xfrm>
          <a:off x="5801800" y="234388"/>
          <a:ext cx="3231725" cy="118863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46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ACCOUNT_ID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BALANCE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$1000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$500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30" name="Google Shape;130;p23"/>
          <p:cNvCxnSpPr/>
          <p:nvPr/>
        </p:nvCxnSpPr>
        <p:spPr>
          <a:xfrm>
            <a:off x="892750" y="1968125"/>
            <a:ext cx="0" cy="247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" name="Google Shape;131;p23"/>
          <p:cNvSpPr txBox="1"/>
          <p:nvPr/>
        </p:nvSpPr>
        <p:spPr>
          <a:xfrm>
            <a:off x="311700" y="1361075"/>
            <a:ext cx="3786900" cy="2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Send $100 From Account 1 to Account 2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1105800" y="1968125"/>
            <a:ext cx="79278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>
                <a:solidFill>
                  <a:schemeClr val="accent2"/>
                </a:solidFill>
              </a:rPr>
              <a:t> BALANCE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>
                <a:solidFill>
                  <a:schemeClr val="accent2"/>
                </a:solidFill>
              </a:rPr>
              <a:t> ACCOUNT </a:t>
            </a:r>
            <a:r>
              <a:rPr lang="en" b="1">
                <a:solidFill>
                  <a:srgbClr val="00FFFF"/>
                </a:solidFill>
              </a:rPr>
              <a:t>WHERE</a:t>
            </a:r>
            <a:r>
              <a:rPr lang="en">
                <a:solidFill>
                  <a:schemeClr val="accent2"/>
                </a:solidFill>
              </a:rPr>
              <a:t> ID = 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2932200" y="2983575"/>
            <a:ext cx="59451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UPDATE</a:t>
            </a:r>
            <a:r>
              <a:rPr lang="en">
                <a:solidFill>
                  <a:schemeClr val="accent2"/>
                </a:solidFill>
              </a:rPr>
              <a:t> ACCOUNT </a:t>
            </a:r>
            <a:r>
              <a:rPr lang="en" b="1">
                <a:solidFill>
                  <a:srgbClr val="00FFFF"/>
                </a:solidFill>
              </a:rPr>
              <a:t>SET</a:t>
            </a:r>
            <a:r>
              <a:rPr lang="en">
                <a:solidFill>
                  <a:schemeClr val="accent2"/>
                </a:solidFill>
              </a:rPr>
              <a:t> BALANCE = BALANCE - 100 </a:t>
            </a:r>
            <a:r>
              <a:rPr lang="en" b="1">
                <a:solidFill>
                  <a:srgbClr val="00FFFF"/>
                </a:solidFill>
              </a:rPr>
              <a:t>WHERE</a:t>
            </a:r>
            <a:r>
              <a:rPr lang="en">
                <a:solidFill>
                  <a:schemeClr val="accent2"/>
                </a:solidFill>
              </a:rPr>
              <a:t> ID = 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1105800" y="2495900"/>
            <a:ext cx="17550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BALANCE &gt; 100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31170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7270525" y="664500"/>
            <a:ext cx="1755000" cy="324600"/>
          </a:xfrm>
          <a:prstGeom prst="rect">
            <a:avLst/>
          </a:prstGeom>
          <a:solidFill>
            <a:srgbClr val="F9CB9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$900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6238"/>
            <a:ext cx="9144000" cy="51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47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Atomicity</a:t>
            </a:r>
            <a:endParaRPr/>
          </a:p>
        </p:txBody>
      </p:sp>
      <p:graphicFrame>
        <p:nvGraphicFramePr>
          <p:cNvPr id="143" name="Google Shape;143;p24"/>
          <p:cNvGraphicFramePr/>
          <p:nvPr/>
        </p:nvGraphicFramePr>
        <p:xfrm>
          <a:off x="5801800" y="234388"/>
          <a:ext cx="3231725" cy="118863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46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ACCOUNT_ID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BALANCE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</a:rPr>
                        <a:t>$900</a:t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accent2"/>
                          </a:solidFill>
                        </a:rPr>
                        <a:t>2</a:t>
                      </a:r>
                      <a:endParaRPr u="sng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$500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401350" y="1508075"/>
            <a:ext cx="8520600" cy="3003900"/>
          </a:xfrm>
          <a:prstGeom prst="rect">
            <a:avLst/>
          </a:prstGeom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457200" marR="0" lvl="0" indent="-34671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400" dirty="0"/>
              <a:t>After we restarted the machine the first account has been debited but the other account has not been credited. </a:t>
            </a:r>
            <a:endParaRPr sz="2400" dirty="0"/>
          </a:p>
          <a:p>
            <a:pPr marL="457200" marR="0" lvl="0" indent="-346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00" dirty="0"/>
              <a:t>This is really bad as we just lost data, and the information is inconsistent</a:t>
            </a:r>
            <a:endParaRPr sz="2400" dirty="0"/>
          </a:p>
          <a:p>
            <a:pPr marL="457200" marR="0" lvl="0" indent="-346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00" dirty="0"/>
              <a:t>An atomic transaction is a transaction that will rollback all queries if one or more queries failed.</a:t>
            </a:r>
            <a:endParaRPr sz="2400" dirty="0"/>
          </a:p>
          <a:p>
            <a:pPr marL="457200" marR="0" lvl="0" indent="-34671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00" dirty="0"/>
              <a:t>The database should clean this up after restart. </a:t>
            </a:r>
            <a:r>
              <a:rPr lang="en-IN" sz="2400" dirty="0"/>
              <a:t>I</a:t>
            </a:r>
            <a:r>
              <a:rPr lang="en" sz="2400" dirty="0"/>
              <a:t>f database get crash in mid of transaction. </a:t>
            </a:r>
            <a:r>
              <a:rPr lang="en-IN" sz="2400" dirty="0"/>
              <a:t>A</a:t>
            </a:r>
            <a:r>
              <a:rPr lang="en" sz="2400" dirty="0"/>
              <a:t>fter restart this inconsistance data should be reverted</a:t>
            </a:r>
            <a:endParaRPr sz="2400" dirty="0"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Atomicity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500" y="304800"/>
            <a:ext cx="3280894" cy="18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</a:t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325" y="768475"/>
            <a:ext cx="3204849" cy="18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</a:t>
            </a: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892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Can my inflight transaction see changes made by other transactions?</a:t>
            </a:r>
            <a:endParaRPr sz="2400" dirty="0"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Read phenomena</a:t>
            </a:r>
            <a:endParaRPr sz="2400" dirty="0"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Isolation Levels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 - Read phenomena</a:t>
            </a:r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892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Dirty reads</a:t>
            </a:r>
            <a:endParaRPr sz="2400"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Non-repeatable reads </a:t>
            </a:r>
            <a:endParaRPr sz="2400"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Phantom reads</a:t>
            </a:r>
            <a:endParaRPr sz="2400"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Lost updates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29"/>
          <p:cNvCxnSpPr/>
          <p:nvPr/>
        </p:nvCxnSpPr>
        <p:spPr>
          <a:xfrm>
            <a:off x="892750" y="1968125"/>
            <a:ext cx="0" cy="247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" name="Google Shape;174;p29"/>
          <p:cNvSpPr txBox="1"/>
          <p:nvPr/>
        </p:nvSpPr>
        <p:spPr>
          <a:xfrm>
            <a:off x="31170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BEGIN TX1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380500" y="4452800"/>
            <a:ext cx="1323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COMMIT TX1</a:t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176" name="Google Shape;176;p29"/>
          <p:cNvCxnSpPr/>
          <p:nvPr/>
        </p:nvCxnSpPr>
        <p:spPr>
          <a:xfrm>
            <a:off x="5571875" y="1968125"/>
            <a:ext cx="0" cy="247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" name="Google Shape;177;p29"/>
          <p:cNvSpPr txBox="1"/>
          <p:nvPr/>
        </p:nvSpPr>
        <p:spPr>
          <a:xfrm>
            <a:off x="510285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TX2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178" name="Google Shape;178;p29"/>
          <p:cNvGraphicFramePr/>
          <p:nvPr/>
        </p:nvGraphicFramePr>
        <p:xfrm>
          <a:off x="5571875" y="449338"/>
          <a:ext cx="3390050" cy="118863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54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PID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QNT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PRICE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$4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9" name="Google Shape;179;p29"/>
          <p:cNvSpPr txBox="1"/>
          <p:nvPr/>
        </p:nvSpPr>
        <p:spPr>
          <a:xfrm>
            <a:off x="6890555" y="84800"/>
            <a:ext cx="907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SALES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1029600" y="2044325"/>
            <a:ext cx="40842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>
                <a:solidFill>
                  <a:schemeClr val="accent2"/>
                </a:solidFill>
              </a:rPr>
              <a:t> PID, QNT*PRICE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>
                <a:solidFill>
                  <a:schemeClr val="accent2"/>
                </a:solidFill>
              </a:rPr>
              <a:t> SALES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5821250" y="2667374"/>
            <a:ext cx="3143400" cy="893581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FFFF"/>
                </a:solidFill>
              </a:rPr>
              <a:t>UPDATE</a:t>
            </a:r>
            <a:r>
              <a:rPr lang="en" b="1" dirty="0">
                <a:solidFill>
                  <a:srgbClr val="0000FF"/>
                </a:solidFill>
              </a:rPr>
              <a:t> </a:t>
            </a:r>
            <a:r>
              <a:rPr lang="en" dirty="0">
                <a:solidFill>
                  <a:schemeClr val="dk1"/>
                </a:solidFill>
              </a:rPr>
              <a:t>SALES</a:t>
            </a:r>
            <a:r>
              <a:rPr lang="en" b="1" dirty="0">
                <a:solidFill>
                  <a:srgbClr val="0000FF"/>
                </a:solidFill>
              </a:rPr>
              <a:t> </a:t>
            </a:r>
            <a:r>
              <a:rPr lang="en" b="1" dirty="0">
                <a:solidFill>
                  <a:srgbClr val="00FFFF"/>
                </a:solidFill>
              </a:rPr>
              <a:t>SET</a:t>
            </a:r>
            <a:r>
              <a:rPr lang="en" b="1" dirty="0">
                <a:solidFill>
                  <a:srgbClr val="0000FF"/>
                </a:solidFill>
              </a:rPr>
              <a:t> </a:t>
            </a:r>
            <a:r>
              <a:rPr lang="en" dirty="0">
                <a:solidFill>
                  <a:schemeClr val="accent2"/>
                </a:solidFill>
              </a:rPr>
              <a:t>QNT = QNT+5</a:t>
            </a:r>
            <a:r>
              <a:rPr lang="en" b="1" dirty="0">
                <a:solidFill>
                  <a:schemeClr val="accent2"/>
                </a:solidFill>
              </a:rPr>
              <a:t> </a:t>
            </a:r>
            <a:endParaRPr b="1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FFFF"/>
                </a:solidFill>
              </a:rPr>
              <a:t>WHERE</a:t>
            </a:r>
            <a:r>
              <a:rPr lang="en" b="1" dirty="0">
                <a:solidFill>
                  <a:srgbClr val="0000FF"/>
                </a:solidFill>
              </a:rPr>
              <a:t> </a:t>
            </a:r>
            <a:r>
              <a:rPr lang="en" dirty="0">
                <a:solidFill>
                  <a:schemeClr val="accent2"/>
                </a:solidFill>
              </a:rPr>
              <a:t>PID =1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accent2"/>
                </a:solidFill>
              </a:rPr>
              <a:t>I</a:t>
            </a:r>
            <a:r>
              <a:rPr lang="en" dirty="0">
                <a:solidFill>
                  <a:schemeClr val="accent2"/>
                </a:solidFill>
              </a:rPr>
              <a:t>t will update 10 to 15 qty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1018550" y="3395750"/>
            <a:ext cx="40842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b="1">
                <a:solidFill>
                  <a:schemeClr val="accent2"/>
                </a:solidFill>
              </a:rPr>
              <a:t>SUM</a:t>
            </a:r>
            <a:r>
              <a:rPr lang="en">
                <a:solidFill>
                  <a:schemeClr val="accent2"/>
                </a:solidFill>
              </a:rPr>
              <a:t>(QNT*PRICE)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>
                <a:solidFill>
                  <a:schemeClr val="accent2"/>
                </a:solidFill>
              </a:rPr>
              <a:t> SALES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2274800" y="2571750"/>
            <a:ext cx="12549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Product 1, 50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Product 2, 80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7177250" y="879455"/>
            <a:ext cx="795600" cy="3246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15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1754825" y="3889575"/>
            <a:ext cx="34536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 get $155 when it should be $130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 read a “dirty” value that has not been committed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6" name="Google Shape;18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219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Dirty Reads</a:t>
            </a:r>
            <a:endParaRPr/>
          </a:p>
        </p:txBody>
      </p:sp>
      <p:sp>
        <p:nvSpPr>
          <p:cNvPr id="187" name="Google Shape;187;p29"/>
          <p:cNvSpPr txBox="1"/>
          <p:nvPr/>
        </p:nvSpPr>
        <p:spPr>
          <a:xfrm>
            <a:off x="5000250" y="4452800"/>
            <a:ext cx="1614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ROLLBACK TX2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7177250" y="879442"/>
            <a:ext cx="7956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10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30"/>
          <p:cNvCxnSpPr/>
          <p:nvPr/>
        </p:nvCxnSpPr>
        <p:spPr>
          <a:xfrm flipH="1">
            <a:off x="874150" y="1968125"/>
            <a:ext cx="18600" cy="2547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" name="Google Shape;194;p30"/>
          <p:cNvSpPr txBox="1"/>
          <p:nvPr/>
        </p:nvSpPr>
        <p:spPr>
          <a:xfrm>
            <a:off x="31170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369300" y="4676900"/>
            <a:ext cx="1323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COMMIT TX1</a:t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196" name="Google Shape;196;p30"/>
          <p:cNvCxnSpPr/>
          <p:nvPr/>
        </p:nvCxnSpPr>
        <p:spPr>
          <a:xfrm flipH="1">
            <a:off x="5558075" y="1968125"/>
            <a:ext cx="13800" cy="16290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30"/>
          <p:cNvSpPr txBox="1"/>
          <p:nvPr/>
        </p:nvSpPr>
        <p:spPr>
          <a:xfrm>
            <a:off x="510285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TX2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5113800" y="3606500"/>
            <a:ext cx="1323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COMMIT TX2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199" name="Google Shape;199;p30"/>
          <p:cNvGraphicFramePr/>
          <p:nvPr/>
        </p:nvGraphicFramePr>
        <p:xfrm>
          <a:off x="5571875" y="449338"/>
          <a:ext cx="3390050" cy="118863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54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PID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QNT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PRICE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accent2"/>
                          </a:solidFill>
                        </a:rPr>
                        <a:t>$4</a:t>
                      </a:r>
                      <a:endParaRPr dirty="0"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0" name="Google Shape;200;p30"/>
          <p:cNvSpPr txBox="1"/>
          <p:nvPr/>
        </p:nvSpPr>
        <p:spPr>
          <a:xfrm>
            <a:off x="6890555" y="84800"/>
            <a:ext cx="907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SALES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1029600" y="2044325"/>
            <a:ext cx="40842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>
                <a:solidFill>
                  <a:schemeClr val="accent2"/>
                </a:solidFill>
              </a:rPr>
              <a:t> PID, QNT*PRICE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>
                <a:solidFill>
                  <a:schemeClr val="accent2"/>
                </a:solidFill>
              </a:rPr>
              <a:t> SALES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5818525" y="2526925"/>
            <a:ext cx="3143400" cy="6159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UPDATE</a:t>
            </a:r>
            <a:r>
              <a:rPr lang="en" b="1">
                <a:solidFill>
                  <a:schemeClr val="accent2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SALES</a:t>
            </a:r>
            <a:r>
              <a:rPr lang="en" b="1">
                <a:solidFill>
                  <a:schemeClr val="accent2"/>
                </a:solidFill>
              </a:rPr>
              <a:t> </a:t>
            </a:r>
            <a:r>
              <a:rPr lang="en" b="1">
                <a:solidFill>
                  <a:srgbClr val="00FFFF"/>
                </a:solidFill>
              </a:rPr>
              <a:t>SET</a:t>
            </a:r>
            <a:r>
              <a:rPr lang="en" b="1">
                <a:solidFill>
                  <a:schemeClr val="accent2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QNT = QNT+5</a:t>
            </a:r>
            <a:r>
              <a:rPr lang="en" b="1">
                <a:solidFill>
                  <a:schemeClr val="accent2"/>
                </a:solidFill>
              </a:rPr>
              <a:t> </a:t>
            </a:r>
            <a:endParaRPr b="1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WHERE</a:t>
            </a:r>
            <a:r>
              <a:rPr lang="en" b="1">
                <a:solidFill>
                  <a:schemeClr val="accent2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PID =1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1029600" y="3931100"/>
            <a:ext cx="40842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b="1">
                <a:solidFill>
                  <a:schemeClr val="accent2"/>
                </a:solidFill>
              </a:rPr>
              <a:t>SUM</a:t>
            </a:r>
            <a:r>
              <a:rPr lang="en">
                <a:solidFill>
                  <a:schemeClr val="accent2"/>
                </a:solidFill>
              </a:rPr>
              <a:t>(QNT*PRICE)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>
                <a:solidFill>
                  <a:schemeClr val="accent2"/>
                </a:solidFill>
              </a:rPr>
              <a:t> SALES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2274800" y="2571750"/>
            <a:ext cx="12549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Product 1, 50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Product 2, 80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7177250" y="879450"/>
            <a:ext cx="795600" cy="3246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15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1569450" y="4346900"/>
            <a:ext cx="35334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 get $155 when it should be $130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 did read a committed value, but it gave us inconsistent results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7150700" y="882456"/>
            <a:ext cx="848700" cy="32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15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48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Non-repeatable read</a:t>
            </a:r>
            <a:endParaRPr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31"/>
          <p:cNvCxnSpPr/>
          <p:nvPr/>
        </p:nvCxnSpPr>
        <p:spPr>
          <a:xfrm flipH="1">
            <a:off x="874150" y="1968125"/>
            <a:ext cx="18600" cy="2547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" name="Google Shape;214;p31"/>
          <p:cNvSpPr txBox="1"/>
          <p:nvPr/>
        </p:nvSpPr>
        <p:spPr>
          <a:xfrm>
            <a:off x="31170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369300" y="4676900"/>
            <a:ext cx="1323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COMMIT TX1</a:t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216" name="Google Shape;216;p31"/>
          <p:cNvCxnSpPr/>
          <p:nvPr/>
        </p:nvCxnSpPr>
        <p:spPr>
          <a:xfrm flipH="1">
            <a:off x="5558025" y="2386850"/>
            <a:ext cx="22500" cy="12102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" name="Google Shape;217;p31"/>
          <p:cNvSpPr txBox="1"/>
          <p:nvPr/>
        </p:nvSpPr>
        <p:spPr>
          <a:xfrm>
            <a:off x="5216400" y="205280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TX2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5113800" y="3606500"/>
            <a:ext cx="1323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COMMIT TX2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219" name="Google Shape;219;p31"/>
          <p:cNvGraphicFramePr/>
          <p:nvPr/>
        </p:nvGraphicFramePr>
        <p:xfrm>
          <a:off x="5571875" y="449338"/>
          <a:ext cx="3390050" cy="118863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54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PID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QNT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PRICE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$4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" name="Google Shape;220;p31"/>
          <p:cNvSpPr txBox="1"/>
          <p:nvPr/>
        </p:nvSpPr>
        <p:spPr>
          <a:xfrm>
            <a:off x="6890555" y="84800"/>
            <a:ext cx="907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SALES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1029600" y="2044325"/>
            <a:ext cx="40842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>
                <a:solidFill>
                  <a:schemeClr val="accent2"/>
                </a:solidFill>
              </a:rPr>
              <a:t> PID, QNT*PRICE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>
                <a:solidFill>
                  <a:schemeClr val="accent2"/>
                </a:solidFill>
              </a:rPr>
              <a:t> SALES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5818525" y="2526925"/>
            <a:ext cx="3143400" cy="6159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INSERT INTO</a:t>
            </a:r>
            <a:r>
              <a:rPr lang="en" b="1">
                <a:solidFill>
                  <a:schemeClr val="accent2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SALES</a:t>
            </a:r>
            <a:r>
              <a:rPr lang="en" b="1">
                <a:solidFill>
                  <a:schemeClr val="accent2"/>
                </a:solidFill>
              </a:rPr>
              <a:t> </a:t>
            </a:r>
            <a:endParaRPr b="1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VALUES</a:t>
            </a:r>
            <a:r>
              <a:rPr lang="en" b="1">
                <a:solidFill>
                  <a:schemeClr val="accent2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(‘Product 3’, 10, 1)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1029600" y="3931100"/>
            <a:ext cx="40842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b="1">
                <a:solidFill>
                  <a:schemeClr val="accent2"/>
                </a:solidFill>
              </a:rPr>
              <a:t>SUM</a:t>
            </a:r>
            <a:r>
              <a:rPr lang="en">
                <a:solidFill>
                  <a:schemeClr val="accent2"/>
                </a:solidFill>
              </a:rPr>
              <a:t>(QNT*PRICE)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>
                <a:solidFill>
                  <a:schemeClr val="accent2"/>
                </a:solidFill>
              </a:rPr>
              <a:t> SALES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2274800" y="2571750"/>
            <a:ext cx="1254900" cy="4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Product 1, 50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Product 2, 80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1595025" y="4349750"/>
            <a:ext cx="4545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 get $140 when it should be $130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 read a committed value that showed up in our range query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26" name="Google Shape;22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48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Phantom read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227" name="Google Shape;227;p31"/>
          <p:cNvGraphicFramePr/>
          <p:nvPr/>
        </p:nvGraphicFramePr>
        <p:xfrm>
          <a:off x="5583056" y="1671790"/>
          <a:ext cx="3390075" cy="39621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54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3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8E7C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8" name="Google Shape;228;p31"/>
          <p:cNvGraphicFramePr/>
          <p:nvPr/>
        </p:nvGraphicFramePr>
        <p:xfrm>
          <a:off x="5583043" y="1674090"/>
          <a:ext cx="3390075" cy="39621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54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Product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$1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892750" y="1968125"/>
            <a:ext cx="0" cy="2475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2"/>
          <p:cNvSpPr txBox="1"/>
          <p:nvPr/>
        </p:nvSpPr>
        <p:spPr>
          <a:xfrm>
            <a:off x="31170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TX1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273950" y="4541575"/>
            <a:ext cx="1323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COMMIT TX1</a:t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236" name="Google Shape;236;p32"/>
          <p:cNvCxnSpPr/>
          <p:nvPr/>
        </p:nvCxnSpPr>
        <p:spPr>
          <a:xfrm>
            <a:off x="5571875" y="1968125"/>
            <a:ext cx="9300" cy="14172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p32"/>
          <p:cNvSpPr txBox="1"/>
          <p:nvPr/>
        </p:nvSpPr>
        <p:spPr>
          <a:xfrm>
            <a:off x="5102850" y="1634150"/>
            <a:ext cx="1118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BEGIN TX2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238" name="Google Shape;238;p32"/>
          <p:cNvGraphicFramePr/>
          <p:nvPr/>
        </p:nvGraphicFramePr>
        <p:xfrm>
          <a:off x="5571875" y="449338"/>
          <a:ext cx="3390050" cy="118863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54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PID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QNT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PRICE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Product 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20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$4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9" name="Google Shape;239;p32"/>
          <p:cNvSpPr txBox="1"/>
          <p:nvPr/>
        </p:nvSpPr>
        <p:spPr>
          <a:xfrm>
            <a:off x="6890555" y="84800"/>
            <a:ext cx="9072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SALES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1029600" y="2044325"/>
            <a:ext cx="3453600" cy="6753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UPDATE</a:t>
            </a:r>
            <a:r>
              <a:rPr lang="en" b="1">
                <a:solidFill>
                  <a:srgbClr val="0000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SALES</a:t>
            </a:r>
            <a:r>
              <a:rPr lang="en" b="1">
                <a:solidFill>
                  <a:srgbClr val="0000FF"/>
                </a:solidFill>
              </a:rPr>
              <a:t> </a:t>
            </a:r>
            <a:r>
              <a:rPr lang="en" b="1">
                <a:solidFill>
                  <a:srgbClr val="00FFFF"/>
                </a:solidFill>
              </a:rPr>
              <a:t>SET</a:t>
            </a:r>
            <a:r>
              <a:rPr lang="en" b="1">
                <a:solidFill>
                  <a:srgbClr val="0000FF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QNT = QNT+10</a:t>
            </a:r>
            <a:r>
              <a:rPr lang="en" b="1">
                <a:solidFill>
                  <a:schemeClr val="accent2"/>
                </a:solidFill>
              </a:rPr>
              <a:t> </a:t>
            </a:r>
            <a:endParaRPr b="1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WHERE</a:t>
            </a:r>
            <a:r>
              <a:rPr lang="en" b="1">
                <a:solidFill>
                  <a:srgbClr val="0000FF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PID =1 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FFFF"/>
              </a:solidFill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5821250" y="2667375"/>
            <a:ext cx="3143400" cy="6159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UPDATE</a:t>
            </a:r>
            <a:r>
              <a:rPr lang="en" b="1">
                <a:solidFill>
                  <a:srgbClr val="0000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SALES</a:t>
            </a:r>
            <a:r>
              <a:rPr lang="en" b="1">
                <a:solidFill>
                  <a:srgbClr val="0000FF"/>
                </a:solidFill>
              </a:rPr>
              <a:t> </a:t>
            </a:r>
            <a:r>
              <a:rPr lang="en" b="1">
                <a:solidFill>
                  <a:srgbClr val="00FFFF"/>
                </a:solidFill>
              </a:rPr>
              <a:t>SET</a:t>
            </a:r>
            <a:r>
              <a:rPr lang="en" b="1">
                <a:solidFill>
                  <a:srgbClr val="0000FF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QNT = QNT+5</a:t>
            </a:r>
            <a:r>
              <a:rPr lang="en" b="1">
                <a:solidFill>
                  <a:schemeClr val="accent2"/>
                </a:solidFill>
              </a:rPr>
              <a:t> </a:t>
            </a:r>
            <a:endParaRPr b="1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WHERE</a:t>
            </a:r>
            <a:r>
              <a:rPr lang="en" b="1">
                <a:solidFill>
                  <a:srgbClr val="0000FF"/>
                </a:solidFill>
              </a:rPr>
              <a:t> </a:t>
            </a:r>
            <a:r>
              <a:rPr lang="en">
                <a:solidFill>
                  <a:schemeClr val="accent2"/>
                </a:solidFill>
              </a:rPr>
              <a:t>PID =1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1029600" y="3539975"/>
            <a:ext cx="4084200" cy="415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FFFF"/>
                </a:solidFill>
              </a:rPr>
              <a:t>SELECT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b="1">
                <a:solidFill>
                  <a:schemeClr val="accent2"/>
                </a:solidFill>
              </a:rPr>
              <a:t>SUM</a:t>
            </a:r>
            <a:r>
              <a:rPr lang="en">
                <a:solidFill>
                  <a:schemeClr val="accent2"/>
                </a:solidFill>
              </a:rPr>
              <a:t>(QNT*PRICE) </a:t>
            </a:r>
            <a:r>
              <a:rPr lang="en" b="1">
                <a:solidFill>
                  <a:srgbClr val="00FFFF"/>
                </a:solidFill>
              </a:rPr>
              <a:t>FROM</a:t>
            </a:r>
            <a:r>
              <a:rPr lang="en">
                <a:solidFill>
                  <a:schemeClr val="accent2"/>
                </a:solidFill>
              </a:rPr>
              <a:t> SALES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7177250" y="879442"/>
            <a:ext cx="795600" cy="3246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</a:rPr>
              <a:t>20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1528050" y="4088975"/>
            <a:ext cx="34536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We get $155 when it should be $180</a:t>
            </a:r>
            <a:endParaRPr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Our update was overwritten another transaction and as a result “lost”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5" name="Google Shape;245;p32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4527929" cy="1188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Lost updates both transaction read qty as 10 and start at same time</a:t>
            </a:r>
            <a:endParaRPr sz="1600" dirty="0"/>
          </a:p>
        </p:txBody>
      </p:sp>
      <p:sp>
        <p:nvSpPr>
          <p:cNvPr id="246" name="Google Shape;246;p32"/>
          <p:cNvSpPr txBox="1"/>
          <p:nvPr/>
        </p:nvSpPr>
        <p:spPr>
          <a:xfrm>
            <a:off x="5113800" y="3343100"/>
            <a:ext cx="16143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COMMIT TX2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7177250" y="879442"/>
            <a:ext cx="795600" cy="3246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15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 - Isolation Levels for inflight transactions</a:t>
            </a:r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17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marR="0" lvl="0" indent="-334327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Read uncommitted - </a:t>
            </a:r>
            <a:r>
              <a:rPr lang="en" sz="1800"/>
              <a:t>No Isolation, any change from the outside is visible to the transaction, committed or not.	</a:t>
            </a:r>
            <a:endParaRPr sz="1800"/>
          </a:p>
          <a:p>
            <a:pPr marL="457200" marR="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Read committed - </a:t>
            </a:r>
            <a:r>
              <a:rPr lang="en" sz="1800"/>
              <a:t>Each query in a transaction only sees committed changes by other transactions</a:t>
            </a:r>
            <a:endParaRPr sz="1800"/>
          </a:p>
          <a:p>
            <a:pPr marL="457200" marR="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Repeatable Read - </a:t>
            </a:r>
            <a:r>
              <a:rPr lang="en" sz="1800"/>
              <a:t>The transaction will make sure that when a query reads a row, that row will remain unchanged while its running.</a:t>
            </a:r>
            <a:endParaRPr sz="1800"/>
          </a:p>
          <a:p>
            <a:pPr marL="457200" marR="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Snapshot - </a:t>
            </a:r>
            <a:r>
              <a:rPr lang="en" sz="1800"/>
              <a:t>Each query in a transaction only sees changes that have been committed up to the start of the transaction. It's like a snapshot version of the database at that moment. </a:t>
            </a:r>
            <a:endParaRPr b="1"/>
          </a:p>
          <a:p>
            <a:pPr marL="457200" marR="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Serializable - </a:t>
            </a:r>
            <a:r>
              <a:rPr lang="en" sz="1800"/>
              <a:t>Transactions are run as if they serialized one after the other.  </a:t>
            </a:r>
            <a:endParaRPr sz="1800"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Each DBMS implements Isolation level differently 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 Levels vs read phenomena</a:t>
            </a:r>
            <a:endParaRPr/>
          </a:p>
        </p:txBody>
      </p:sp>
      <p:sp>
        <p:nvSpPr>
          <p:cNvPr id="259" name="Google Shape;259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60" name="Google Shape;26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00" y="1266800"/>
            <a:ext cx="8370800" cy="285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 txBox="1"/>
          <p:nvPr/>
        </p:nvSpPr>
        <p:spPr>
          <a:xfrm>
            <a:off x="425825" y="4717675"/>
            <a:ext cx="78105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https://en.wikipedia.org/wiki/Isolation_(database_systems)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Implementation of Isolation</a:t>
            </a:r>
            <a:endParaRPr/>
          </a:p>
        </p:txBody>
      </p:sp>
      <p:sp>
        <p:nvSpPr>
          <p:cNvPr id="267" name="Google Shape;26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Each DBMS implements Isolation level differently </a:t>
            </a:r>
            <a:endParaRPr b="1"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Pessimistic - Row level locks, table locks, page locks to avoid lost updates</a:t>
            </a:r>
            <a:endParaRPr b="1"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Optimistic - No locks, just track if things changed and fail the transaction if so</a:t>
            </a:r>
            <a:endParaRPr b="1"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Repeatable read “locks” the rows it reads but it could be expensive if you read a lot of rows, postgres implements RR as snapshot. That is why you don’t get phantom reads with postgres in repeatable read</a:t>
            </a:r>
            <a:endParaRPr b="1"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Serializable are usually implemented with optimistic concurrency control, you can implement it pessimistically with SELECT FOR UPDATE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Isolation</a:t>
            </a:r>
            <a:endParaRPr/>
          </a:p>
        </p:txBody>
      </p:sp>
      <p:pic>
        <p:nvPicPr>
          <p:cNvPr id="273" name="Google Shape;2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325" y="768475"/>
            <a:ext cx="3204849" cy="180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</a:t>
            </a:r>
            <a:endParaRPr/>
          </a:p>
        </p:txBody>
      </p:sp>
      <p:pic>
        <p:nvPicPr>
          <p:cNvPr id="279" name="Google Shape;27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550" y="242050"/>
            <a:ext cx="3280894" cy="18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</a:t>
            </a:r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Consistency in Data </a:t>
            </a:r>
            <a:endParaRPr sz="2400"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/>
              <a:t>Consistency in reads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 in Data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Defined by the user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Referential integrity (foreign keys)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Atomicity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Isolation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Consistency in Data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297" name="Google Shape;297;p40"/>
          <p:cNvGraphicFramePr/>
          <p:nvPr/>
        </p:nvGraphicFramePr>
        <p:xfrm>
          <a:off x="568363" y="17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92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ID </a:t>
                      </a:r>
                      <a:r>
                        <a:rPr lang="en" b="1">
                          <a:solidFill>
                            <a:schemeClr val="dk2"/>
                          </a:solidFill>
                        </a:rPr>
                        <a:t>(PK)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BLOB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LIKES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xx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xx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8" name="Google Shape;298;p40"/>
          <p:cNvGraphicFramePr/>
          <p:nvPr/>
        </p:nvGraphicFramePr>
        <p:xfrm>
          <a:off x="4244988" y="17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94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USER </a:t>
                      </a:r>
                      <a:r>
                        <a:rPr lang="en" b="1">
                          <a:solidFill>
                            <a:schemeClr val="lt1"/>
                          </a:solidFill>
                        </a:rPr>
                        <a:t>(PK)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PICTURE_ID </a:t>
                      </a:r>
                      <a:r>
                        <a:rPr lang="en" b="1">
                          <a:solidFill>
                            <a:schemeClr val="lt1"/>
                          </a:solidFill>
                        </a:rPr>
                        <a:t>(PK)(FK)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Jon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Edmond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Jon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9" name="Google Shape;299;p40"/>
          <p:cNvSpPr txBox="1"/>
          <p:nvPr/>
        </p:nvSpPr>
        <p:spPr>
          <a:xfrm>
            <a:off x="1239625" y="1239625"/>
            <a:ext cx="18873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Pictures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5638175" y="1286706"/>
            <a:ext cx="18873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Picture_Likes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Spot inconsistency in this data</a:t>
            </a:r>
            <a:endParaRPr>
              <a:solidFill>
                <a:schemeClr val="accent2"/>
              </a:solidFill>
            </a:endParaRPr>
          </a:p>
        </p:txBody>
      </p:sp>
      <p:graphicFrame>
        <p:nvGraphicFramePr>
          <p:cNvPr id="306" name="Google Shape;306;p41"/>
          <p:cNvGraphicFramePr/>
          <p:nvPr/>
        </p:nvGraphicFramePr>
        <p:xfrm>
          <a:off x="568363" y="17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92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ID </a:t>
                      </a:r>
                      <a:r>
                        <a:rPr lang="en" b="1">
                          <a:solidFill>
                            <a:schemeClr val="dk2"/>
                          </a:solidFill>
                        </a:rPr>
                        <a:t>(PK)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BLOB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LIKES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xx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5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xx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7" name="Google Shape;307;p41"/>
          <p:cNvGraphicFramePr/>
          <p:nvPr/>
        </p:nvGraphicFramePr>
        <p:xfrm>
          <a:off x="4244988" y="17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{3FEAEE5D-144B-425B-956B-94D642D558B3}</a:tableStyleId>
              </a:tblPr>
              <a:tblGrid>
                <a:gridCol w="194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USER </a:t>
                      </a:r>
                      <a:r>
                        <a:rPr lang="en" b="1">
                          <a:solidFill>
                            <a:schemeClr val="lt1"/>
                          </a:solidFill>
                        </a:rPr>
                        <a:t>(PK)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PICTURE_ID </a:t>
                      </a:r>
                      <a:r>
                        <a:rPr lang="en" b="1">
                          <a:solidFill>
                            <a:schemeClr val="lt1"/>
                          </a:solidFill>
                        </a:rPr>
                        <a:t>(PK)(FK)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Jon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Edmond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1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Jon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2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Edmond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</a:rPr>
                        <a:t>4</a:t>
                      </a:r>
                      <a:endParaRPr>
                        <a:solidFill>
                          <a:schemeClr val="accent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8" name="Google Shape;308;p41"/>
          <p:cNvSpPr txBox="1"/>
          <p:nvPr/>
        </p:nvSpPr>
        <p:spPr>
          <a:xfrm>
            <a:off x="1239625" y="1239625"/>
            <a:ext cx="18873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Pictures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09" name="Google Shape;309;p41"/>
          <p:cNvSpPr txBox="1"/>
          <p:nvPr/>
        </p:nvSpPr>
        <p:spPr>
          <a:xfrm>
            <a:off x="5638175" y="1286706"/>
            <a:ext cx="18873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Picture_Likes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 in reads</a:t>
            </a:r>
            <a:endParaRPr/>
          </a:p>
        </p:txBody>
      </p:sp>
      <p:cxnSp>
        <p:nvCxnSpPr>
          <p:cNvPr id="315" name="Google Shape;315;p42"/>
          <p:cNvCxnSpPr/>
          <p:nvPr/>
        </p:nvCxnSpPr>
        <p:spPr>
          <a:xfrm>
            <a:off x="2061875" y="1972225"/>
            <a:ext cx="3294600" cy="339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6" name="Google Shape;316;p42"/>
          <p:cNvSpPr txBox="1"/>
          <p:nvPr/>
        </p:nvSpPr>
        <p:spPr>
          <a:xfrm>
            <a:off x="3145700" y="1434350"/>
            <a:ext cx="13368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Update X</a:t>
            </a:r>
            <a:endParaRPr sz="1800">
              <a:solidFill>
                <a:schemeClr val="accent2"/>
              </a:solidFill>
            </a:endParaRPr>
          </a:p>
        </p:txBody>
      </p:sp>
      <p:cxnSp>
        <p:nvCxnSpPr>
          <p:cNvPr id="317" name="Google Shape;317;p42"/>
          <p:cNvCxnSpPr/>
          <p:nvPr/>
        </p:nvCxnSpPr>
        <p:spPr>
          <a:xfrm>
            <a:off x="2061875" y="2859775"/>
            <a:ext cx="3294600" cy="33900"/>
          </a:xfrm>
          <a:prstGeom prst="straightConnector1">
            <a:avLst/>
          </a:prstGeom>
          <a:noFill/>
          <a:ln w="762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8" name="Google Shape;318;p42"/>
          <p:cNvSpPr txBox="1"/>
          <p:nvPr/>
        </p:nvSpPr>
        <p:spPr>
          <a:xfrm>
            <a:off x="3231425" y="2373300"/>
            <a:ext cx="9555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Read </a:t>
            </a:r>
            <a:endParaRPr sz="1800">
              <a:solidFill>
                <a:schemeClr val="accent2"/>
              </a:solidFill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7205375" y="1848975"/>
            <a:ext cx="818100" cy="9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2"/>
                </a:solidFill>
              </a:rPr>
              <a:t>X</a:t>
            </a:r>
            <a:endParaRPr sz="4800">
              <a:solidFill>
                <a:schemeClr val="accent2"/>
              </a:solidFill>
            </a:endParaRPr>
          </a:p>
        </p:txBody>
      </p:sp>
      <p:sp>
        <p:nvSpPr>
          <p:cNvPr id="320" name="Google Shape;320;p42"/>
          <p:cNvSpPr txBox="1"/>
          <p:nvPr/>
        </p:nvSpPr>
        <p:spPr>
          <a:xfrm>
            <a:off x="3383825" y="2983250"/>
            <a:ext cx="9555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</a:rPr>
              <a:t>X</a:t>
            </a:r>
            <a:endParaRPr sz="1800">
              <a:solidFill>
                <a:schemeClr val="accent2"/>
              </a:solidFill>
            </a:endParaRPr>
          </a:p>
        </p:txBody>
      </p:sp>
      <p:pic>
        <p:nvPicPr>
          <p:cNvPr id="321" name="Google Shape;32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500" y="1434350"/>
            <a:ext cx="3456799" cy="19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 in reads</a:t>
            </a:r>
            <a:endParaRPr/>
          </a:p>
        </p:txBody>
      </p:sp>
      <p:sp>
        <p:nvSpPr>
          <p:cNvPr id="327" name="Google Shape;327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/>
              <a:t>If a transaction committed a change will a new transaction immediately see the change?</a:t>
            </a:r>
            <a:endParaRPr sz="2400"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Affects the system as a whole</a:t>
            </a:r>
            <a:endParaRPr sz="2400"/>
          </a:p>
          <a:p>
            <a: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Relational and NoSQL databases suffer from this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Eventual consistency 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Consistency</a:t>
            </a:r>
            <a:endParaRPr/>
          </a:p>
        </p:txBody>
      </p:sp>
      <p:pic>
        <p:nvPicPr>
          <p:cNvPr id="333" name="Google Shape;33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550" y="242050"/>
            <a:ext cx="3280894" cy="18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Durability</a:t>
            </a:r>
            <a:endParaRPr/>
          </a:p>
        </p:txBody>
      </p:sp>
      <p:pic>
        <p:nvPicPr>
          <p:cNvPr id="339" name="Google Shape;33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850" y="730925"/>
            <a:ext cx="2738325" cy="15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Durability</a:t>
            </a:r>
            <a:endParaRPr/>
          </a:p>
        </p:txBody>
      </p:sp>
      <p:sp>
        <p:nvSpPr>
          <p:cNvPr id="345" name="Google Shape;345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Changes made by committed transactions must be persisted in a durable non-volatile storage.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Durability techniques </a:t>
            </a:r>
            <a:endParaRPr sz="2400"/>
          </a:p>
          <a:p>
            <a:pPr marL="91440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WAL - Write ahead log</a:t>
            </a:r>
            <a:endParaRPr sz="2400"/>
          </a:p>
          <a:p>
            <a:pPr marL="91440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Asynchronous snapshot</a:t>
            </a:r>
            <a:endParaRPr sz="2400"/>
          </a:p>
          <a:p>
            <a:pPr marL="914400" lvl="1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AOF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Durability - WAL</a:t>
            </a:r>
            <a:endParaRPr/>
          </a:p>
        </p:txBody>
      </p:sp>
      <p:sp>
        <p:nvSpPr>
          <p:cNvPr id="351" name="Google Shape;351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Writing a lot of data to disk is expensive (indexes, data files, columns, rows, etc..)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That is why DBMSs persist a compressed version of the changes known as WAL (write-ahead-log segments)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Durability - OS Cache</a:t>
            </a:r>
            <a:endParaRPr/>
          </a:p>
        </p:txBody>
      </p:sp>
      <p:sp>
        <p:nvSpPr>
          <p:cNvPr id="357" name="Google Shape;357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 write request in OS usually goes to the OS cache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When the writes go the OS cache, an OS crash, machine restart could lead to loss of data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Fsync OS command forces writes to always go to disk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fsync can be expensive and slows down commits</a:t>
            </a:r>
            <a:endParaRPr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Durability</a:t>
            </a:r>
            <a:endParaRPr/>
          </a:p>
        </p:txBody>
      </p:sp>
      <p:pic>
        <p:nvPicPr>
          <p:cNvPr id="363" name="Google Shape;3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6850" y="730925"/>
            <a:ext cx="2738325" cy="15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69" name="Google Shape;369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78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a Transaction?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Atomicity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Isolation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Consistency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Durability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1308</Words>
  <Application>Microsoft Office PowerPoint</Application>
  <PresentationFormat>On-screen Show (16:9)</PresentationFormat>
  <Paragraphs>295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Arial</vt:lpstr>
      <vt:lpstr>Simple Dark</vt:lpstr>
      <vt:lpstr>ACID</vt:lpstr>
      <vt:lpstr>Agenda</vt:lpstr>
      <vt:lpstr>What is a Transaction?</vt:lpstr>
      <vt:lpstr>Transaction</vt:lpstr>
      <vt:lpstr>Transaction Lifespan</vt:lpstr>
      <vt:lpstr>Nature of Transactions</vt:lpstr>
      <vt:lpstr>Transaction</vt:lpstr>
      <vt:lpstr>Summary What is a Transaction?</vt:lpstr>
      <vt:lpstr>Atomicity</vt:lpstr>
      <vt:lpstr>Atomicity</vt:lpstr>
      <vt:lpstr>Atomicity</vt:lpstr>
      <vt:lpstr>Atomicity</vt:lpstr>
      <vt:lpstr>Summary Atomicity</vt:lpstr>
      <vt:lpstr>Isolation</vt:lpstr>
      <vt:lpstr>Isolation</vt:lpstr>
      <vt:lpstr>Isolation - Read phenomena</vt:lpstr>
      <vt:lpstr>Dirty Reads</vt:lpstr>
      <vt:lpstr>Non-repeatable read</vt:lpstr>
      <vt:lpstr>Phantom read</vt:lpstr>
      <vt:lpstr>Lost updates both transaction read qty as 10 and start at same time</vt:lpstr>
      <vt:lpstr>Isolation - Isolation Levels for inflight transactions</vt:lpstr>
      <vt:lpstr>Isolation Levels vs read phenomena</vt:lpstr>
      <vt:lpstr>Database Implementation of Isolation</vt:lpstr>
      <vt:lpstr>Summary Isolation</vt:lpstr>
      <vt:lpstr>Consistency</vt:lpstr>
      <vt:lpstr>Consistency</vt:lpstr>
      <vt:lpstr>Consistency in Data</vt:lpstr>
      <vt:lpstr>Consistency in Data</vt:lpstr>
      <vt:lpstr>Spot inconsistency in this data</vt:lpstr>
      <vt:lpstr>Consistency in reads</vt:lpstr>
      <vt:lpstr>Consistency in reads</vt:lpstr>
      <vt:lpstr>Summary Consistency</vt:lpstr>
      <vt:lpstr>Durability</vt:lpstr>
      <vt:lpstr>Durability</vt:lpstr>
      <vt:lpstr>Durability - WAL</vt:lpstr>
      <vt:lpstr>Durability - OS Cache</vt:lpstr>
      <vt:lpstr>Summary Durability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Pradip Patil</cp:lastModifiedBy>
  <cp:revision>4</cp:revision>
  <dcterms:modified xsi:type="dcterms:W3CDTF">2025-09-20T16:20:16Z</dcterms:modified>
</cp:coreProperties>
</file>